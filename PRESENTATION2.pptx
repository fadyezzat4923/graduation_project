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19"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20" r:id="rId53"/>
    <p:sldId id="321" r:id="rId54"/>
    <p:sldId id="307" r:id="rId55"/>
    <p:sldId id="308" r:id="rId56"/>
    <p:sldId id="309" r:id="rId57"/>
    <p:sldId id="310" r:id="rId58"/>
    <p:sldId id="311" r:id="rId59"/>
    <p:sldId id="312" r:id="rId60"/>
    <p:sldId id="313" r:id="rId61"/>
    <p:sldId id="314" r:id="rId62"/>
    <p:sldId id="315" r:id="rId63"/>
    <p:sldId id="317" r:id="rId64"/>
    <p:sldId id="316" r:id="rId65"/>
    <p:sldId id="318" r:id="rId66"/>
  </p:sldIdLst>
  <p:sldSz cx="18288000" cy="10287000"/>
  <p:notesSz cx="6858000" cy="9144000"/>
  <p:embeddedFontLst>
    <p:embeddedFont>
      <p:font typeface="Aileron" panose="020B0604020202020204" charset="0"/>
      <p:regular r:id="rId67"/>
    </p:embeddedFont>
    <p:embeddedFont>
      <p:font typeface="Aileron Bold" panose="020B0604020202020204" charset="0"/>
      <p:regular r:id="rId68"/>
    </p:embeddedFont>
    <p:embeddedFont>
      <p:font typeface="Aileron Ultra-Bold" panose="020B0604020202020204" charset="0"/>
      <p:regular r:id="rId69"/>
    </p:embeddedFont>
    <p:embeddedFont>
      <p:font typeface="Montserrat" panose="00000500000000000000" pitchFamily="2" charset="0"/>
      <p:regular r:id="rId70"/>
      <p:bold r:id="rId71"/>
      <p:italic r:id="rId72"/>
      <p:boldItalic r:id="rId73"/>
    </p:embeddedFont>
    <p:embeddedFont>
      <p:font typeface="Montserrat Bold" panose="00000800000000000000" charset="0"/>
      <p:regular r:id="rId74"/>
    </p:embeddedFont>
    <p:embeddedFont>
      <p:font typeface="Poppins" panose="00000500000000000000" pitchFamily="2" charset="0"/>
      <p:regular r:id="rId75"/>
      <p:bold r:id="rId76"/>
      <p:italic r:id="rId77"/>
      <p:boldItalic r:id="rId78"/>
    </p:embeddedFont>
    <p:embeddedFont>
      <p:font typeface="Poppins Bold" panose="00000800000000000000" charset="0"/>
      <p:regular r:id="rId79"/>
      <p:bold r:id="rId80"/>
    </p:embeddedFont>
    <p:embeddedFont>
      <p:font typeface="XM Vahid" panose="020B0604020202020204" charset="-78"/>
      <p:regular r:id="rId8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41" autoAdjust="0"/>
    <p:restoredTop sz="94622" autoAdjust="0"/>
  </p:normalViewPr>
  <p:slideViewPr>
    <p:cSldViewPr>
      <p:cViewPr varScale="1">
        <p:scale>
          <a:sx n="38" d="100"/>
          <a:sy n="38" d="100"/>
        </p:scale>
        <p:origin x="103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2.fntdata"/><Relationship Id="rId76" Type="http://schemas.openxmlformats.org/officeDocument/2006/relationships/font" Target="fonts/font10.fntdata"/><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font" Target="fonts/font14.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3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53.png"/><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6.jpe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55.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svg"/><Relationship Id="rId7" Type="http://schemas.openxmlformats.org/officeDocument/2006/relationships/image" Target="../media/image76.sv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image" Target="../media/image80.svg"/><Relationship Id="rId5" Type="http://schemas.openxmlformats.org/officeDocument/2006/relationships/image" Target="../media/image74.sv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svg"/></Relationships>
</file>

<file path=ppt/slides/_rels/slide59.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svg"/><Relationship Id="rId7" Type="http://schemas.openxmlformats.org/officeDocument/2006/relationships/image" Target="../media/image76.sv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image" Target="../media/image80.svg"/><Relationship Id="rId5" Type="http://schemas.openxmlformats.org/officeDocument/2006/relationships/image" Target="../media/image74.sv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svg"/></Relationships>
</file>

<file path=ppt/slides/_rels/slide6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svg"/><Relationship Id="rId7" Type="http://schemas.openxmlformats.org/officeDocument/2006/relationships/image" Target="../media/image76.sv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image" Target="../media/image80.svg"/><Relationship Id="rId5" Type="http://schemas.openxmlformats.org/officeDocument/2006/relationships/image" Target="../media/image74.sv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svg"/></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eg"/><Relationship Id="rId1" Type="http://schemas.openxmlformats.org/officeDocument/2006/relationships/slideLayout" Target="../slideLayouts/slideLayout7.xml"/><Relationship Id="rId4" Type="http://schemas.openxmlformats.org/officeDocument/2006/relationships/image" Target="../media/image85.svg"/></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eg"/><Relationship Id="rId1" Type="http://schemas.openxmlformats.org/officeDocument/2006/relationships/slideLayout" Target="../slideLayouts/slideLayout7.xml"/><Relationship Id="rId4" Type="http://schemas.openxmlformats.org/officeDocument/2006/relationships/image" Target="../media/image85.svg"/></Relationships>
</file>

<file path=ppt/slides/_rels/slide64.xml.rels><?xml version="1.0" encoding="UTF-8" standalone="yes"?>
<Relationships xmlns="http://schemas.openxmlformats.org/package/2006/relationships"><Relationship Id="rId3" Type="http://schemas.openxmlformats.org/officeDocument/2006/relationships/image" Target="../media/image82.sv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solidFill>
              <a:srgbClr val="145DA0"/>
            </a:soli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636530" y="2662849"/>
            <a:ext cx="7545401" cy="4683585"/>
          </a:xfrm>
          <a:prstGeom prst="rect">
            <a:avLst/>
          </a:prstGeom>
        </p:spPr>
        <p:txBody>
          <a:bodyPr lIns="0" tIns="0" rIns="0" bIns="0" rtlCol="0" anchor="t">
            <a:spAutoFit/>
          </a:bodyPr>
          <a:lstStyle/>
          <a:p>
            <a:pPr algn="ctr">
              <a:lnSpc>
                <a:spcPts val="7499"/>
              </a:lnSpc>
              <a:spcBef>
                <a:spcPct val="0"/>
              </a:spcBef>
            </a:pPr>
            <a:r>
              <a:rPr lang="en-US" sz="5356" b="1">
                <a:solidFill>
                  <a:srgbClr val="051D40"/>
                </a:solidFill>
                <a:latin typeface="Montserrat Bold"/>
                <a:ea typeface="Montserrat Bold"/>
                <a:cs typeface="Montserrat Bold"/>
                <a:sym typeface="Montserrat Bold"/>
              </a:rPr>
              <a:t>PLATFORM FOR MONITORING INFANT BEHAVIOR AND MATERNAL GUIDNEC </a:t>
            </a:r>
          </a:p>
        </p:txBody>
      </p:sp>
      <p:grpSp>
        <p:nvGrpSpPr>
          <p:cNvPr id="6" name="Group 6"/>
          <p:cNvGrpSpPr/>
          <p:nvPr/>
        </p:nvGrpSpPr>
        <p:grpSpPr>
          <a:xfrm>
            <a:off x="17259300" y="-1992815"/>
            <a:ext cx="3527713" cy="3590678"/>
            <a:chOff x="0" y="0"/>
            <a:chExt cx="511064" cy="520186"/>
          </a:xfrm>
        </p:grpSpPr>
        <p:sp>
          <p:nvSpPr>
            <p:cNvPr id="7" name="Freeform 7"/>
            <p:cNvSpPr/>
            <p:nvPr/>
          </p:nvSpPr>
          <p:spPr>
            <a:xfrm>
              <a:off x="0" y="0"/>
              <a:ext cx="511064" cy="520186"/>
            </a:xfrm>
            <a:custGeom>
              <a:avLst/>
              <a:gdLst/>
              <a:ahLst/>
              <a:cxnLst/>
              <a:rect l="l" t="t" r="r" b="b"/>
              <a:pathLst>
                <a:path w="511064" h="520186">
                  <a:moveTo>
                    <a:pt x="255532" y="0"/>
                  </a:moveTo>
                  <a:cubicBezTo>
                    <a:pt x="114406" y="0"/>
                    <a:pt x="0" y="116448"/>
                    <a:pt x="0" y="260093"/>
                  </a:cubicBezTo>
                  <a:cubicBezTo>
                    <a:pt x="0" y="403738"/>
                    <a:pt x="114406" y="520186"/>
                    <a:pt x="255532" y="520186"/>
                  </a:cubicBezTo>
                  <a:cubicBezTo>
                    <a:pt x="396658" y="520186"/>
                    <a:pt x="511064" y="403738"/>
                    <a:pt x="511064" y="260093"/>
                  </a:cubicBezTo>
                  <a:cubicBezTo>
                    <a:pt x="511064" y="116448"/>
                    <a:pt x="396658" y="0"/>
                    <a:pt x="255532" y="0"/>
                  </a:cubicBezTo>
                  <a:close/>
                </a:path>
              </a:pathLst>
            </a:custGeom>
            <a:solidFill>
              <a:srgbClr val="FFFFFF"/>
            </a:solidFill>
            <a:ln w="952500" cap="sq">
              <a:solidFill>
                <a:srgbClr val="145DA0"/>
              </a:solidFill>
              <a:prstDash val="solid"/>
              <a:miter/>
            </a:ln>
          </p:spPr>
        </p:sp>
        <p:sp>
          <p:nvSpPr>
            <p:cNvPr id="8" name="TextBox 8"/>
            <p:cNvSpPr txBox="1"/>
            <p:nvPr/>
          </p:nvSpPr>
          <p:spPr>
            <a:xfrm>
              <a:off x="47912" y="10667"/>
              <a:ext cx="415240" cy="460751"/>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849180" y="-1283586"/>
            <a:ext cx="2112852" cy="2567172"/>
            <a:chOff x="0" y="0"/>
            <a:chExt cx="668956" cy="812800"/>
          </a:xfrm>
        </p:grpSpPr>
        <p:sp>
          <p:nvSpPr>
            <p:cNvPr id="10" name="Freeform 10"/>
            <p:cNvSpPr/>
            <p:nvPr/>
          </p:nvSpPr>
          <p:spPr>
            <a:xfrm>
              <a:off x="0" y="0"/>
              <a:ext cx="668956" cy="812800"/>
            </a:xfrm>
            <a:custGeom>
              <a:avLst/>
              <a:gdLst/>
              <a:ahLst/>
              <a:cxnLst/>
              <a:rect l="l" t="t" r="r" b="b"/>
              <a:pathLst>
                <a:path w="668956" h="812800">
                  <a:moveTo>
                    <a:pt x="334478" y="0"/>
                  </a:moveTo>
                  <a:cubicBezTo>
                    <a:pt x="149751" y="0"/>
                    <a:pt x="0" y="181951"/>
                    <a:pt x="0" y="406400"/>
                  </a:cubicBezTo>
                  <a:cubicBezTo>
                    <a:pt x="0" y="630849"/>
                    <a:pt x="149751" y="812800"/>
                    <a:pt x="334478" y="812800"/>
                  </a:cubicBezTo>
                  <a:cubicBezTo>
                    <a:pt x="519205" y="812800"/>
                    <a:pt x="668956" y="630849"/>
                    <a:pt x="668956" y="406400"/>
                  </a:cubicBezTo>
                  <a:cubicBezTo>
                    <a:pt x="668956" y="181951"/>
                    <a:pt x="519205" y="0"/>
                    <a:pt x="334478" y="0"/>
                  </a:cubicBezTo>
                  <a:lnTo>
                    <a:pt x="334478" y="0"/>
                  </a:lnTo>
                  <a:close/>
                </a:path>
              </a:pathLst>
            </a:custGeom>
            <a:solidFill>
              <a:srgbClr val="145DA0"/>
            </a:solidFill>
          </p:spPr>
        </p:sp>
        <p:sp>
          <p:nvSpPr>
            <p:cNvPr id="11" name="TextBox 11"/>
            <p:cNvSpPr txBox="1"/>
            <p:nvPr/>
          </p:nvSpPr>
          <p:spPr>
            <a:xfrm>
              <a:off x="62715" y="38100"/>
              <a:ext cx="543527"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2221258" y="8975469"/>
            <a:ext cx="3249958" cy="2957895"/>
            <a:chOff x="0" y="0"/>
            <a:chExt cx="893056" cy="812800"/>
          </a:xfrm>
        </p:grpSpPr>
        <p:sp>
          <p:nvSpPr>
            <p:cNvPr id="13" name="Freeform 13"/>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solidFill>
                <a:srgbClr val="145DA0"/>
              </a:solidFill>
              <a:prstDash val="solid"/>
              <a:miter/>
            </a:ln>
          </p:spPr>
        </p:sp>
        <p:sp>
          <p:nvSpPr>
            <p:cNvPr id="14" name="TextBox 14"/>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8940870" y="6479445"/>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2"/>
            <a:stretch>
              <a:fillRect/>
            </a:stretch>
          </a:blipFill>
        </p:spPr>
      </p:sp>
      <p:grpSp>
        <p:nvGrpSpPr>
          <p:cNvPr id="16" name="Group 16"/>
          <p:cNvGrpSpPr>
            <a:grpSpLocks noChangeAspect="1"/>
          </p:cNvGrpSpPr>
          <p:nvPr/>
        </p:nvGrpSpPr>
        <p:grpSpPr>
          <a:xfrm>
            <a:off x="8757394" y="2767624"/>
            <a:ext cx="9146584" cy="5246370"/>
            <a:chOff x="0" y="0"/>
            <a:chExt cx="7981950" cy="4578350"/>
          </a:xfrm>
        </p:grpSpPr>
        <p:sp>
          <p:nvSpPr>
            <p:cNvPr id="17" name="Freeform 1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id="18" name="Freeform 1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9" name="Freeform 1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20" name="Freeform 2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21" name="Freeform 2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3"/>
              <a:stretch>
                <a:fillRect t="-29892" b="-29892"/>
              </a:stretch>
            </a:blipFill>
          </p:spPr>
        </p:sp>
      </p:grpSp>
      <p:sp>
        <p:nvSpPr>
          <p:cNvPr id="22" name="AutoShape 22"/>
          <p:cNvSpPr/>
          <p:nvPr/>
        </p:nvSpPr>
        <p:spPr>
          <a:xfrm flipV="1">
            <a:off x="0" y="0"/>
            <a:ext cx="18288000" cy="0"/>
          </a:xfrm>
          <a:prstGeom prst="line">
            <a:avLst/>
          </a:prstGeom>
          <a:ln w="38100" cap="flat">
            <a:solidFill>
              <a:srgbClr val="000000"/>
            </a:solidFill>
            <a:prstDash val="solid"/>
            <a:headEnd type="none" w="sm" len="sm"/>
            <a:tailEnd type="none" w="sm" len="sm"/>
          </a:ln>
        </p:spPr>
      </p:sp>
      <p:sp>
        <p:nvSpPr>
          <p:cNvPr id="23" name="TextBox 23"/>
          <p:cNvSpPr txBox="1"/>
          <p:nvPr/>
        </p:nvSpPr>
        <p:spPr>
          <a:xfrm>
            <a:off x="10536290" y="8220453"/>
            <a:ext cx="5607844" cy="1462406"/>
          </a:xfrm>
          <a:prstGeom prst="rect">
            <a:avLst/>
          </a:prstGeom>
        </p:spPr>
        <p:txBody>
          <a:bodyPr lIns="0" tIns="0" rIns="0" bIns="0" rtlCol="0" anchor="t">
            <a:spAutoFit/>
          </a:bodyPr>
          <a:lstStyle/>
          <a:p>
            <a:pPr algn="ctr">
              <a:lnSpc>
                <a:spcPts val="3919"/>
              </a:lnSpc>
            </a:pPr>
            <a:r>
              <a:rPr lang="en-US" sz="2799" b="1">
                <a:solidFill>
                  <a:srgbClr val="FFFFFF"/>
                </a:solidFill>
                <a:latin typeface="Montserrat Bold"/>
                <a:ea typeface="Montserrat Bold"/>
                <a:cs typeface="Montserrat Bold"/>
                <a:sym typeface="Montserrat Bold"/>
              </a:rPr>
              <a:t>UNDER THE SUPERVISION OF </a:t>
            </a:r>
          </a:p>
          <a:p>
            <a:pPr algn="ctr">
              <a:lnSpc>
                <a:spcPts val="3919"/>
              </a:lnSpc>
              <a:spcBef>
                <a:spcPct val="0"/>
              </a:spcBef>
            </a:pPr>
            <a:r>
              <a:rPr lang="en-US" sz="2799" b="1">
                <a:solidFill>
                  <a:srgbClr val="FFFFFF"/>
                </a:solidFill>
                <a:latin typeface="Montserrat Bold"/>
                <a:ea typeface="Montserrat Bold"/>
                <a:cs typeface="Montserrat Bold"/>
                <a:sym typeface="Montserrat Bold"/>
              </a:rPr>
              <a:t>Dr. Shima Mahmoud</a:t>
            </a:r>
          </a:p>
          <a:p>
            <a:pPr algn="ctr">
              <a:lnSpc>
                <a:spcPts val="3919"/>
              </a:lnSpc>
              <a:spcBef>
                <a:spcPct val="0"/>
              </a:spcBef>
            </a:pPr>
            <a:r>
              <a:rPr lang="en-US" sz="2799" b="1">
                <a:solidFill>
                  <a:srgbClr val="FFFFFF"/>
                </a:solidFill>
                <a:latin typeface="Montserrat Bold"/>
                <a:ea typeface="Montserrat Bold"/>
                <a:cs typeface="Montserrat Bold"/>
                <a:sym typeface="Montserrat Bold"/>
              </a:rPr>
              <a:t>Dr. Ebtesam El-Hossiny</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02792" y="4445457"/>
            <a:ext cx="3640575" cy="829571"/>
            <a:chOff x="0" y="0"/>
            <a:chExt cx="1100403" cy="250747"/>
          </a:xfrm>
        </p:grpSpPr>
        <p:sp>
          <p:nvSpPr>
            <p:cNvPr id="3" name="Freeform 3"/>
            <p:cNvSpPr/>
            <p:nvPr/>
          </p:nvSpPr>
          <p:spPr>
            <a:xfrm>
              <a:off x="0" y="0"/>
              <a:ext cx="1100403" cy="250747"/>
            </a:xfrm>
            <a:custGeom>
              <a:avLst/>
              <a:gdLst/>
              <a:ahLst/>
              <a:cxnLst/>
              <a:rect l="l" t="t" r="r" b="b"/>
              <a:pathLst>
                <a:path w="1100403" h="250747">
                  <a:moveTo>
                    <a:pt x="0" y="0"/>
                  </a:moveTo>
                  <a:lnTo>
                    <a:pt x="1100403" y="0"/>
                  </a:lnTo>
                  <a:lnTo>
                    <a:pt x="1100403" y="250747"/>
                  </a:lnTo>
                  <a:lnTo>
                    <a:pt x="0" y="250747"/>
                  </a:lnTo>
                  <a:close/>
                </a:path>
              </a:pathLst>
            </a:custGeom>
            <a:solidFill>
              <a:srgbClr val="145DA0"/>
            </a:solidFill>
            <a:ln cap="sq">
              <a:noFill/>
              <a:prstDash val="solid"/>
              <a:miter/>
            </a:ln>
          </p:spPr>
        </p:sp>
        <p:sp>
          <p:nvSpPr>
            <p:cNvPr id="4" name="TextBox 4"/>
            <p:cNvSpPr txBox="1"/>
            <p:nvPr/>
          </p:nvSpPr>
          <p:spPr>
            <a:xfrm>
              <a:off x="0" y="-38100"/>
              <a:ext cx="1100403" cy="28884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7277471" y="4437385"/>
            <a:ext cx="3443366" cy="837643"/>
            <a:chOff x="0" y="0"/>
            <a:chExt cx="1040794" cy="253187"/>
          </a:xfrm>
        </p:grpSpPr>
        <p:sp>
          <p:nvSpPr>
            <p:cNvPr id="6" name="Freeform 6"/>
            <p:cNvSpPr/>
            <p:nvPr/>
          </p:nvSpPr>
          <p:spPr>
            <a:xfrm>
              <a:off x="0" y="0"/>
              <a:ext cx="1040794" cy="253187"/>
            </a:xfrm>
            <a:custGeom>
              <a:avLst/>
              <a:gdLst/>
              <a:ahLst/>
              <a:cxnLst/>
              <a:rect l="l" t="t" r="r" b="b"/>
              <a:pathLst>
                <a:path w="1040794" h="253187">
                  <a:moveTo>
                    <a:pt x="0" y="0"/>
                  </a:moveTo>
                  <a:lnTo>
                    <a:pt x="1040794" y="0"/>
                  </a:lnTo>
                  <a:lnTo>
                    <a:pt x="1040794" y="253187"/>
                  </a:lnTo>
                  <a:lnTo>
                    <a:pt x="0" y="253187"/>
                  </a:lnTo>
                  <a:close/>
                </a:path>
              </a:pathLst>
            </a:custGeom>
            <a:solidFill>
              <a:srgbClr val="145DA0"/>
            </a:solidFill>
            <a:ln cap="sq">
              <a:noFill/>
              <a:prstDash val="solid"/>
              <a:miter/>
            </a:ln>
          </p:spPr>
        </p:sp>
        <p:sp>
          <p:nvSpPr>
            <p:cNvPr id="7" name="TextBox 7"/>
            <p:cNvSpPr txBox="1"/>
            <p:nvPr/>
          </p:nvSpPr>
          <p:spPr>
            <a:xfrm>
              <a:off x="0" y="-38100"/>
              <a:ext cx="1040794" cy="29128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040663" y="9144877"/>
            <a:ext cx="3527029" cy="762986"/>
            <a:chOff x="0" y="0"/>
            <a:chExt cx="1066082" cy="230621"/>
          </a:xfrm>
        </p:grpSpPr>
        <p:sp>
          <p:nvSpPr>
            <p:cNvPr id="9" name="Freeform 9"/>
            <p:cNvSpPr/>
            <p:nvPr/>
          </p:nvSpPr>
          <p:spPr>
            <a:xfrm>
              <a:off x="0" y="0"/>
              <a:ext cx="1066082" cy="230621"/>
            </a:xfrm>
            <a:custGeom>
              <a:avLst/>
              <a:gdLst/>
              <a:ahLst/>
              <a:cxnLst/>
              <a:rect l="l" t="t" r="r" b="b"/>
              <a:pathLst>
                <a:path w="1066082" h="230621">
                  <a:moveTo>
                    <a:pt x="0" y="0"/>
                  </a:moveTo>
                  <a:lnTo>
                    <a:pt x="1066082" y="0"/>
                  </a:lnTo>
                  <a:lnTo>
                    <a:pt x="1066082" y="230621"/>
                  </a:lnTo>
                  <a:lnTo>
                    <a:pt x="0" y="230621"/>
                  </a:lnTo>
                  <a:close/>
                </a:path>
              </a:pathLst>
            </a:custGeom>
            <a:solidFill>
              <a:srgbClr val="145DA0"/>
            </a:solidFill>
            <a:ln cap="sq">
              <a:noFill/>
              <a:prstDash val="solid"/>
              <a:miter/>
            </a:ln>
          </p:spPr>
        </p:sp>
        <p:sp>
          <p:nvSpPr>
            <p:cNvPr id="10" name="TextBox 10"/>
            <p:cNvSpPr txBox="1"/>
            <p:nvPr/>
          </p:nvSpPr>
          <p:spPr>
            <a:xfrm>
              <a:off x="0" y="-38100"/>
              <a:ext cx="1066082" cy="26872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7277471" y="9141982"/>
            <a:ext cx="3443366" cy="765880"/>
            <a:chOff x="0" y="0"/>
            <a:chExt cx="1040794" cy="231496"/>
          </a:xfrm>
        </p:grpSpPr>
        <p:sp>
          <p:nvSpPr>
            <p:cNvPr id="12" name="Freeform 12"/>
            <p:cNvSpPr/>
            <p:nvPr/>
          </p:nvSpPr>
          <p:spPr>
            <a:xfrm>
              <a:off x="0" y="0"/>
              <a:ext cx="1040794" cy="231496"/>
            </a:xfrm>
            <a:custGeom>
              <a:avLst/>
              <a:gdLst/>
              <a:ahLst/>
              <a:cxnLst/>
              <a:rect l="l" t="t" r="r" b="b"/>
              <a:pathLst>
                <a:path w="1040794" h="231496">
                  <a:moveTo>
                    <a:pt x="0" y="0"/>
                  </a:moveTo>
                  <a:lnTo>
                    <a:pt x="1040794" y="0"/>
                  </a:lnTo>
                  <a:lnTo>
                    <a:pt x="1040794" y="231496"/>
                  </a:lnTo>
                  <a:lnTo>
                    <a:pt x="0" y="231496"/>
                  </a:lnTo>
                  <a:close/>
                </a:path>
              </a:pathLst>
            </a:custGeom>
            <a:solidFill>
              <a:srgbClr val="145DA0"/>
            </a:solidFill>
            <a:ln cap="sq">
              <a:noFill/>
              <a:prstDash val="solid"/>
              <a:miter/>
            </a:ln>
          </p:spPr>
        </p:sp>
        <p:sp>
          <p:nvSpPr>
            <p:cNvPr id="13" name="TextBox 13"/>
            <p:cNvSpPr txBox="1"/>
            <p:nvPr/>
          </p:nvSpPr>
          <p:spPr>
            <a:xfrm>
              <a:off x="0" y="-38100"/>
              <a:ext cx="1040794" cy="26959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3239180" y="4484775"/>
            <a:ext cx="3466630" cy="758225"/>
            <a:chOff x="0" y="0"/>
            <a:chExt cx="1047826" cy="229182"/>
          </a:xfrm>
        </p:grpSpPr>
        <p:sp>
          <p:nvSpPr>
            <p:cNvPr id="15" name="Freeform 15"/>
            <p:cNvSpPr/>
            <p:nvPr/>
          </p:nvSpPr>
          <p:spPr>
            <a:xfrm>
              <a:off x="0" y="0"/>
              <a:ext cx="1047826" cy="229182"/>
            </a:xfrm>
            <a:custGeom>
              <a:avLst/>
              <a:gdLst/>
              <a:ahLst/>
              <a:cxnLst/>
              <a:rect l="l" t="t" r="r" b="b"/>
              <a:pathLst>
                <a:path w="1047826" h="229182">
                  <a:moveTo>
                    <a:pt x="0" y="0"/>
                  </a:moveTo>
                  <a:lnTo>
                    <a:pt x="1047826" y="0"/>
                  </a:lnTo>
                  <a:lnTo>
                    <a:pt x="1047826" y="229182"/>
                  </a:lnTo>
                  <a:lnTo>
                    <a:pt x="0" y="229182"/>
                  </a:lnTo>
                  <a:close/>
                </a:path>
              </a:pathLst>
            </a:custGeom>
            <a:solidFill>
              <a:srgbClr val="145DA0"/>
            </a:solidFill>
            <a:ln cap="sq">
              <a:noFill/>
              <a:prstDash val="solid"/>
              <a:miter/>
            </a:ln>
          </p:spPr>
        </p:sp>
        <p:sp>
          <p:nvSpPr>
            <p:cNvPr id="16" name="TextBox 16"/>
            <p:cNvSpPr txBox="1"/>
            <p:nvPr/>
          </p:nvSpPr>
          <p:spPr>
            <a:xfrm>
              <a:off x="0" y="-38100"/>
              <a:ext cx="1047826" cy="26728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Freeform 20"/>
          <p:cNvSpPr/>
          <p:nvPr/>
        </p:nvSpPr>
        <p:spPr>
          <a:xfrm>
            <a:off x="13184891" y="1103706"/>
            <a:ext cx="3575207" cy="3311619"/>
          </a:xfrm>
          <a:custGeom>
            <a:avLst/>
            <a:gdLst/>
            <a:ahLst/>
            <a:cxnLst/>
            <a:rect l="l" t="t" r="r" b="b"/>
            <a:pathLst>
              <a:path w="3575207" h="3311619">
                <a:moveTo>
                  <a:pt x="0" y="0"/>
                </a:moveTo>
                <a:lnTo>
                  <a:pt x="3575208" y="0"/>
                </a:lnTo>
                <a:lnTo>
                  <a:pt x="3575208" y="3311619"/>
                </a:lnTo>
                <a:lnTo>
                  <a:pt x="0" y="3311619"/>
                </a:lnTo>
                <a:lnTo>
                  <a:pt x="0" y="0"/>
                </a:lnTo>
                <a:close/>
              </a:path>
            </a:pathLst>
          </a:custGeom>
          <a:blipFill>
            <a:blip r:embed="rId2"/>
            <a:stretch>
              <a:fillRect b="-8196"/>
            </a:stretch>
          </a:blipFill>
        </p:spPr>
      </p:sp>
      <p:sp>
        <p:nvSpPr>
          <p:cNvPr id="21" name="Freeform 21"/>
          <p:cNvSpPr/>
          <p:nvPr/>
        </p:nvSpPr>
        <p:spPr>
          <a:xfrm>
            <a:off x="7277471" y="1081645"/>
            <a:ext cx="3443366" cy="3311619"/>
          </a:xfrm>
          <a:custGeom>
            <a:avLst/>
            <a:gdLst/>
            <a:ahLst/>
            <a:cxnLst/>
            <a:rect l="l" t="t" r="r" b="b"/>
            <a:pathLst>
              <a:path w="3443366" h="3311619">
                <a:moveTo>
                  <a:pt x="0" y="0"/>
                </a:moveTo>
                <a:lnTo>
                  <a:pt x="3443365" y="0"/>
                </a:lnTo>
                <a:lnTo>
                  <a:pt x="3443365" y="3311619"/>
                </a:lnTo>
                <a:lnTo>
                  <a:pt x="0" y="3311619"/>
                </a:lnTo>
                <a:lnTo>
                  <a:pt x="0" y="0"/>
                </a:lnTo>
                <a:close/>
              </a:path>
            </a:pathLst>
          </a:custGeom>
          <a:blipFill>
            <a:blip r:embed="rId3"/>
            <a:stretch>
              <a:fillRect b="-3750"/>
            </a:stretch>
          </a:blipFill>
        </p:spPr>
      </p:sp>
      <p:sp>
        <p:nvSpPr>
          <p:cNvPr id="22" name="Freeform 22"/>
          <p:cNvSpPr/>
          <p:nvPr/>
        </p:nvSpPr>
        <p:spPr>
          <a:xfrm>
            <a:off x="1147279" y="1028700"/>
            <a:ext cx="3401544" cy="3386625"/>
          </a:xfrm>
          <a:custGeom>
            <a:avLst/>
            <a:gdLst/>
            <a:ahLst/>
            <a:cxnLst/>
            <a:rect l="l" t="t" r="r" b="b"/>
            <a:pathLst>
              <a:path w="3401544" h="3386625">
                <a:moveTo>
                  <a:pt x="0" y="0"/>
                </a:moveTo>
                <a:lnTo>
                  <a:pt x="3401543" y="0"/>
                </a:lnTo>
                <a:lnTo>
                  <a:pt x="3401543" y="3386625"/>
                </a:lnTo>
                <a:lnTo>
                  <a:pt x="0" y="3386625"/>
                </a:lnTo>
                <a:lnTo>
                  <a:pt x="0" y="0"/>
                </a:lnTo>
                <a:close/>
              </a:path>
            </a:pathLst>
          </a:custGeom>
          <a:blipFill>
            <a:blip r:embed="rId4"/>
            <a:stretch>
              <a:fillRect/>
            </a:stretch>
          </a:blipFill>
        </p:spPr>
      </p:sp>
      <p:sp>
        <p:nvSpPr>
          <p:cNvPr id="23" name="Freeform 23"/>
          <p:cNvSpPr/>
          <p:nvPr/>
        </p:nvSpPr>
        <p:spPr>
          <a:xfrm>
            <a:off x="1040663" y="5542173"/>
            <a:ext cx="3602703" cy="3602703"/>
          </a:xfrm>
          <a:custGeom>
            <a:avLst/>
            <a:gdLst/>
            <a:ahLst/>
            <a:cxnLst/>
            <a:rect l="l" t="t" r="r" b="b"/>
            <a:pathLst>
              <a:path w="3602703" h="3602703">
                <a:moveTo>
                  <a:pt x="0" y="0"/>
                </a:moveTo>
                <a:lnTo>
                  <a:pt x="3602704" y="0"/>
                </a:lnTo>
                <a:lnTo>
                  <a:pt x="3602704" y="3602704"/>
                </a:lnTo>
                <a:lnTo>
                  <a:pt x="0" y="3602704"/>
                </a:lnTo>
                <a:lnTo>
                  <a:pt x="0" y="0"/>
                </a:lnTo>
                <a:close/>
              </a:path>
            </a:pathLst>
          </a:custGeom>
          <a:blipFill>
            <a:blip r:embed="rId5"/>
            <a:stretch>
              <a:fillRect/>
            </a:stretch>
          </a:blipFill>
        </p:spPr>
      </p:sp>
      <p:grpSp>
        <p:nvGrpSpPr>
          <p:cNvPr id="24" name="Group 24"/>
          <p:cNvGrpSpPr/>
          <p:nvPr/>
        </p:nvGrpSpPr>
        <p:grpSpPr>
          <a:xfrm>
            <a:off x="13202539" y="9144877"/>
            <a:ext cx="3557560" cy="762986"/>
            <a:chOff x="0" y="0"/>
            <a:chExt cx="1075311" cy="230621"/>
          </a:xfrm>
        </p:grpSpPr>
        <p:sp>
          <p:nvSpPr>
            <p:cNvPr id="25" name="Freeform 25"/>
            <p:cNvSpPr/>
            <p:nvPr/>
          </p:nvSpPr>
          <p:spPr>
            <a:xfrm>
              <a:off x="0" y="0"/>
              <a:ext cx="1075311" cy="230621"/>
            </a:xfrm>
            <a:custGeom>
              <a:avLst/>
              <a:gdLst/>
              <a:ahLst/>
              <a:cxnLst/>
              <a:rect l="l" t="t" r="r" b="b"/>
              <a:pathLst>
                <a:path w="1075311" h="230621">
                  <a:moveTo>
                    <a:pt x="0" y="0"/>
                  </a:moveTo>
                  <a:lnTo>
                    <a:pt x="1075311" y="0"/>
                  </a:lnTo>
                  <a:lnTo>
                    <a:pt x="1075311" y="230621"/>
                  </a:lnTo>
                  <a:lnTo>
                    <a:pt x="0" y="230621"/>
                  </a:lnTo>
                  <a:close/>
                </a:path>
              </a:pathLst>
            </a:custGeom>
            <a:solidFill>
              <a:srgbClr val="145DA0"/>
            </a:solidFill>
            <a:ln cap="sq">
              <a:noFill/>
              <a:prstDash val="solid"/>
              <a:miter/>
            </a:ln>
          </p:spPr>
        </p:sp>
        <p:sp>
          <p:nvSpPr>
            <p:cNvPr id="26" name="TextBox 26"/>
            <p:cNvSpPr txBox="1"/>
            <p:nvPr/>
          </p:nvSpPr>
          <p:spPr>
            <a:xfrm>
              <a:off x="0" y="-38100"/>
              <a:ext cx="1075311" cy="26872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7" name="Freeform 27"/>
          <p:cNvSpPr/>
          <p:nvPr/>
        </p:nvSpPr>
        <p:spPr>
          <a:xfrm>
            <a:off x="7226993" y="5557809"/>
            <a:ext cx="3544321" cy="3536548"/>
          </a:xfrm>
          <a:custGeom>
            <a:avLst/>
            <a:gdLst/>
            <a:ahLst/>
            <a:cxnLst/>
            <a:rect l="l" t="t" r="r" b="b"/>
            <a:pathLst>
              <a:path w="3544321" h="3536548">
                <a:moveTo>
                  <a:pt x="0" y="0"/>
                </a:moveTo>
                <a:lnTo>
                  <a:pt x="3544321" y="0"/>
                </a:lnTo>
                <a:lnTo>
                  <a:pt x="3544321" y="3536548"/>
                </a:lnTo>
                <a:lnTo>
                  <a:pt x="0" y="3536548"/>
                </a:lnTo>
                <a:lnTo>
                  <a:pt x="0" y="0"/>
                </a:lnTo>
                <a:close/>
              </a:path>
            </a:pathLst>
          </a:custGeom>
          <a:blipFill>
            <a:blip r:embed="rId6"/>
            <a:stretch>
              <a:fillRect/>
            </a:stretch>
          </a:blipFill>
        </p:spPr>
      </p:sp>
      <p:sp>
        <p:nvSpPr>
          <p:cNvPr id="28" name="Freeform 28"/>
          <p:cNvSpPr/>
          <p:nvPr/>
        </p:nvSpPr>
        <p:spPr>
          <a:xfrm>
            <a:off x="13184891" y="5542173"/>
            <a:ext cx="3557560" cy="3549758"/>
          </a:xfrm>
          <a:custGeom>
            <a:avLst/>
            <a:gdLst/>
            <a:ahLst/>
            <a:cxnLst/>
            <a:rect l="l" t="t" r="r" b="b"/>
            <a:pathLst>
              <a:path w="3557560" h="3549758">
                <a:moveTo>
                  <a:pt x="0" y="0"/>
                </a:moveTo>
                <a:lnTo>
                  <a:pt x="3557560" y="0"/>
                </a:lnTo>
                <a:lnTo>
                  <a:pt x="3557560" y="3549758"/>
                </a:lnTo>
                <a:lnTo>
                  <a:pt x="0" y="3549758"/>
                </a:lnTo>
                <a:lnTo>
                  <a:pt x="0" y="0"/>
                </a:lnTo>
                <a:close/>
              </a:path>
            </a:pathLst>
          </a:custGeom>
          <a:blipFill>
            <a:blip r:embed="rId7"/>
            <a:stretch>
              <a:fillRect/>
            </a:stretch>
          </a:blipFill>
        </p:spPr>
      </p:sp>
      <p:sp>
        <p:nvSpPr>
          <p:cNvPr id="29" name="TextBox 29"/>
          <p:cNvSpPr txBox="1"/>
          <p:nvPr/>
        </p:nvSpPr>
        <p:spPr>
          <a:xfrm>
            <a:off x="4518242" y="1064"/>
            <a:ext cx="8678243" cy="870584"/>
          </a:xfrm>
          <a:prstGeom prst="rect">
            <a:avLst/>
          </a:prstGeom>
        </p:spPr>
        <p:txBody>
          <a:bodyPr lIns="0" tIns="0" rIns="0" bIns="0" rtlCol="0" anchor="t">
            <a:spAutoFit/>
          </a:bodyPr>
          <a:lstStyle/>
          <a:p>
            <a:pPr marL="0" lvl="0" indent="0" algn="ctr">
              <a:lnSpc>
                <a:spcPts val="7140"/>
              </a:lnSpc>
              <a:spcBef>
                <a:spcPct val="0"/>
              </a:spcBef>
            </a:pPr>
            <a:r>
              <a:rPr lang="en-US" sz="5100" b="1">
                <a:solidFill>
                  <a:srgbClr val="000000"/>
                </a:solidFill>
                <a:latin typeface="Montserrat Bold"/>
                <a:ea typeface="Montserrat Bold"/>
                <a:cs typeface="Montserrat Bold"/>
                <a:sym typeface="Montserrat Bold"/>
              </a:rPr>
              <a:t>TEAMWORK</a:t>
            </a:r>
          </a:p>
        </p:txBody>
      </p:sp>
      <p:sp>
        <p:nvSpPr>
          <p:cNvPr id="30" name="TextBox 30"/>
          <p:cNvSpPr txBox="1"/>
          <p:nvPr/>
        </p:nvSpPr>
        <p:spPr>
          <a:xfrm>
            <a:off x="908586" y="4573132"/>
            <a:ext cx="3841396" cy="472624"/>
          </a:xfrm>
          <a:prstGeom prst="rect">
            <a:avLst/>
          </a:prstGeom>
        </p:spPr>
        <p:txBody>
          <a:bodyPr lIns="0" tIns="0" rIns="0" bIns="0" rtlCol="0" anchor="t">
            <a:spAutoFit/>
          </a:bodyPr>
          <a:lstStyle/>
          <a:p>
            <a:pPr algn="ctr">
              <a:lnSpc>
                <a:spcPts val="3852"/>
              </a:lnSpc>
              <a:spcBef>
                <a:spcPct val="0"/>
              </a:spcBef>
            </a:pPr>
            <a:r>
              <a:rPr lang="en-US" sz="2751" b="1">
                <a:solidFill>
                  <a:srgbClr val="FDFDFD"/>
                </a:solidFill>
                <a:latin typeface="Montserrat Bold"/>
                <a:ea typeface="Montserrat Bold"/>
                <a:cs typeface="Montserrat Bold"/>
                <a:sym typeface="Montserrat Bold"/>
              </a:rPr>
              <a:t>Abdelrhman  Tare</a:t>
            </a:r>
            <a:r>
              <a:rPr lang="en-US" sz="2751" b="1">
                <a:solidFill>
                  <a:srgbClr val="FFFFFF"/>
                </a:solidFill>
                <a:latin typeface="Montserrat Bold"/>
                <a:ea typeface="Montserrat Bold"/>
                <a:cs typeface="Montserrat Bold"/>
                <a:sym typeface="Montserrat Bold"/>
              </a:rPr>
              <a:t>k</a:t>
            </a:r>
          </a:p>
        </p:txBody>
      </p:sp>
      <p:sp>
        <p:nvSpPr>
          <p:cNvPr id="31" name="TextBox 31"/>
          <p:cNvSpPr txBox="1"/>
          <p:nvPr/>
        </p:nvSpPr>
        <p:spPr>
          <a:xfrm>
            <a:off x="7852695" y="4565602"/>
            <a:ext cx="2292917" cy="489462"/>
          </a:xfrm>
          <a:prstGeom prst="rect">
            <a:avLst/>
          </a:prstGeom>
        </p:spPr>
        <p:txBody>
          <a:bodyPr lIns="0" tIns="0" rIns="0" bIns="0" rtlCol="0" anchor="t">
            <a:spAutoFit/>
          </a:bodyPr>
          <a:lstStyle/>
          <a:p>
            <a:pPr algn="ctr">
              <a:lnSpc>
                <a:spcPts val="4096"/>
              </a:lnSpc>
              <a:spcBef>
                <a:spcPct val="0"/>
              </a:spcBef>
            </a:pPr>
            <a:r>
              <a:rPr lang="en-US" sz="2926" b="1">
                <a:solidFill>
                  <a:srgbClr val="FDFDFD"/>
                </a:solidFill>
                <a:latin typeface="Montserrat Bold"/>
                <a:ea typeface="Montserrat Bold"/>
                <a:cs typeface="Montserrat Bold"/>
                <a:sym typeface="Montserrat Bold"/>
              </a:rPr>
              <a:t>Fady Ezzat</a:t>
            </a:r>
          </a:p>
        </p:txBody>
      </p:sp>
      <p:sp>
        <p:nvSpPr>
          <p:cNvPr id="32" name="TextBox 32"/>
          <p:cNvSpPr txBox="1"/>
          <p:nvPr/>
        </p:nvSpPr>
        <p:spPr>
          <a:xfrm>
            <a:off x="13507497" y="4606034"/>
            <a:ext cx="3053176" cy="503460"/>
          </a:xfrm>
          <a:prstGeom prst="rect">
            <a:avLst/>
          </a:prstGeom>
        </p:spPr>
        <p:txBody>
          <a:bodyPr lIns="0" tIns="0" rIns="0" bIns="0" rtlCol="0" anchor="t">
            <a:spAutoFit/>
          </a:bodyPr>
          <a:lstStyle/>
          <a:p>
            <a:pPr algn="ctr">
              <a:lnSpc>
                <a:spcPts val="4138"/>
              </a:lnSpc>
              <a:spcBef>
                <a:spcPct val="0"/>
              </a:spcBef>
            </a:pPr>
            <a:r>
              <a:rPr lang="en-US" sz="2955" b="1" dirty="0">
                <a:solidFill>
                  <a:srgbClr val="FDFDFD"/>
                </a:solidFill>
                <a:latin typeface="Montserrat Bold"/>
                <a:ea typeface="Montserrat Bold"/>
                <a:cs typeface="Montserrat Bold"/>
                <a:sym typeface="Montserrat Bold"/>
              </a:rPr>
              <a:t>Shahd </a:t>
            </a:r>
            <a:r>
              <a:rPr lang="en-US" sz="2955" b="1" dirty="0" err="1">
                <a:solidFill>
                  <a:srgbClr val="FDFDFD"/>
                </a:solidFill>
                <a:latin typeface="Montserrat Bold"/>
                <a:ea typeface="Montserrat Bold"/>
                <a:cs typeface="Montserrat Bold"/>
                <a:sym typeface="Montserrat Bold"/>
              </a:rPr>
              <a:t>fouad</a:t>
            </a:r>
            <a:endParaRPr lang="en-US" sz="2955" b="1" dirty="0">
              <a:solidFill>
                <a:srgbClr val="FDFDFD"/>
              </a:solidFill>
              <a:latin typeface="Montserrat Bold"/>
              <a:ea typeface="Montserrat Bold"/>
              <a:cs typeface="Montserrat Bold"/>
              <a:sym typeface="Montserrat Bold"/>
            </a:endParaRPr>
          </a:p>
        </p:txBody>
      </p:sp>
      <p:sp>
        <p:nvSpPr>
          <p:cNvPr id="33" name="TextBox 33"/>
          <p:cNvSpPr txBox="1"/>
          <p:nvPr/>
        </p:nvSpPr>
        <p:spPr>
          <a:xfrm>
            <a:off x="1275540" y="9266931"/>
            <a:ext cx="2985455" cy="464621"/>
          </a:xfrm>
          <a:prstGeom prst="rect">
            <a:avLst/>
          </a:prstGeom>
        </p:spPr>
        <p:txBody>
          <a:bodyPr lIns="0" tIns="0" rIns="0" bIns="0" rtlCol="0" anchor="t">
            <a:spAutoFit/>
          </a:bodyPr>
          <a:lstStyle/>
          <a:p>
            <a:pPr algn="ctr">
              <a:lnSpc>
                <a:spcPts val="3805"/>
              </a:lnSpc>
              <a:spcBef>
                <a:spcPct val="0"/>
              </a:spcBef>
            </a:pPr>
            <a:r>
              <a:rPr lang="en-US" sz="2717" b="1">
                <a:solidFill>
                  <a:srgbClr val="FDFDFD"/>
                </a:solidFill>
                <a:latin typeface="Montserrat Bold"/>
                <a:ea typeface="Montserrat Bold"/>
                <a:cs typeface="Montserrat Bold"/>
                <a:sym typeface="Montserrat Bold"/>
              </a:rPr>
              <a:t>Ghada Hamada</a:t>
            </a:r>
          </a:p>
        </p:txBody>
      </p:sp>
      <p:sp>
        <p:nvSpPr>
          <p:cNvPr id="34" name="TextBox 34"/>
          <p:cNvSpPr txBox="1"/>
          <p:nvPr/>
        </p:nvSpPr>
        <p:spPr>
          <a:xfrm>
            <a:off x="7683176" y="9244734"/>
            <a:ext cx="2631955" cy="503228"/>
          </a:xfrm>
          <a:prstGeom prst="rect">
            <a:avLst/>
          </a:prstGeom>
        </p:spPr>
        <p:txBody>
          <a:bodyPr lIns="0" tIns="0" rIns="0" bIns="0" rtlCol="0" anchor="t">
            <a:spAutoFit/>
          </a:bodyPr>
          <a:lstStyle/>
          <a:p>
            <a:pPr algn="ctr">
              <a:lnSpc>
                <a:spcPts val="4136"/>
              </a:lnSpc>
              <a:spcBef>
                <a:spcPct val="0"/>
              </a:spcBef>
            </a:pPr>
            <a:r>
              <a:rPr lang="en-US" sz="2954" b="1">
                <a:solidFill>
                  <a:srgbClr val="FDFDFD"/>
                </a:solidFill>
                <a:latin typeface="Montserrat Bold"/>
                <a:ea typeface="Montserrat Bold"/>
                <a:cs typeface="Montserrat Bold"/>
                <a:sym typeface="Montserrat Bold"/>
              </a:rPr>
              <a:t>Nada Sobhy</a:t>
            </a:r>
          </a:p>
        </p:txBody>
      </p:sp>
      <p:sp>
        <p:nvSpPr>
          <p:cNvPr id="35" name="TextBox 35"/>
          <p:cNvSpPr txBox="1"/>
          <p:nvPr/>
        </p:nvSpPr>
        <p:spPr>
          <a:xfrm>
            <a:off x="13196485" y="9287469"/>
            <a:ext cx="3575207" cy="463845"/>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DFDFD"/>
                </a:solidFill>
                <a:latin typeface="Montserrat Bold"/>
                <a:ea typeface="Montserrat Bold"/>
                <a:cs typeface="Montserrat Bold"/>
                <a:sym typeface="Montserrat Bold"/>
              </a:rPr>
              <a:t>Fatma Mohamed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145DA0"/>
            </a:solidFill>
            <a:ln cap="sq">
              <a:noFill/>
              <a:prstDash val="solid"/>
              <a:miter/>
            </a:ln>
          </p:spPr>
        </p:sp>
        <p:sp>
          <p:nvSpPr>
            <p:cNvPr id="4" name="TextBox 4"/>
            <p:cNvSpPr txBox="1"/>
            <p:nvPr/>
          </p:nvSpPr>
          <p:spPr>
            <a:xfrm>
              <a:off x="0" y="-38100"/>
              <a:ext cx="1044090" cy="291357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5052696" y="508600"/>
            <a:ext cx="6234198" cy="1367912"/>
          </a:xfrm>
          <a:prstGeom prst="rect">
            <a:avLst/>
          </a:prstGeom>
        </p:spPr>
        <p:txBody>
          <a:bodyPr lIns="0" tIns="0" rIns="0" bIns="0" rtlCol="0" anchor="t">
            <a:spAutoFit/>
          </a:bodyPr>
          <a:lstStyle/>
          <a:p>
            <a:pPr algn="ctr">
              <a:lnSpc>
                <a:spcPts val="11228"/>
              </a:lnSpc>
              <a:spcBef>
                <a:spcPct val="0"/>
              </a:spcBef>
            </a:pPr>
            <a:r>
              <a:rPr lang="en-US" sz="8020" b="1">
                <a:solidFill>
                  <a:srgbClr val="051D40"/>
                </a:solidFill>
                <a:latin typeface="Montserrat Bold"/>
                <a:ea typeface="Montserrat Bold"/>
                <a:cs typeface="Montserrat Bold"/>
                <a:sym typeface="Montserrat Bold"/>
              </a:rPr>
              <a:t>AGENDA</a:t>
            </a:r>
          </a:p>
        </p:txBody>
      </p:sp>
      <p:grpSp>
        <p:nvGrpSpPr>
          <p:cNvPr id="6" name="Group 6"/>
          <p:cNvGrpSpPr/>
          <p:nvPr/>
        </p:nvGrpSpPr>
        <p:grpSpPr>
          <a:xfrm>
            <a:off x="-2809934" y="-117375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0" cap="sq">
              <a:solidFill>
                <a:srgbClr val="145DA0"/>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1488729" y="2316592"/>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1994404" y="447246"/>
            <a:ext cx="6293596" cy="9392508"/>
          </a:xfrm>
          <a:custGeom>
            <a:avLst/>
            <a:gdLst/>
            <a:ahLst/>
            <a:cxnLst/>
            <a:rect l="l" t="t" r="r" b="b"/>
            <a:pathLst>
              <a:path w="6293596" h="9392508">
                <a:moveTo>
                  <a:pt x="0" y="0"/>
                </a:moveTo>
                <a:lnTo>
                  <a:pt x="6293596" y="0"/>
                </a:lnTo>
                <a:lnTo>
                  <a:pt x="6293596" y="9392508"/>
                </a:lnTo>
                <a:lnTo>
                  <a:pt x="0" y="9392508"/>
                </a:lnTo>
                <a:lnTo>
                  <a:pt x="0" y="0"/>
                </a:lnTo>
                <a:close/>
              </a:path>
            </a:pathLst>
          </a:custGeom>
          <a:blipFill>
            <a:blip r:embed="rId4"/>
            <a:stretch>
              <a:fillRect l="-23391" r="-12009"/>
            </a:stretch>
          </a:blipFill>
        </p:spPr>
      </p:sp>
      <p:sp>
        <p:nvSpPr>
          <p:cNvPr id="11" name="TextBox 11"/>
          <p:cNvSpPr txBox="1"/>
          <p:nvPr/>
        </p:nvSpPr>
        <p:spPr>
          <a:xfrm>
            <a:off x="2160376" y="1905087"/>
            <a:ext cx="5480840" cy="1095375"/>
          </a:xfrm>
          <a:prstGeom prst="rect">
            <a:avLst/>
          </a:prstGeom>
        </p:spPr>
        <p:txBody>
          <a:bodyPr lIns="0" tIns="0" rIns="0" bIns="0" rtlCol="0" anchor="t">
            <a:spAutoFit/>
          </a:bodyPr>
          <a:lstStyle/>
          <a:p>
            <a:pPr algn="l">
              <a:lnSpc>
                <a:spcPts val="8400"/>
              </a:lnSpc>
              <a:spcBef>
                <a:spcPct val="0"/>
              </a:spcBef>
            </a:pPr>
            <a:r>
              <a:rPr lang="en-US" sz="6000" b="1" spc="-120">
                <a:solidFill>
                  <a:srgbClr val="051D40"/>
                </a:solidFill>
                <a:latin typeface="Poppins Bold"/>
                <a:ea typeface="Poppins Bold"/>
                <a:cs typeface="Poppins Bold"/>
                <a:sym typeface="Poppins Bold"/>
              </a:rPr>
              <a:t>Introduction</a:t>
            </a:r>
          </a:p>
        </p:txBody>
      </p:sp>
      <p:sp>
        <p:nvSpPr>
          <p:cNvPr id="12" name="Freeform 12"/>
          <p:cNvSpPr/>
          <p:nvPr/>
        </p:nvSpPr>
        <p:spPr>
          <a:xfrm rot="5400000">
            <a:off x="1488729" y="592259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rot="5400000">
            <a:off x="1488729" y="4204999"/>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2252190" y="3158091"/>
            <a:ext cx="9548119" cy="582211"/>
          </a:xfrm>
          <a:prstGeom prst="rect">
            <a:avLst/>
          </a:prstGeom>
        </p:spPr>
        <p:txBody>
          <a:bodyPr wrap="square" lIns="0" tIns="0" rIns="0" bIns="0" rtlCol="0" anchor="t">
            <a:spAutoFit/>
          </a:bodyPr>
          <a:lstStyle/>
          <a:p>
            <a:pPr>
              <a:lnSpc>
                <a:spcPts val="4900"/>
              </a:lnSpc>
              <a:spcBef>
                <a:spcPct val="0"/>
              </a:spcBef>
            </a:pPr>
            <a:r>
              <a:rPr lang="en-US" sz="3500" b="1" dirty="0">
                <a:solidFill>
                  <a:srgbClr val="051D40"/>
                </a:solidFill>
                <a:latin typeface="Montserrat Bold"/>
                <a:ea typeface="Montserrat Bold"/>
                <a:cs typeface="Montserrat Bold"/>
                <a:sym typeface="Montserrat Bold"/>
              </a:rPr>
              <a:t>Problem Statement , Aim &amp; Objectives</a:t>
            </a:r>
          </a:p>
        </p:txBody>
      </p:sp>
      <p:sp>
        <p:nvSpPr>
          <p:cNvPr id="15" name="TextBox 15"/>
          <p:cNvSpPr txBox="1"/>
          <p:nvPr/>
        </p:nvSpPr>
        <p:spPr>
          <a:xfrm>
            <a:off x="2160375" y="3830006"/>
            <a:ext cx="7212467" cy="1028700"/>
          </a:xfrm>
          <a:prstGeom prst="rect">
            <a:avLst/>
          </a:prstGeom>
        </p:spPr>
        <p:txBody>
          <a:bodyPr lIns="0" tIns="0" rIns="0" bIns="0" rtlCol="0" anchor="t">
            <a:spAutoFit/>
          </a:bodyPr>
          <a:lstStyle/>
          <a:p>
            <a:pPr>
              <a:lnSpc>
                <a:spcPts val="8400"/>
              </a:lnSpc>
              <a:spcBef>
                <a:spcPct val="0"/>
              </a:spcBef>
            </a:pPr>
            <a:r>
              <a:rPr lang="en-US" sz="6000" b="1" dirty="0">
                <a:solidFill>
                  <a:srgbClr val="051D40"/>
                </a:solidFill>
                <a:latin typeface="Montserrat Bold"/>
                <a:ea typeface="Montserrat Bold"/>
                <a:cs typeface="Montserrat Bold"/>
                <a:sym typeface="Montserrat Bold"/>
              </a:rPr>
              <a:t>System Analysis</a:t>
            </a:r>
          </a:p>
        </p:txBody>
      </p:sp>
      <p:sp>
        <p:nvSpPr>
          <p:cNvPr id="16" name="TextBox 16"/>
          <p:cNvSpPr txBox="1"/>
          <p:nvPr/>
        </p:nvSpPr>
        <p:spPr>
          <a:xfrm>
            <a:off x="2252190" y="4958088"/>
            <a:ext cx="4051699" cy="596900"/>
          </a:xfrm>
          <a:prstGeom prst="rect">
            <a:avLst/>
          </a:prstGeom>
        </p:spPr>
        <p:txBody>
          <a:bodyPr lIns="0" tIns="0" rIns="0" bIns="0" rtlCol="0" anchor="t">
            <a:spAutoFit/>
          </a:bodyPr>
          <a:lstStyle/>
          <a:p>
            <a:pPr>
              <a:lnSpc>
                <a:spcPts val="4899"/>
              </a:lnSpc>
              <a:spcBef>
                <a:spcPct val="0"/>
              </a:spcBef>
            </a:pPr>
            <a:r>
              <a:rPr lang="en-US" sz="3499" b="1" dirty="0">
                <a:solidFill>
                  <a:srgbClr val="051D40"/>
                </a:solidFill>
                <a:latin typeface="Montserrat Bold"/>
                <a:ea typeface="Montserrat Bold"/>
                <a:cs typeface="Montserrat Bold"/>
                <a:sym typeface="Montserrat Bold"/>
              </a:rPr>
              <a:t>Main Use Cases</a:t>
            </a:r>
          </a:p>
        </p:txBody>
      </p:sp>
      <p:sp>
        <p:nvSpPr>
          <p:cNvPr id="17" name="TextBox 17"/>
          <p:cNvSpPr txBox="1"/>
          <p:nvPr/>
        </p:nvSpPr>
        <p:spPr>
          <a:xfrm>
            <a:off x="2160376" y="5598482"/>
            <a:ext cx="8424027" cy="1028626"/>
          </a:xfrm>
          <a:prstGeom prst="rect">
            <a:avLst/>
          </a:prstGeom>
        </p:spPr>
        <p:txBody>
          <a:bodyPr lIns="0" tIns="0" rIns="0" bIns="0" rtlCol="0" anchor="t">
            <a:spAutoFit/>
          </a:bodyPr>
          <a:lstStyle/>
          <a:p>
            <a:pPr>
              <a:lnSpc>
                <a:spcPts val="8400"/>
              </a:lnSpc>
              <a:spcBef>
                <a:spcPct val="0"/>
              </a:spcBef>
            </a:pPr>
            <a:r>
              <a:rPr lang="en-US" sz="6000" b="1" dirty="0">
                <a:solidFill>
                  <a:srgbClr val="051D40"/>
                </a:solidFill>
                <a:latin typeface="Montserrat Bold"/>
                <a:ea typeface="Montserrat Bold"/>
                <a:cs typeface="Montserrat Bold"/>
                <a:sym typeface="Montserrat Bold"/>
              </a:rPr>
              <a:t>Tools &amp; Technologies</a:t>
            </a:r>
          </a:p>
        </p:txBody>
      </p:sp>
      <p:sp>
        <p:nvSpPr>
          <p:cNvPr id="18" name="TextBox 18"/>
          <p:cNvSpPr txBox="1"/>
          <p:nvPr/>
        </p:nvSpPr>
        <p:spPr>
          <a:xfrm>
            <a:off x="2252189" y="6784737"/>
            <a:ext cx="9548119" cy="582147"/>
          </a:xfrm>
          <a:prstGeom prst="rect">
            <a:avLst/>
          </a:prstGeom>
        </p:spPr>
        <p:txBody>
          <a:bodyPr wrap="square" lIns="0" tIns="0" rIns="0" bIns="0" rtlCol="0" anchor="t">
            <a:spAutoFit/>
          </a:bodyPr>
          <a:lstStyle/>
          <a:p>
            <a:pPr>
              <a:lnSpc>
                <a:spcPts val="4899"/>
              </a:lnSpc>
              <a:spcBef>
                <a:spcPct val="0"/>
              </a:spcBef>
            </a:pPr>
            <a:r>
              <a:rPr lang="en-US" sz="3499" b="1" dirty="0">
                <a:solidFill>
                  <a:srgbClr val="051D40"/>
                </a:solidFill>
                <a:latin typeface="Montserrat Bold"/>
                <a:ea typeface="Montserrat Bold"/>
                <a:cs typeface="Montserrat Bold"/>
                <a:sym typeface="Montserrat Bold"/>
              </a:rPr>
              <a:t>Web , Mobile , AI , Database &amp; Backend</a:t>
            </a:r>
          </a:p>
        </p:txBody>
      </p:sp>
      <p:sp>
        <p:nvSpPr>
          <p:cNvPr id="19" name="Freeform 19"/>
          <p:cNvSpPr/>
          <p:nvPr/>
        </p:nvSpPr>
        <p:spPr>
          <a:xfrm rot="5400000">
            <a:off x="1488728" y="8844405"/>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2160375" y="8497988"/>
            <a:ext cx="7212467" cy="1028700"/>
          </a:xfrm>
          <a:prstGeom prst="rect">
            <a:avLst/>
          </a:prstGeom>
        </p:spPr>
        <p:txBody>
          <a:bodyPr lIns="0" tIns="0" rIns="0" bIns="0" rtlCol="0" anchor="t">
            <a:spAutoFit/>
          </a:bodyPr>
          <a:lstStyle/>
          <a:p>
            <a:pPr algn="l">
              <a:lnSpc>
                <a:spcPts val="8400"/>
              </a:lnSpc>
              <a:spcBef>
                <a:spcPct val="0"/>
              </a:spcBef>
            </a:pPr>
            <a:r>
              <a:rPr lang="en-US" sz="6000" b="1">
                <a:solidFill>
                  <a:srgbClr val="051D40"/>
                </a:solidFill>
                <a:latin typeface="Montserrat Bold"/>
                <a:ea typeface="Montserrat Bold"/>
                <a:cs typeface="Montserrat Bold"/>
                <a:sym typeface="Montserrat Bold"/>
              </a:rPr>
              <a:t>Future Work</a:t>
            </a:r>
          </a:p>
        </p:txBody>
      </p:sp>
      <p:sp>
        <p:nvSpPr>
          <p:cNvPr id="21" name="Freeform 21"/>
          <p:cNvSpPr/>
          <p:nvPr/>
        </p:nvSpPr>
        <p:spPr>
          <a:xfrm rot="5400000">
            <a:off x="1488729" y="7738748"/>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p:cNvSpPr txBox="1"/>
          <p:nvPr/>
        </p:nvSpPr>
        <p:spPr>
          <a:xfrm>
            <a:off x="2160376" y="7392331"/>
            <a:ext cx="7212467" cy="1028700"/>
          </a:xfrm>
          <a:prstGeom prst="rect">
            <a:avLst/>
          </a:prstGeom>
        </p:spPr>
        <p:txBody>
          <a:bodyPr lIns="0" tIns="0" rIns="0" bIns="0" rtlCol="0" anchor="t">
            <a:spAutoFit/>
          </a:bodyPr>
          <a:lstStyle/>
          <a:p>
            <a:pPr algn="l">
              <a:lnSpc>
                <a:spcPts val="8400"/>
              </a:lnSpc>
              <a:spcBef>
                <a:spcPct val="0"/>
              </a:spcBef>
            </a:pPr>
            <a:r>
              <a:rPr lang="en-US" sz="6000" b="1">
                <a:solidFill>
                  <a:srgbClr val="051D40"/>
                </a:solidFill>
                <a:latin typeface="Montserrat Bold"/>
                <a:ea typeface="Montserrat Bold"/>
                <a:cs typeface="Montserrat Bold"/>
                <a:sym typeface="Montserrat Bold"/>
              </a:rPr>
              <a:t>Conclusion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51435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a:blip r:embed="rId2"/>
            <a:stretch>
              <a:fillRect t="-72406" b="-64482"/>
            </a:stretch>
          </a:blipFill>
        </p:spPr>
      </p:sp>
      <p:grpSp>
        <p:nvGrpSpPr>
          <p:cNvPr id="3" name="Group 3"/>
          <p:cNvGrpSpPr/>
          <p:nvPr/>
        </p:nvGrpSpPr>
        <p:grpSpPr>
          <a:xfrm>
            <a:off x="-188217" y="9553575"/>
            <a:ext cx="18476217" cy="733425"/>
            <a:chOff x="0" y="0"/>
            <a:chExt cx="4866164" cy="193165"/>
          </a:xfrm>
        </p:grpSpPr>
        <p:sp>
          <p:nvSpPr>
            <p:cNvPr id="4" name="Freeform 4"/>
            <p:cNvSpPr/>
            <p:nvPr/>
          </p:nvSpPr>
          <p:spPr>
            <a:xfrm>
              <a:off x="0" y="0"/>
              <a:ext cx="4866164" cy="193165"/>
            </a:xfrm>
            <a:custGeom>
              <a:avLst/>
              <a:gdLst/>
              <a:ahLst/>
              <a:cxnLst/>
              <a:rect l="l" t="t" r="r" b="b"/>
              <a:pathLst>
                <a:path w="4866164" h="193165">
                  <a:moveTo>
                    <a:pt x="0" y="0"/>
                  </a:moveTo>
                  <a:lnTo>
                    <a:pt x="4866164" y="0"/>
                  </a:lnTo>
                  <a:lnTo>
                    <a:pt x="4866164" y="193165"/>
                  </a:lnTo>
                  <a:lnTo>
                    <a:pt x="0" y="193165"/>
                  </a:lnTo>
                  <a:close/>
                </a:path>
              </a:pathLst>
            </a:custGeom>
            <a:solidFill>
              <a:srgbClr val="5B98BA"/>
            </a:solidFill>
            <a:ln cap="sq">
              <a:noFill/>
              <a:prstDash val="solid"/>
              <a:miter/>
            </a:ln>
          </p:spPr>
        </p:sp>
        <p:sp>
          <p:nvSpPr>
            <p:cNvPr id="5" name="TextBox 5"/>
            <p:cNvSpPr txBox="1"/>
            <p:nvPr/>
          </p:nvSpPr>
          <p:spPr>
            <a:xfrm>
              <a:off x="0" y="-38100"/>
              <a:ext cx="4866164" cy="23126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65744" y="1028700"/>
            <a:ext cx="17638538" cy="8229600"/>
            <a:chOff x="0" y="0"/>
            <a:chExt cx="4645541" cy="2167467"/>
          </a:xfrm>
        </p:grpSpPr>
        <p:sp>
          <p:nvSpPr>
            <p:cNvPr id="7" name="Freeform 7"/>
            <p:cNvSpPr/>
            <p:nvPr/>
          </p:nvSpPr>
          <p:spPr>
            <a:xfrm>
              <a:off x="0" y="0"/>
              <a:ext cx="4645541" cy="2167467"/>
            </a:xfrm>
            <a:custGeom>
              <a:avLst/>
              <a:gdLst/>
              <a:ahLst/>
              <a:cxnLst/>
              <a:rect l="l" t="t" r="r" b="b"/>
              <a:pathLst>
                <a:path w="4645541" h="2167467">
                  <a:moveTo>
                    <a:pt x="13168" y="0"/>
                  </a:moveTo>
                  <a:lnTo>
                    <a:pt x="4632373" y="0"/>
                  </a:lnTo>
                  <a:cubicBezTo>
                    <a:pt x="4635865" y="0"/>
                    <a:pt x="4639215" y="1387"/>
                    <a:pt x="4641684" y="3857"/>
                  </a:cubicBezTo>
                  <a:cubicBezTo>
                    <a:pt x="4644154" y="6326"/>
                    <a:pt x="4645541" y="9675"/>
                    <a:pt x="4645541" y="13168"/>
                  </a:cubicBezTo>
                  <a:lnTo>
                    <a:pt x="4645541" y="2154299"/>
                  </a:lnTo>
                  <a:cubicBezTo>
                    <a:pt x="4645541" y="2157791"/>
                    <a:pt x="4644154" y="2161141"/>
                    <a:pt x="4641684" y="2163610"/>
                  </a:cubicBezTo>
                  <a:cubicBezTo>
                    <a:pt x="4639215" y="2166079"/>
                    <a:pt x="4635865" y="2167467"/>
                    <a:pt x="4632373" y="2167467"/>
                  </a:cubicBezTo>
                  <a:lnTo>
                    <a:pt x="13168" y="2167467"/>
                  </a:lnTo>
                  <a:cubicBezTo>
                    <a:pt x="9675" y="2167467"/>
                    <a:pt x="6326" y="2166079"/>
                    <a:pt x="3857" y="2163610"/>
                  </a:cubicBezTo>
                  <a:cubicBezTo>
                    <a:pt x="1387" y="2161141"/>
                    <a:pt x="0" y="2157791"/>
                    <a:pt x="0" y="2154299"/>
                  </a:cubicBezTo>
                  <a:lnTo>
                    <a:pt x="0" y="13168"/>
                  </a:lnTo>
                  <a:cubicBezTo>
                    <a:pt x="0" y="9675"/>
                    <a:pt x="1387" y="6326"/>
                    <a:pt x="3857" y="3857"/>
                  </a:cubicBezTo>
                  <a:cubicBezTo>
                    <a:pt x="6326" y="1387"/>
                    <a:pt x="9675" y="0"/>
                    <a:pt x="13168" y="0"/>
                  </a:cubicBezTo>
                  <a:close/>
                </a:path>
              </a:pathLst>
            </a:custGeom>
            <a:solidFill>
              <a:srgbClr val="145DA0"/>
            </a:solidFill>
            <a:ln cap="rnd">
              <a:noFill/>
              <a:prstDash val="solid"/>
              <a:round/>
            </a:ln>
          </p:spPr>
        </p:sp>
        <p:sp>
          <p:nvSpPr>
            <p:cNvPr id="8" name="TextBox 8"/>
            <p:cNvSpPr txBox="1"/>
            <p:nvPr/>
          </p:nvSpPr>
          <p:spPr>
            <a:xfrm>
              <a:off x="0" y="-47625"/>
              <a:ext cx="4645541" cy="2215092"/>
            </a:xfrm>
            <a:prstGeom prst="rect">
              <a:avLst/>
            </a:prstGeom>
          </p:spPr>
          <p:txBody>
            <a:bodyPr lIns="50800" tIns="50800" rIns="50800" bIns="50800" rtlCol="0" anchor="ctr"/>
            <a:lstStyle/>
            <a:p>
              <a:pPr algn="ctr">
                <a:lnSpc>
                  <a:spcPts val="4059"/>
                </a:lnSpc>
              </a:pPr>
              <a:endParaRPr/>
            </a:p>
            <a:p>
              <a:pPr algn="ctr">
                <a:lnSpc>
                  <a:spcPts val="2659"/>
                </a:lnSpc>
              </a:pPr>
              <a:endParaRPr/>
            </a:p>
            <a:p>
              <a:pPr marL="0" lvl="0" indent="0" algn="ctr">
                <a:lnSpc>
                  <a:spcPts val="2659"/>
                </a:lnSpc>
                <a:spcBef>
                  <a:spcPct val="0"/>
                </a:spcBef>
              </a:pPr>
              <a:endParaRPr/>
            </a:p>
            <a:p>
              <a:pPr marL="0" lvl="0" indent="0" algn="ctr">
                <a:lnSpc>
                  <a:spcPts val="2659"/>
                </a:lnSpc>
                <a:spcBef>
                  <a:spcPct val="0"/>
                </a:spcBef>
              </a:pPr>
              <a:endParaRPr/>
            </a:p>
            <a:p>
              <a:pPr marL="0" lvl="0" indent="0" algn="ctr">
                <a:lnSpc>
                  <a:spcPts val="2659"/>
                </a:lnSpc>
                <a:spcBef>
                  <a:spcPct val="0"/>
                </a:spcBef>
              </a:pPr>
              <a:endParaRPr/>
            </a:p>
          </p:txBody>
        </p:sp>
      </p:grpSp>
      <p:sp>
        <p:nvSpPr>
          <p:cNvPr id="9" name="TextBox 9"/>
          <p:cNvSpPr txBox="1"/>
          <p:nvPr/>
        </p:nvSpPr>
        <p:spPr>
          <a:xfrm>
            <a:off x="4449341" y="1439574"/>
            <a:ext cx="9389317" cy="728726"/>
          </a:xfrm>
          <a:prstGeom prst="rect">
            <a:avLst/>
          </a:prstGeom>
        </p:spPr>
        <p:txBody>
          <a:bodyPr wrap="square" lIns="0" tIns="0" rIns="0" bIns="0" rtlCol="0" anchor="t">
            <a:spAutoFit/>
          </a:bodyPr>
          <a:lstStyle/>
          <a:p>
            <a:pPr marL="0" lvl="0" indent="0" algn="ctr">
              <a:lnSpc>
                <a:spcPts val="5599"/>
              </a:lnSpc>
              <a:spcBef>
                <a:spcPct val="0"/>
              </a:spcBef>
            </a:pPr>
            <a:r>
              <a:rPr lang="en-US" sz="6000" b="1" dirty="0">
                <a:solidFill>
                  <a:srgbClr val="FDFDFD"/>
                </a:solidFill>
                <a:latin typeface="Montserrat Bold"/>
                <a:ea typeface="Montserrat Bold"/>
                <a:cs typeface="Montserrat Bold"/>
                <a:sym typeface="Montserrat Bold"/>
              </a:rPr>
              <a:t>PROBLEM STATEMENT</a:t>
            </a:r>
          </a:p>
        </p:txBody>
      </p:sp>
      <p:sp>
        <p:nvSpPr>
          <p:cNvPr id="10" name="Freeform 10"/>
          <p:cNvSpPr/>
          <p:nvPr/>
        </p:nvSpPr>
        <p:spPr>
          <a:xfrm rot="5400000">
            <a:off x="546561" y="2345763"/>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183351" y="2309839"/>
            <a:ext cx="16449159" cy="543739"/>
          </a:xfrm>
          <a:prstGeom prst="rect">
            <a:avLst/>
          </a:prstGeom>
        </p:spPr>
        <p:txBody>
          <a:bodyPr wrap="square" lIns="0" tIns="0" rIns="0" bIns="0" rtlCol="0" anchor="t">
            <a:spAutoFit/>
          </a:bodyPr>
          <a:lstStyle/>
          <a:p>
            <a:pPr>
              <a:lnSpc>
                <a:spcPts val="4546"/>
              </a:lnSpc>
              <a:spcBef>
                <a:spcPct val="0"/>
              </a:spcBef>
            </a:pPr>
            <a:r>
              <a:rPr lang="en-US" sz="3500" dirty="0">
                <a:solidFill>
                  <a:srgbClr val="FDFDFD"/>
                </a:solidFill>
                <a:latin typeface="Montserrat"/>
                <a:ea typeface="Montserrat"/>
                <a:cs typeface="Montserrat"/>
                <a:sym typeface="Montserrat"/>
              </a:rPr>
              <a:t>First-time mothers face emotional, psychological, and practical challenge</a:t>
            </a:r>
            <a:r>
              <a:rPr lang="en-US" sz="3500" dirty="0">
                <a:solidFill>
                  <a:srgbClr val="FDFDFD"/>
                </a:solidFill>
                <a:latin typeface="Montserrat"/>
                <a:ea typeface="Montserrat"/>
                <a:cs typeface="Montserrat"/>
                <a:sym typeface="Montserrat"/>
                <a:rtl/>
              </a:rPr>
              <a:t>.</a:t>
            </a:r>
            <a:endParaRPr lang="ar-EG" sz="3500" dirty="0">
              <a:solidFill>
                <a:srgbClr val="FDFDFD"/>
              </a:solidFill>
              <a:latin typeface="Montserrat"/>
              <a:ea typeface="Montserrat"/>
              <a:cs typeface="Montserrat"/>
              <a:sym typeface="Montserrat"/>
              <a:rtl/>
            </a:endParaRPr>
          </a:p>
        </p:txBody>
      </p:sp>
      <p:sp>
        <p:nvSpPr>
          <p:cNvPr id="12" name="Freeform 12"/>
          <p:cNvSpPr/>
          <p:nvPr/>
        </p:nvSpPr>
        <p:spPr>
          <a:xfrm rot="5400000">
            <a:off x="571728" y="3233271"/>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rot="5400000">
            <a:off x="531779" y="4125209"/>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rot="5400000">
            <a:off x="531779" y="4928818"/>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rot="5400000">
            <a:off x="531779" y="5860561"/>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rot="5400000">
            <a:off x="531779" y="6881561"/>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1208751" y="3186953"/>
            <a:ext cx="13012851" cy="582211"/>
          </a:xfrm>
          <a:prstGeom prst="rect">
            <a:avLst/>
          </a:prstGeom>
        </p:spPr>
        <p:txBody>
          <a:bodyPr lIns="0" tIns="0" rIns="0" bIns="0" rtlCol="0" anchor="t">
            <a:spAutoFit/>
          </a:bodyPr>
          <a:lstStyle/>
          <a:p>
            <a:pPr>
              <a:lnSpc>
                <a:spcPts val="4900"/>
              </a:lnSpc>
              <a:spcBef>
                <a:spcPct val="0"/>
              </a:spcBef>
            </a:pPr>
            <a:r>
              <a:rPr lang="en-US" sz="3500" dirty="0">
                <a:solidFill>
                  <a:srgbClr val="FDFDFD"/>
                </a:solidFill>
                <a:latin typeface="Montserrat"/>
                <a:ea typeface="Montserrat"/>
                <a:cs typeface="Montserrat"/>
                <a:sym typeface="Montserrat"/>
              </a:rPr>
              <a:t>Difficulty interpreting infant behavior — especially crying</a:t>
            </a:r>
            <a:r>
              <a:rPr lang="en-US" sz="3500" dirty="0">
                <a:solidFill>
                  <a:srgbClr val="FDFDFD"/>
                </a:solidFill>
                <a:latin typeface="Montserrat"/>
                <a:ea typeface="Montserrat"/>
                <a:cs typeface="Montserrat"/>
                <a:sym typeface="Montserrat"/>
                <a:rtl/>
              </a:rPr>
              <a:t>.</a:t>
            </a:r>
            <a:endParaRPr lang="ar-EG" sz="3500" dirty="0">
              <a:solidFill>
                <a:srgbClr val="FDFDFD"/>
              </a:solidFill>
              <a:latin typeface="Montserrat"/>
              <a:ea typeface="Montserrat"/>
              <a:cs typeface="Montserrat"/>
              <a:sym typeface="Montserrat"/>
              <a:rtl/>
            </a:endParaRPr>
          </a:p>
        </p:txBody>
      </p:sp>
      <p:sp>
        <p:nvSpPr>
          <p:cNvPr id="18" name="Freeform 18"/>
          <p:cNvSpPr/>
          <p:nvPr/>
        </p:nvSpPr>
        <p:spPr>
          <a:xfrm rot="5400000">
            <a:off x="531779" y="7811599"/>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TextBox 19"/>
          <p:cNvSpPr txBox="1"/>
          <p:nvPr/>
        </p:nvSpPr>
        <p:spPr>
          <a:xfrm>
            <a:off x="1208751" y="4852394"/>
            <a:ext cx="10479616" cy="582211"/>
          </a:xfrm>
          <a:prstGeom prst="rect">
            <a:avLst/>
          </a:prstGeom>
        </p:spPr>
        <p:txBody>
          <a:bodyPr lIns="0" tIns="0" rIns="0" bIns="0" rtlCol="0" anchor="t">
            <a:spAutoFit/>
          </a:bodyPr>
          <a:lstStyle/>
          <a:p>
            <a:pPr>
              <a:lnSpc>
                <a:spcPts val="4900"/>
              </a:lnSpc>
              <a:spcBef>
                <a:spcPct val="0"/>
              </a:spcBef>
            </a:pPr>
            <a:r>
              <a:rPr lang="en-US" sz="3500" dirty="0">
                <a:solidFill>
                  <a:srgbClr val="FDFDFD"/>
                </a:solidFill>
                <a:latin typeface="Montserrat"/>
                <a:ea typeface="Montserrat"/>
                <a:cs typeface="Montserrat"/>
                <a:sym typeface="Montserrat"/>
              </a:rPr>
              <a:t>Limited access to affordable baby products.</a:t>
            </a:r>
          </a:p>
        </p:txBody>
      </p:sp>
      <p:sp>
        <p:nvSpPr>
          <p:cNvPr id="20" name="TextBox 20"/>
          <p:cNvSpPr txBox="1"/>
          <p:nvPr/>
        </p:nvSpPr>
        <p:spPr>
          <a:xfrm>
            <a:off x="1013917" y="7716363"/>
            <a:ext cx="15704210" cy="1225550"/>
          </a:xfrm>
          <a:prstGeom prst="rect">
            <a:avLst/>
          </a:prstGeom>
        </p:spPr>
        <p:txBody>
          <a:bodyPr lIns="0" tIns="0" rIns="0" bIns="0" rtlCol="0" anchor="t">
            <a:spAutoFit/>
          </a:bodyPr>
          <a:lstStyle/>
          <a:p>
            <a:pPr algn="l">
              <a:lnSpc>
                <a:spcPts val="4900"/>
              </a:lnSpc>
              <a:spcBef>
                <a:spcPct val="0"/>
              </a:spcBef>
            </a:pPr>
            <a:r>
              <a:rPr lang="en-US" sz="3500" dirty="0">
                <a:solidFill>
                  <a:srgbClr val="FDFDFD"/>
                </a:solidFill>
                <a:latin typeface="Montserrat"/>
                <a:ea typeface="Montserrat"/>
                <a:cs typeface="Montserrat"/>
                <a:sym typeface="Montserrat"/>
              </a:rPr>
              <a:t> No single platform combines AI tools, community support and practical   resources for mothers.</a:t>
            </a:r>
          </a:p>
        </p:txBody>
      </p:sp>
      <p:sp>
        <p:nvSpPr>
          <p:cNvPr id="21" name="TextBox 21"/>
          <p:cNvSpPr txBox="1"/>
          <p:nvPr/>
        </p:nvSpPr>
        <p:spPr>
          <a:xfrm>
            <a:off x="1183351" y="5751722"/>
            <a:ext cx="11355111" cy="582211"/>
          </a:xfrm>
          <a:prstGeom prst="rect">
            <a:avLst/>
          </a:prstGeom>
        </p:spPr>
        <p:txBody>
          <a:bodyPr lIns="0" tIns="0" rIns="0" bIns="0" rtlCol="0" anchor="t">
            <a:spAutoFit/>
          </a:bodyPr>
          <a:lstStyle/>
          <a:p>
            <a:pPr>
              <a:lnSpc>
                <a:spcPts val="4900"/>
              </a:lnSpc>
              <a:spcBef>
                <a:spcPct val="0"/>
              </a:spcBef>
            </a:pPr>
            <a:r>
              <a:rPr lang="en-US" sz="3500" dirty="0">
                <a:solidFill>
                  <a:srgbClr val="FDFDFD"/>
                </a:solidFill>
                <a:latin typeface="Montserrat"/>
                <a:ea typeface="Montserrat"/>
                <a:cs typeface="Montserrat"/>
                <a:sym typeface="Montserrat"/>
              </a:rPr>
              <a:t>Inadequate social and emotional support systems.</a:t>
            </a:r>
          </a:p>
        </p:txBody>
      </p:sp>
      <p:sp>
        <p:nvSpPr>
          <p:cNvPr id="22" name="TextBox 22"/>
          <p:cNvSpPr txBox="1"/>
          <p:nvPr/>
        </p:nvSpPr>
        <p:spPr>
          <a:xfrm>
            <a:off x="1133973" y="6798197"/>
            <a:ext cx="12418211" cy="582211"/>
          </a:xfrm>
          <a:prstGeom prst="rect">
            <a:avLst/>
          </a:prstGeom>
        </p:spPr>
        <p:txBody>
          <a:bodyPr lIns="0" tIns="0" rIns="0" bIns="0" rtlCol="0" anchor="t">
            <a:spAutoFit/>
          </a:bodyPr>
          <a:lstStyle/>
          <a:p>
            <a:pPr>
              <a:lnSpc>
                <a:spcPts val="4900"/>
              </a:lnSpc>
              <a:spcBef>
                <a:spcPct val="0"/>
              </a:spcBef>
            </a:pPr>
            <a:r>
              <a:rPr lang="en-US" sz="3500" dirty="0">
                <a:solidFill>
                  <a:srgbClr val="FDFDFD"/>
                </a:solidFill>
                <a:latin typeface="Montserrat"/>
                <a:ea typeface="Montserrat"/>
                <a:cs typeface="Montserrat"/>
                <a:sym typeface="Montserrat"/>
              </a:rPr>
              <a:t>Existing solutions are fragmented and lack integration.</a:t>
            </a:r>
          </a:p>
        </p:txBody>
      </p:sp>
      <p:sp>
        <p:nvSpPr>
          <p:cNvPr id="23" name="TextBox 23"/>
          <p:cNvSpPr txBox="1"/>
          <p:nvPr/>
        </p:nvSpPr>
        <p:spPr>
          <a:xfrm>
            <a:off x="1208751" y="4025137"/>
            <a:ext cx="11629807" cy="582211"/>
          </a:xfrm>
          <a:prstGeom prst="rect">
            <a:avLst/>
          </a:prstGeom>
        </p:spPr>
        <p:txBody>
          <a:bodyPr lIns="0" tIns="0" rIns="0" bIns="0" rtlCol="0" anchor="t">
            <a:spAutoFit/>
          </a:bodyPr>
          <a:lstStyle/>
          <a:p>
            <a:pPr>
              <a:lnSpc>
                <a:spcPts val="4900"/>
              </a:lnSpc>
              <a:spcBef>
                <a:spcPct val="0"/>
              </a:spcBef>
            </a:pPr>
            <a:r>
              <a:rPr lang="en-US" sz="3500" dirty="0">
                <a:solidFill>
                  <a:srgbClr val="FDFDFD"/>
                </a:solidFill>
                <a:latin typeface="Montserrat"/>
                <a:ea typeface="Montserrat"/>
                <a:cs typeface="Montserrat"/>
                <a:sym typeface="Montserrat"/>
              </a:rPr>
              <a:t>Lack of immediate, reliable parenting guidance.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67"/>
            <a:ext cx="18288000" cy="51435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a:blip r:embed="rId2"/>
            <a:stretch>
              <a:fillRect t="-72406" b="-64482"/>
            </a:stretch>
          </a:blipFill>
        </p:spPr>
      </p:sp>
      <p:grpSp>
        <p:nvGrpSpPr>
          <p:cNvPr id="3" name="Group 3"/>
          <p:cNvGrpSpPr/>
          <p:nvPr/>
        </p:nvGrpSpPr>
        <p:grpSpPr>
          <a:xfrm>
            <a:off x="222029" y="2165557"/>
            <a:ext cx="6524517" cy="5955752"/>
            <a:chOff x="0" y="0"/>
            <a:chExt cx="1718391" cy="1568593"/>
          </a:xfrm>
        </p:grpSpPr>
        <p:sp>
          <p:nvSpPr>
            <p:cNvPr id="4" name="Freeform 4"/>
            <p:cNvSpPr/>
            <p:nvPr/>
          </p:nvSpPr>
          <p:spPr>
            <a:xfrm>
              <a:off x="0" y="0"/>
              <a:ext cx="1718391" cy="1568593"/>
            </a:xfrm>
            <a:custGeom>
              <a:avLst/>
              <a:gdLst/>
              <a:ahLst/>
              <a:cxnLst/>
              <a:rect l="l" t="t" r="r" b="b"/>
              <a:pathLst>
                <a:path w="1718391" h="1568593">
                  <a:moveTo>
                    <a:pt x="45090" y="0"/>
                  </a:moveTo>
                  <a:lnTo>
                    <a:pt x="1673301" y="0"/>
                  </a:lnTo>
                  <a:cubicBezTo>
                    <a:pt x="1698204" y="0"/>
                    <a:pt x="1718391" y="20188"/>
                    <a:pt x="1718391" y="45090"/>
                  </a:cubicBezTo>
                  <a:lnTo>
                    <a:pt x="1718391" y="1523503"/>
                  </a:lnTo>
                  <a:cubicBezTo>
                    <a:pt x="1718391" y="1548405"/>
                    <a:pt x="1698204" y="1568593"/>
                    <a:pt x="1673301" y="1568593"/>
                  </a:cubicBezTo>
                  <a:lnTo>
                    <a:pt x="45090" y="1568593"/>
                  </a:lnTo>
                  <a:cubicBezTo>
                    <a:pt x="20188" y="1568593"/>
                    <a:pt x="0" y="1548405"/>
                    <a:pt x="0" y="1523503"/>
                  </a:cubicBezTo>
                  <a:lnTo>
                    <a:pt x="0" y="45090"/>
                  </a:lnTo>
                  <a:cubicBezTo>
                    <a:pt x="0" y="20188"/>
                    <a:pt x="20188" y="0"/>
                    <a:pt x="45090" y="0"/>
                  </a:cubicBezTo>
                  <a:close/>
                </a:path>
              </a:pathLst>
            </a:custGeom>
            <a:solidFill>
              <a:srgbClr val="145DA0"/>
            </a:solidFill>
            <a:ln cap="rnd">
              <a:noFill/>
              <a:prstDash val="solid"/>
              <a:round/>
            </a:ln>
          </p:spPr>
        </p:sp>
        <p:sp>
          <p:nvSpPr>
            <p:cNvPr id="5" name="TextBox 5"/>
            <p:cNvSpPr txBox="1"/>
            <p:nvPr/>
          </p:nvSpPr>
          <p:spPr>
            <a:xfrm>
              <a:off x="0" y="-66675"/>
              <a:ext cx="1718391" cy="1635268"/>
            </a:xfrm>
            <a:prstGeom prst="rect">
              <a:avLst/>
            </a:prstGeom>
          </p:spPr>
          <p:txBody>
            <a:bodyPr lIns="50800" tIns="50800" rIns="50800" bIns="50800" rtlCol="0" anchor="ctr"/>
            <a:lstStyle/>
            <a:p>
              <a:pPr algn="ctr">
                <a:lnSpc>
                  <a:spcPts val="5599"/>
                </a:lnSpc>
              </a:pPr>
              <a:r>
                <a:rPr lang="en-US" sz="6000" b="1" dirty="0">
                  <a:solidFill>
                    <a:srgbClr val="FDFDFD"/>
                  </a:solidFill>
                  <a:latin typeface="Montserrat Bold"/>
                  <a:ea typeface="Montserrat Bold"/>
                  <a:cs typeface="Montserrat Bold"/>
                  <a:sym typeface="Montserrat Bold"/>
                </a:rPr>
                <a:t>OUR AIM</a:t>
              </a:r>
              <a:endParaRPr sz="6000" dirty="0"/>
            </a:p>
            <a:p>
              <a:pPr marL="0" lvl="0" indent="0" algn="ctr">
                <a:lnSpc>
                  <a:spcPts val="6299"/>
                </a:lnSpc>
                <a:spcBef>
                  <a:spcPct val="0"/>
                </a:spcBef>
              </a:pPr>
              <a:r>
                <a:rPr lang="en-US" sz="3600" dirty="0">
                  <a:solidFill>
                    <a:srgbClr val="FFFFFF"/>
                  </a:solidFill>
                  <a:latin typeface="Montserrat"/>
                  <a:ea typeface="Montserrat"/>
                  <a:cs typeface="Montserrat"/>
                  <a:sym typeface="Montserrat"/>
                </a:rPr>
                <a:t>To support new mothers through an intelligent, secure, and integrated mobile and web application.</a:t>
              </a:r>
            </a:p>
          </p:txBody>
        </p:sp>
      </p:grpSp>
      <p:grpSp>
        <p:nvGrpSpPr>
          <p:cNvPr id="6" name="Group 6"/>
          <p:cNvGrpSpPr/>
          <p:nvPr/>
        </p:nvGrpSpPr>
        <p:grpSpPr>
          <a:xfrm>
            <a:off x="6968575" y="772158"/>
            <a:ext cx="11058563" cy="8742550"/>
            <a:chOff x="0" y="-28899"/>
            <a:chExt cx="2912543" cy="2602006"/>
          </a:xfrm>
        </p:grpSpPr>
        <p:sp>
          <p:nvSpPr>
            <p:cNvPr id="7" name="Freeform 7"/>
            <p:cNvSpPr/>
            <p:nvPr/>
          </p:nvSpPr>
          <p:spPr>
            <a:xfrm>
              <a:off x="0" y="-28899"/>
              <a:ext cx="2912543" cy="2598495"/>
            </a:xfrm>
            <a:custGeom>
              <a:avLst/>
              <a:gdLst/>
              <a:ahLst/>
              <a:cxnLst/>
              <a:rect l="l" t="t" r="r" b="b"/>
              <a:pathLst>
                <a:path w="2912543" h="2598495">
                  <a:moveTo>
                    <a:pt x="32204" y="0"/>
                  </a:moveTo>
                  <a:lnTo>
                    <a:pt x="2880339" y="0"/>
                  </a:lnTo>
                  <a:cubicBezTo>
                    <a:pt x="2898125" y="0"/>
                    <a:pt x="2912543" y="14418"/>
                    <a:pt x="2912543" y="32204"/>
                  </a:cubicBezTo>
                  <a:lnTo>
                    <a:pt x="2912543" y="2566291"/>
                  </a:lnTo>
                  <a:cubicBezTo>
                    <a:pt x="2912543" y="2584077"/>
                    <a:pt x="2898125" y="2598495"/>
                    <a:pt x="2880339" y="2598495"/>
                  </a:cubicBezTo>
                  <a:lnTo>
                    <a:pt x="32204" y="2598495"/>
                  </a:lnTo>
                  <a:cubicBezTo>
                    <a:pt x="14418" y="2598495"/>
                    <a:pt x="0" y="2584077"/>
                    <a:pt x="0" y="2566291"/>
                  </a:cubicBezTo>
                  <a:lnTo>
                    <a:pt x="0" y="32204"/>
                  </a:lnTo>
                  <a:cubicBezTo>
                    <a:pt x="0" y="14418"/>
                    <a:pt x="14418" y="0"/>
                    <a:pt x="32204" y="0"/>
                  </a:cubicBezTo>
                  <a:close/>
                </a:path>
              </a:pathLst>
            </a:custGeom>
            <a:solidFill>
              <a:srgbClr val="145DA0"/>
            </a:solidFill>
            <a:ln cap="rnd">
              <a:noFill/>
              <a:prstDash val="solid"/>
              <a:round/>
            </a:ln>
          </p:spPr>
        </p:sp>
        <p:sp>
          <p:nvSpPr>
            <p:cNvPr id="8" name="TextBox 8"/>
            <p:cNvSpPr txBox="1"/>
            <p:nvPr/>
          </p:nvSpPr>
          <p:spPr>
            <a:xfrm>
              <a:off x="0" y="-25388"/>
              <a:ext cx="2912543" cy="2598495"/>
            </a:xfrm>
            <a:prstGeom prst="rect">
              <a:avLst/>
            </a:prstGeom>
          </p:spPr>
          <p:txBody>
            <a:bodyPr lIns="50800" tIns="50800" rIns="50800" bIns="50800" rtlCol="0" anchor="ctr"/>
            <a:lstStyle/>
            <a:p>
              <a:pPr algn="ctr">
                <a:lnSpc>
                  <a:spcPts val="4900"/>
                </a:lnSpc>
              </a:pPr>
              <a:r>
                <a:rPr lang="en-US" sz="6000" b="1" dirty="0">
                  <a:solidFill>
                    <a:srgbClr val="FDFDFD"/>
                  </a:solidFill>
                  <a:latin typeface="Montserrat Bold"/>
                  <a:ea typeface="Montserrat Bold"/>
                  <a:cs typeface="Montserrat Bold"/>
                  <a:sym typeface="Montserrat Bold"/>
                </a:rPr>
                <a:t>OBJECTIVES</a:t>
              </a:r>
              <a:endParaRPr lang="en-US" sz="4500" dirty="0"/>
            </a:p>
            <a:p>
              <a:pPr algn="ctr">
                <a:lnSpc>
                  <a:spcPts val="5599"/>
                </a:lnSpc>
              </a:pPr>
              <a:r>
                <a:rPr lang="en-US" sz="3600" dirty="0">
                  <a:solidFill>
                    <a:srgbClr val="FFFFFF"/>
                  </a:solidFill>
                  <a:latin typeface="Montserrat"/>
                  <a:ea typeface="Montserrat"/>
                  <a:cs typeface="Montserrat"/>
                  <a:sym typeface="Montserrat"/>
                </a:rPr>
                <a:t>AI-based baby cry analyzer.</a:t>
              </a:r>
            </a:p>
            <a:p>
              <a:pPr algn="ctr">
                <a:lnSpc>
                  <a:spcPts val="5599"/>
                </a:lnSpc>
              </a:pPr>
              <a:r>
                <a:rPr lang="en-US" sz="3600" dirty="0">
                  <a:solidFill>
                    <a:srgbClr val="FFFFFF"/>
                  </a:solidFill>
                  <a:latin typeface="Montserrat"/>
                  <a:ea typeface="Montserrat"/>
                  <a:cs typeface="Montserrat"/>
                  <a:sym typeface="Montserrat"/>
                </a:rPr>
                <a:t>Marketplace for second-hand baby items.</a:t>
              </a:r>
            </a:p>
            <a:p>
              <a:pPr algn="ctr">
                <a:lnSpc>
                  <a:spcPts val="5599"/>
                </a:lnSpc>
              </a:pPr>
              <a:r>
                <a:rPr lang="en-US" sz="3600" dirty="0">
                  <a:solidFill>
                    <a:srgbClr val="FFFFFF"/>
                  </a:solidFill>
                  <a:latin typeface="Montserrat"/>
                  <a:ea typeface="Montserrat"/>
                  <a:cs typeface="Montserrat"/>
                  <a:sym typeface="Montserrat"/>
                </a:rPr>
                <a:t>Real-time community chat.</a:t>
              </a:r>
            </a:p>
            <a:p>
              <a:pPr algn="ctr">
                <a:lnSpc>
                  <a:spcPts val="5599"/>
                </a:lnSpc>
              </a:pPr>
              <a:r>
                <a:rPr lang="en-US" sz="3600" dirty="0">
                  <a:solidFill>
                    <a:srgbClr val="FFFFFF"/>
                  </a:solidFill>
                  <a:latin typeface="Montserrat"/>
                  <a:ea typeface="Montserrat"/>
                  <a:cs typeface="Montserrat"/>
                  <a:sym typeface="Montserrat"/>
                </a:rPr>
                <a:t>Daily tips and structured parenting articles.</a:t>
              </a:r>
            </a:p>
            <a:p>
              <a:pPr algn="ctr">
                <a:lnSpc>
                  <a:spcPts val="5599"/>
                </a:lnSpc>
              </a:pPr>
              <a:r>
                <a:rPr lang="en-US" sz="3600" dirty="0">
                  <a:solidFill>
                    <a:srgbClr val="FFFFFF"/>
                  </a:solidFill>
                  <a:latin typeface="Montserrat"/>
                  <a:ea typeface="Montserrat"/>
                  <a:cs typeface="Montserrat"/>
                  <a:sym typeface="Montserrat"/>
                </a:rPr>
                <a:t>Secure login with token-based authentication and email verification for password recovery.</a:t>
              </a:r>
            </a:p>
            <a:p>
              <a:pPr algn="ctr">
                <a:lnSpc>
                  <a:spcPts val="5599"/>
                </a:lnSpc>
              </a:pPr>
              <a:r>
                <a:rPr lang="en-US" sz="3600" dirty="0">
                  <a:solidFill>
                    <a:srgbClr val="FFFFFF"/>
                  </a:solidFill>
                  <a:latin typeface="Montserrat"/>
                  <a:ea typeface="Montserrat"/>
                  <a:cs typeface="Montserrat"/>
                  <a:sym typeface="Montserrat"/>
                </a:rPr>
                <a:t>Web/mobile deployment using React and Flutter.</a:t>
              </a:r>
            </a:p>
            <a:p>
              <a:pPr marL="0" lvl="0" indent="0" algn="ctr">
                <a:lnSpc>
                  <a:spcPts val="5599"/>
                </a:lnSpc>
                <a:spcBef>
                  <a:spcPct val="0"/>
                </a:spcBef>
              </a:pPr>
              <a:r>
                <a:rPr lang="en-US" sz="3600" dirty="0">
                  <a:solidFill>
                    <a:srgbClr val="FFFFFF"/>
                  </a:solidFill>
                  <a:latin typeface="Montserrat"/>
                  <a:ea typeface="Montserrat"/>
                  <a:cs typeface="Montserrat"/>
                  <a:sym typeface="Montserrat"/>
                </a:rPr>
                <a:t>Backend with ASP.NET Core, SQL Server, Monster API.</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862634" y="-1627729"/>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321630" y="1306611"/>
            <a:ext cx="6855643" cy="6855643"/>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11692" r="-11692"/>
              </a:stretch>
            </a:blipFill>
          </p:spPr>
        </p:sp>
      </p:grpSp>
      <p:sp>
        <p:nvSpPr>
          <p:cNvPr id="11" name="Freeform 11"/>
          <p:cNvSpPr/>
          <p:nvPr/>
        </p:nvSpPr>
        <p:spPr>
          <a:xfrm rot="5400000">
            <a:off x="1718714" y="5663327"/>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666176" y="3398707"/>
            <a:ext cx="9408153" cy="1193800"/>
          </a:xfrm>
          <a:prstGeom prst="rect">
            <a:avLst/>
          </a:prstGeom>
        </p:spPr>
        <p:txBody>
          <a:bodyPr lIns="0" tIns="0" rIns="0" bIns="0" rtlCol="0" anchor="t">
            <a:spAutoFit/>
          </a:bodyPr>
          <a:lstStyle/>
          <a:p>
            <a:pPr algn="ctr">
              <a:lnSpc>
                <a:spcPts val="9799"/>
              </a:lnSpc>
              <a:spcBef>
                <a:spcPct val="0"/>
              </a:spcBef>
            </a:pPr>
            <a:r>
              <a:rPr lang="en-US" sz="6999" b="1">
                <a:solidFill>
                  <a:srgbClr val="00569E"/>
                </a:solidFill>
                <a:latin typeface="Montserrat Bold"/>
                <a:ea typeface="Montserrat Bold"/>
                <a:cs typeface="Montserrat Bold"/>
                <a:sym typeface="Montserrat Bold"/>
              </a:rPr>
              <a:t>SYSTEM ANALYSIS</a:t>
            </a:r>
          </a:p>
        </p:txBody>
      </p:sp>
      <p:sp>
        <p:nvSpPr>
          <p:cNvPr id="13" name="TextBox 13"/>
          <p:cNvSpPr txBox="1"/>
          <p:nvPr/>
        </p:nvSpPr>
        <p:spPr>
          <a:xfrm>
            <a:off x="2385013" y="5503253"/>
            <a:ext cx="5663385" cy="897682"/>
          </a:xfrm>
          <a:prstGeom prst="rect">
            <a:avLst/>
          </a:prstGeom>
        </p:spPr>
        <p:txBody>
          <a:bodyPr wrap="square" lIns="0" tIns="0" rIns="0" bIns="0" rtlCol="0" anchor="t">
            <a:spAutoFit/>
          </a:bodyPr>
          <a:lstStyle/>
          <a:p>
            <a:pPr>
              <a:lnSpc>
                <a:spcPts val="7000"/>
              </a:lnSpc>
            </a:pPr>
            <a:r>
              <a:rPr lang="en-US" sz="5000" dirty="0">
                <a:solidFill>
                  <a:srgbClr val="00569E"/>
                </a:solidFill>
                <a:latin typeface="XM Vahid"/>
                <a:ea typeface="XM Vahid"/>
                <a:cs typeface="XM Vahid"/>
                <a:sym typeface="XM Vahid"/>
              </a:rPr>
              <a:t>Main Use Cases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3585379" y="-47625"/>
            <a:ext cx="11117241" cy="10220325"/>
          </a:xfrm>
          <a:custGeom>
            <a:avLst/>
            <a:gdLst/>
            <a:ahLst/>
            <a:cxnLst/>
            <a:rect l="l" t="t" r="r" b="b"/>
            <a:pathLst>
              <a:path w="8061281" h="10220325">
                <a:moveTo>
                  <a:pt x="0" y="0"/>
                </a:moveTo>
                <a:lnTo>
                  <a:pt x="8061282" y="0"/>
                </a:lnTo>
                <a:lnTo>
                  <a:pt x="8061282" y="10220325"/>
                </a:lnTo>
                <a:lnTo>
                  <a:pt x="0" y="10220325"/>
                </a:lnTo>
                <a:lnTo>
                  <a:pt x="0" y="0"/>
                </a:lnTo>
                <a:close/>
              </a:path>
            </a:pathLst>
          </a:custGeom>
          <a:blipFill>
            <a:blip r:embed="rId2"/>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044313" y="-2804665"/>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1363957" y="4858701"/>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5400000">
            <a:off x="1363957" y="5912563"/>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5400000">
            <a:off x="1363957" y="6965194"/>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5400000">
            <a:off x="1363957" y="7942857"/>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0239603" y="1215286"/>
            <a:ext cx="7019697" cy="10556306"/>
            <a:chOff x="0" y="0"/>
            <a:chExt cx="660400" cy="993118"/>
          </a:xfrm>
        </p:grpSpPr>
        <p:sp>
          <p:nvSpPr>
            <p:cNvPr id="10" name="Freeform 10"/>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id="11" name="TextBox 11"/>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a:grpSpLocks noChangeAspect="1"/>
          </p:cNvGrpSpPr>
          <p:nvPr/>
        </p:nvGrpSpPr>
        <p:grpSpPr>
          <a:xfrm>
            <a:off x="10321630" y="1399114"/>
            <a:ext cx="6855643" cy="6855643"/>
            <a:chOff x="0" y="0"/>
            <a:chExt cx="8916670" cy="8916670"/>
          </a:xfrm>
        </p:grpSpPr>
        <p:sp>
          <p:nvSpPr>
            <p:cNvPr id="13" name="Freeform 13"/>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id="14" name="Freeform 14"/>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4"/>
              <a:stretch>
                <a:fillRect l="-28770" r="-28770"/>
              </a:stretch>
            </a:blipFill>
          </p:spPr>
        </p:sp>
      </p:grpSp>
      <p:sp>
        <p:nvSpPr>
          <p:cNvPr id="15" name="TextBox 15"/>
          <p:cNvSpPr txBox="1"/>
          <p:nvPr/>
        </p:nvSpPr>
        <p:spPr>
          <a:xfrm>
            <a:off x="1230830" y="1858691"/>
            <a:ext cx="8334077" cy="2637314"/>
          </a:xfrm>
          <a:prstGeom prst="rect">
            <a:avLst/>
          </a:prstGeom>
        </p:spPr>
        <p:txBody>
          <a:bodyPr lIns="0" tIns="0" rIns="0" bIns="0" rtlCol="0" anchor="t">
            <a:spAutoFit/>
          </a:bodyPr>
          <a:lstStyle/>
          <a:p>
            <a:pPr algn="l">
              <a:lnSpc>
                <a:spcPts val="10634"/>
              </a:lnSpc>
              <a:spcBef>
                <a:spcPct val="0"/>
              </a:spcBef>
            </a:pPr>
            <a:r>
              <a:rPr lang="en-US" sz="7596" b="1" dirty="0">
                <a:solidFill>
                  <a:srgbClr val="00569E"/>
                </a:solidFill>
                <a:latin typeface="Montserrat Bold"/>
                <a:ea typeface="Montserrat Bold"/>
                <a:cs typeface="Montserrat Bold"/>
                <a:sym typeface="Montserrat Bold"/>
              </a:rPr>
              <a:t>TOOLS &amp; TECHNOLOGIS</a:t>
            </a:r>
          </a:p>
        </p:txBody>
      </p:sp>
      <p:sp>
        <p:nvSpPr>
          <p:cNvPr id="16" name="Freeform 16"/>
          <p:cNvSpPr/>
          <p:nvPr/>
        </p:nvSpPr>
        <p:spPr>
          <a:xfrm rot="5400000">
            <a:off x="1363957" y="8908692"/>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2116720" y="4699290"/>
            <a:ext cx="5272472" cy="678134"/>
          </a:xfrm>
          <a:prstGeom prst="rect">
            <a:avLst/>
          </a:prstGeom>
        </p:spPr>
        <p:txBody>
          <a:bodyPr wrap="square" lIns="0" tIns="0" rIns="0" bIns="0" rtlCol="0" anchor="t">
            <a:spAutoFit/>
          </a:bodyPr>
          <a:lstStyle/>
          <a:p>
            <a:pPr algn="l">
              <a:lnSpc>
                <a:spcPts val="5739"/>
              </a:lnSpc>
              <a:spcBef>
                <a:spcPct val="0"/>
              </a:spcBef>
            </a:pPr>
            <a:r>
              <a:rPr lang="en-US" sz="4099" b="1" dirty="0">
                <a:solidFill>
                  <a:srgbClr val="00569E"/>
                </a:solidFill>
                <a:latin typeface="Montserrat Bold"/>
                <a:ea typeface="Montserrat Bold"/>
                <a:cs typeface="Montserrat Bold"/>
                <a:sym typeface="Montserrat Bold"/>
              </a:rPr>
              <a:t>Web Application</a:t>
            </a:r>
          </a:p>
        </p:txBody>
      </p:sp>
      <p:sp>
        <p:nvSpPr>
          <p:cNvPr id="18" name="TextBox 18"/>
          <p:cNvSpPr txBox="1"/>
          <p:nvPr/>
        </p:nvSpPr>
        <p:spPr>
          <a:xfrm>
            <a:off x="2116720" y="5719102"/>
            <a:ext cx="5931678" cy="695961"/>
          </a:xfrm>
          <a:prstGeom prst="rect">
            <a:avLst/>
          </a:prstGeom>
        </p:spPr>
        <p:txBody>
          <a:bodyPr wrap="square" lIns="0" tIns="0" rIns="0" bIns="0" rtlCol="0" anchor="t">
            <a:spAutoFit/>
          </a:bodyPr>
          <a:lstStyle/>
          <a:p>
            <a:pPr algn="l">
              <a:lnSpc>
                <a:spcPts val="5739"/>
              </a:lnSpc>
              <a:spcBef>
                <a:spcPct val="0"/>
              </a:spcBef>
            </a:pPr>
            <a:r>
              <a:rPr lang="en-US" sz="4099" b="1" dirty="0">
                <a:solidFill>
                  <a:srgbClr val="00569E"/>
                </a:solidFill>
                <a:latin typeface="Montserrat Bold"/>
                <a:ea typeface="Montserrat Bold"/>
                <a:cs typeface="Montserrat Bold"/>
                <a:sym typeface="Montserrat Bold"/>
              </a:rPr>
              <a:t>Mobile Application</a:t>
            </a:r>
          </a:p>
        </p:txBody>
      </p:sp>
      <p:sp>
        <p:nvSpPr>
          <p:cNvPr id="19" name="TextBox 19"/>
          <p:cNvSpPr txBox="1"/>
          <p:nvPr/>
        </p:nvSpPr>
        <p:spPr>
          <a:xfrm>
            <a:off x="2116720" y="6738913"/>
            <a:ext cx="5739110" cy="695961"/>
          </a:xfrm>
          <a:prstGeom prst="rect">
            <a:avLst/>
          </a:prstGeom>
        </p:spPr>
        <p:txBody>
          <a:bodyPr lIns="0" tIns="0" rIns="0" bIns="0" rtlCol="0" anchor="t">
            <a:spAutoFit/>
          </a:bodyPr>
          <a:lstStyle/>
          <a:p>
            <a:pPr algn="l">
              <a:lnSpc>
                <a:spcPts val="5739"/>
              </a:lnSpc>
              <a:spcBef>
                <a:spcPct val="0"/>
              </a:spcBef>
            </a:pPr>
            <a:r>
              <a:rPr lang="en-US" sz="4099" b="1" dirty="0">
                <a:solidFill>
                  <a:srgbClr val="00569E"/>
                </a:solidFill>
                <a:latin typeface="Montserrat Bold"/>
                <a:ea typeface="Montserrat Bold"/>
                <a:cs typeface="Montserrat Bold"/>
                <a:sym typeface="Montserrat Bold"/>
              </a:rPr>
              <a:t>Artificial Intelligence</a:t>
            </a:r>
          </a:p>
        </p:txBody>
      </p:sp>
      <p:sp>
        <p:nvSpPr>
          <p:cNvPr id="20" name="TextBox 20"/>
          <p:cNvSpPr txBox="1"/>
          <p:nvPr/>
        </p:nvSpPr>
        <p:spPr>
          <a:xfrm>
            <a:off x="2116720" y="7758725"/>
            <a:ext cx="3522080" cy="695961"/>
          </a:xfrm>
          <a:prstGeom prst="rect">
            <a:avLst/>
          </a:prstGeom>
        </p:spPr>
        <p:txBody>
          <a:bodyPr wrap="square" lIns="0" tIns="0" rIns="0" bIns="0" rtlCol="0" anchor="t">
            <a:spAutoFit/>
          </a:bodyPr>
          <a:lstStyle/>
          <a:p>
            <a:pPr algn="l">
              <a:lnSpc>
                <a:spcPts val="5739"/>
              </a:lnSpc>
              <a:spcBef>
                <a:spcPct val="0"/>
              </a:spcBef>
            </a:pPr>
            <a:r>
              <a:rPr lang="en-US" sz="4099" b="1" dirty="0">
                <a:solidFill>
                  <a:srgbClr val="00569E"/>
                </a:solidFill>
                <a:latin typeface="Montserrat Bold"/>
                <a:ea typeface="Montserrat Bold"/>
                <a:cs typeface="Montserrat Bold"/>
                <a:sym typeface="Montserrat Bold"/>
              </a:rPr>
              <a:t>Database</a:t>
            </a:r>
          </a:p>
        </p:txBody>
      </p:sp>
      <p:sp>
        <p:nvSpPr>
          <p:cNvPr id="21" name="TextBox 21"/>
          <p:cNvSpPr txBox="1"/>
          <p:nvPr/>
        </p:nvSpPr>
        <p:spPr>
          <a:xfrm>
            <a:off x="2116720" y="8749281"/>
            <a:ext cx="3064880" cy="695961"/>
          </a:xfrm>
          <a:prstGeom prst="rect">
            <a:avLst/>
          </a:prstGeom>
        </p:spPr>
        <p:txBody>
          <a:bodyPr wrap="square" lIns="0" tIns="0" rIns="0" bIns="0" rtlCol="0" anchor="t">
            <a:spAutoFit/>
          </a:bodyPr>
          <a:lstStyle/>
          <a:p>
            <a:pPr algn="l">
              <a:lnSpc>
                <a:spcPts val="5739"/>
              </a:lnSpc>
              <a:spcBef>
                <a:spcPct val="0"/>
              </a:spcBef>
            </a:pPr>
            <a:r>
              <a:rPr lang="en-US" sz="4099" b="1" dirty="0">
                <a:solidFill>
                  <a:srgbClr val="00569E"/>
                </a:solidFill>
                <a:latin typeface="Montserrat Bold"/>
                <a:ea typeface="Montserrat Bold"/>
                <a:cs typeface="Montserrat Bold"/>
                <a:sym typeface="Montserrat Bold"/>
              </a:rPr>
              <a:t>Backend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346523"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0569E"/>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a:grpSpLocks noChangeAspect="1"/>
          </p:cNvGrpSpPr>
          <p:nvPr/>
        </p:nvGrpSpPr>
        <p:grpSpPr>
          <a:xfrm>
            <a:off x="8229600" y="2405740"/>
            <a:ext cx="9546088" cy="5475520"/>
            <a:chOff x="0" y="0"/>
            <a:chExt cx="7981950" cy="4578350"/>
          </a:xfrm>
        </p:grpSpPr>
        <p:sp>
          <p:nvSpPr>
            <p:cNvPr id="6" name="Freeform 6"/>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7" name="Freeform 7"/>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txBody>
            <a:bodyPr/>
            <a:lstStyle/>
            <a:p>
              <a:endParaRPr lang="en-US" dirty="0"/>
            </a:p>
          </p:txBody>
        </p:sp>
        <p:sp>
          <p:nvSpPr>
            <p:cNvPr id="8" name="Freeform 8"/>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9" name="Freeform 9"/>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0" name="Freeform 10"/>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t="-3165" b="-3164"/>
              </a:stretch>
            </a:blipFill>
          </p:spPr>
          <p:txBody>
            <a:bodyPr/>
            <a:lstStyle/>
            <a:p>
              <a:endParaRPr lang="en-US" dirty="0"/>
            </a:p>
          </p:txBody>
        </p:sp>
      </p:grpSp>
      <p:sp>
        <p:nvSpPr>
          <p:cNvPr id="11" name="TextBox 11"/>
          <p:cNvSpPr txBox="1"/>
          <p:nvPr/>
        </p:nvSpPr>
        <p:spPr>
          <a:xfrm>
            <a:off x="220592" y="4172090"/>
            <a:ext cx="8680183" cy="2734664"/>
          </a:xfrm>
          <a:prstGeom prst="rect">
            <a:avLst/>
          </a:prstGeom>
        </p:spPr>
        <p:txBody>
          <a:bodyPr lIns="0" tIns="0" rIns="0" bIns="0" rtlCol="0" anchor="t">
            <a:spAutoFit/>
          </a:bodyPr>
          <a:lstStyle/>
          <a:p>
            <a:pPr algn="ctr">
              <a:lnSpc>
                <a:spcPts val="10970"/>
              </a:lnSpc>
              <a:spcBef>
                <a:spcPct val="0"/>
              </a:spcBef>
            </a:pPr>
            <a:r>
              <a:rPr lang="en-US" sz="7836" b="1" dirty="0">
                <a:solidFill>
                  <a:srgbClr val="00569E"/>
                </a:solidFill>
                <a:latin typeface="Montserrat Bold"/>
                <a:ea typeface="Montserrat Bold"/>
                <a:cs typeface="Montserrat Bold"/>
                <a:sym typeface="Montserrat Bold"/>
              </a:rPr>
              <a:t>WEB APPLICATION </a:t>
            </a:r>
          </a:p>
        </p:txBody>
      </p:sp>
      <p:sp>
        <p:nvSpPr>
          <p:cNvPr id="12" name="TextBox 12"/>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grpSp>
        <p:nvGrpSpPr>
          <p:cNvPr id="15" name="Group 2">
            <a:extLst>
              <a:ext uri="{FF2B5EF4-FFF2-40B4-BE49-F238E27FC236}">
                <a16:creationId xmlns:a16="http://schemas.microsoft.com/office/drawing/2014/main" id="{E8569A5A-DC54-D108-0167-5CE641AA1100}"/>
              </a:ext>
            </a:extLst>
          </p:cNvPr>
          <p:cNvGrpSpPr/>
          <p:nvPr/>
        </p:nvGrpSpPr>
        <p:grpSpPr>
          <a:xfrm>
            <a:off x="-3169046" y="9594454"/>
            <a:ext cx="4693046" cy="4693046"/>
            <a:chOff x="0" y="0"/>
            <a:chExt cx="812800" cy="812800"/>
          </a:xfrm>
        </p:grpSpPr>
        <p:sp>
          <p:nvSpPr>
            <p:cNvPr id="16" name="Freeform 3">
              <a:extLst>
                <a:ext uri="{FF2B5EF4-FFF2-40B4-BE49-F238E27FC236}">
                  <a16:creationId xmlns:a16="http://schemas.microsoft.com/office/drawing/2014/main" id="{48C14BAB-9236-8161-9655-C83F10742C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0569E"/>
              </a:solidFill>
              <a:prstDash val="solid"/>
              <a:miter/>
            </a:ln>
          </p:spPr>
        </p:sp>
        <p:sp>
          <p:nvSpPr>
            <p:cNvPr id="17" name="TextBox 4">
              <a:extLst>
                <a:ext uri="{FF2B5EF4-FFF2-40B4-BE49-F238E27FC236}">
                  <a16:creationId xmlns:a16="http://schemas.microsoft.com/office/drawing/2014/main" id="{03770C3F-E1BB-7341-4266-21435591CA3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346523"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0569E"/>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702592" y="449909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5400000">
            <a:off x="13797298" y="4460268"/>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520488" y="5074511"/>
            <a:ext cx="1678826" cy="498983"/>
          </a:xfrm>
          <a:prstGeom prst="rect">
            <a:avLst/>
          </a:prstGeom>
        </p:spPr>
        <p:txBody>
          <a:bodyPr wrap="square" lIns="0" tIns="0" rIns="0" bIns="0" rtlCol="0" anchor="t">
            <a:spAutoFit/>
          </a:bodyPr>
          <a:lstStyle/>
          <a:p>
            <a:pPr>
              <a:lnSpc>
                <a:spcPts val="4199"/>
              </a:lnSpc>
              <a:spcBef>
                <a:spcPct val="0"/>
              </a:spcBef>
            </a:pPr>
            <a:r>
              <a:rPr lang="en-US" sz="2999" dirty="0">
                <a:solidFill>
                  <a:srgbClr val="00569E"/>
                </a:solidFill>
                <a:latin typeface="Montserrat"/>
                <a:ea typeface="Montserrat"/>
                <a:cs typeface="Montserrat"/>
                <a:sym typeface="Montserrat"/>
              </a:rPr>
              <a:t>ReactJS</a:t>
            </a:r>
          </a:p>
        </p:txBody>
      </p:sp>
      <p:sp>
        <p:nvSpPr>
          <p:cNvPr id="9" name="TextBox 9"/>
          <p:cNvSpPr txBox="1"/>
          <p:nvPr/>
        </p:nvSpPr>
        <p:spPr>
          <a:xfrm>
            <a:off x="1342787" y="4365656"/>
            <a:ext cx="2924413" cy="622245"/>
          </a:xfrm>
          <a:prstGeom prst="rect">
            <a:avLst/>
          </a:prstGeom>
        </p:spPr>
        <p:txBody>
          <a:bodyPr wrap="square" lIns="0" tIns="0" rIns="0" bIns="0" rtlCol="0" anchor="t">
            <a:spAutoFit/>
          </a:bodyPr>
          <a:lstStyle/>
          <a:p>
            <a:pPr>
              <a:lnSpc>
                <a:spcPts val="5183"/>
              </a:lnSpc>
              <a:spcBef>
                <a:spcPct val="0"/>
              </a:spcBef>
            </a:pPr>
            <a:r>
              <a:rPr lang="en-US" sz="3702" dirty="0">
                <a:solidFill>
                  <a:srgbClr val="00569E"/>
                </a:solidFill>
                <a:latin typeface="Montserrat"/>
                <a:ea typeface="Montserrat"/>
                <a:cs typeface="Montserrat"/>
                <a:sym typeface="Montserrat"/>
              </a:rPr>
              <a:t>Framework</a:t>
            </a:r>
          </a:p>
        </p:txBody>
      </p:sp>
      <p:sp>
        <p:nvSpPr>
          <p:cNvPr id="10" name="TextBox 10"/>
          <p:cNvSpPr txBox="1"/>
          <p:nvPr/>
        </p:nvSpPr>
        <p:spPr>
          <a:xfrm>
            <a:off x="14713004" y="5035688"/>
            <a:ext cx="1521768" cy="495301"/>
          </a:xfrm>
          <a:prstGeom prst="rect">
            <a:avLst/>
          </a:prstGeom>
        </p:spPr>
        <p:txBody>
          <a:bodyPr wrap="square" lIns="0" tIns="0" rIns="0" bIns="0" rtlCol="0" anchor="t">
            <a:spAutoFit/>
          </a:bodyPr>
          <a:lstStyle/>
          <a:p>
            <a:pPr algn="l">
              <a:lnSpc>
                <a:spcPts val="4199"/>
              </a:lnSpc>
              <a:spcBef>
                <a:spcPct val="0"/>
              </a:spcBef>
            </a:pPr>
            <a:r>
              <a:rPr lang="en-US" sz="2999" dirty="0">
                <a:solidFill>
                  <a:srgbClr val="00569E"/>
                </a:solidFill>
                <a:latin typeface="Montserrat"/>
                <a:ea typeface="Montserrat"/>
                <a:cs typeface="Montserrat"/>
                <a:sym typeface="Montserrat"/>
              </a:rPr>
              <a:t>Vite</a:t>
            </a:r>
          </a:p>
        </p:txBody>
      </p:sp>
      <p:sp>
        <p:nvSpPr>
          <p:cNvPr id="11" name="TextBox 11"/>
          <p:cNvSpPr txBox="1"/>
          <p:nvPr/>
        </p:nvSpPr>
        <p:spPr>
          <a:xfrm>
            <a:off x="14450216" y="4364794"/>
            <a:ext cx="3609183" cy="629862"/>
          </a:xfrm>
          <a:prstGeom prst="rect">
            <a:avLst/>
          </a:prstGeom>
        </p:spPr>
        <p:txBody>
          <a:bodyPr wrap="square" lIns="0" tIns="0" rIns="0" bIns="0" rtlCol="0" anchor="t">
            <a:spAutoFit/>
          </a:bodyPr>
          <a:lstStyle/>
          <a:p>
            <a:pPr algn="l">
              <a:lnSpc>
                <a:spcPts val="5183"/>
              </a:lnSpc>
              <a:spcBef>
                <a:spcPct val="0"/>
              </a:spcBef>
            </a:pPr>
            <a:r>
              <a:rPr lang="en-US" sz="3702" dirty="0">
                <a:solidFill>
                  <a:srgbClr val="00569E"/>
                </a:solidFill>
                <a:latin typeface="Montserrat"/>
                <a:ea typeface="Montserrat"/>
                <a:cs typeface="Montserrat"/>
                <a:sym typeface="Montserrat"/>
              </a:rPr>
              <a:t>Project Setup</a:t>
            </a:r>
          </a:p>
        </p:txBody>
      </p:sp>
      <p:sp>
        <p:nvSpPr>
          <p:cNvPr id="12" name="Freeform 12"/>
          <p:cNvSpPr/>
          <p:nvPr/>
        </p:nvSpPr>
        <p:spPr>
          <a:xfrm rot="5400000">
            <a:off x="692040" y="7098398"/>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607746" y="7703478"/>
            <a:ext cx="1944436" cy="498983"/>
          </a:xfrm>
          <a:prstGeom prst="rect">
            <a:avLst/>
          </a:prstGeom>
        </p:spPr>
        <p:txBody>
          <a:bodyPr wrap="square" lIns="0" tIns="0" rIns="0" bIns="0" rtlCol="0" anchor="t">
            <a:spAutoFit/>
          </a:bodyPr>
          <a:lstStyle/>
          <a:p>
            <a:pPr algn="l">
              <a:lnSpc>
                <a:spcPts val="4199"/>
              </a:lnSpc>
              <a:spcBef>
                <a:spcPct val="0"/>
              </a:spcBef>
            </a:pPr>
            <a:r>
              <a:rPr lang="en-US" sz="2999" dirty="0">
                <a:solidFill>
                  <a:srgbClr val="00569E"/>
                </a:solidFill>
                <a:latin typeface="Montserrat"/>
                <a:ea typeface="Montserrat"/>
                <a:cs typeface="Montserrat"/>
                <a:sym typeface="Montserrat"/>
              </a:rPr>
              <a:t>Tailwind</a:t>
            </a:r>
          </a:p>
        </p:txBody>
      </p:sp>
      <p:sp>
        <p:nvSpPr>
          <p:cNvPr id="14" name="TextBox 14"/>
          <p:cNvSpPr txBox="1"/>
          <p:nvPr/>
        </p:nvSpPr>
        <p:spPr>
          <a:xfrm>
            <a:off x="1344959" y="7002924"/>
            <a:ext cx="2314904" cy="629862"/>
          </a:xfrm>
          <a:prstGeom prst="rect">
            <a:avLst/>
          </a:prstGeom>
        </p:spPr>
        <p:txBody>
          <a:bodyPr wrap="square" lIns="0" tIns="0" rIns="0" bIns="0" rtlCol="0" anchor="t">
            <a:spAutoFit/>
          </a:bodyPr>
          <a:lstStyle/>
          <a:p>
            <a:pPr algn="l">
              <a:lnSpc>
                <a:spcPts val="5183"/>
              </a:lnSpc>
              <a:spcBef>
                <a:spcPct val="0"/>
              </a:spcBef>
            </a:pPr>
            <a:r>
              <a:rPr lang="en-US" sz="3702" dirty="0">
                <a:solidFill>
                  <a:srgbClr val="00569E"/>
                </a:solidFill>
                <a:latin typeface="Montserrat"/>
                <a:ea typeface="Montserrat"/>
                <a:cs typeface="Montserrat"/>
                <a:sym typeface="Montserrat"/>
              </a:rPr>
              <a:t>Styling</a:t>
            </a:r>
          </a:p>
        </p:txBody>
      </p:sp>
      <p:sp>
        <p:nvSpPr>
          <p:cNvPr id="15" name="Freeform 15"/>
          <p:cNvSpPr/>
          <p:nvPr/>
        </p:nvSpPr>
        <p:spPr>
          <a:xfrm rot="5400000">
            <a:off x="4218219" y="7098398"/>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5133925" y="7673818"/>
            <a:ext cx="4133255" cy="498983"/>
          </a:xfrm>
          <a:prstGeom prst="rect">
            <a:avLst/>
          </a:prstGeom>
        </p:spPr>
        <p:txBody>
          <a:bodyPr wrap="square" lIns="0" tIns="0" rIns="0" bIns="0" rtlCol="0" anchor="t">
            <a:spAutoFit/>
          </a:bodyPr>
          <a:lstStyle/>
          <a:p>
            <a:pPr algn="l">
              <a:lnSpc>
                <a:spcPts val="4199"/>
              </a:lnSpc>
              <a:spcBef>
                <a:spcPct val="0"/>
              </a:spcBef>
            </a:pPr>
            <a:r>
              <a:rPr lang="en-US" sz="2999" dirty="0">
                <a:solidFill>
                  <a:srgbClr val="00569E"/>
                </a:solidFill>
                <a:latin typeface="Montserrat"/>
                <a:ea typeface="Montserrat"/>
                <a:cs typeface="Montserrat"/>
                <a:sym typeface="Montserrat"/>
              </a:rPr>
              <a:t>React  Router DOM</a:t>
            </a:r>
          </a:p>
        </p:txBody>
      </p:sp>
      <p:sp>
        <p:nvSpPr>
          <p:cNvPr id="17" name="TextBox 17"/>
          <p:cNvSpPr txBox="1"/>
          <p:nvPr/>
        </p:nvSpPr>
        <p:spPr>
          <a:xfrm>
            <a:off x="4871138" y="7002924"/>
            <a:ext cx="1910358" cy="629862"/>
          </a:xfrm>
          <a:prstGeom prst="rect">
            <a:avLst/>
          </a:prstGeom>
        </p:spPr>
        <p:txBody>
          <a:bodyPr lIns="0" tIns="0" rIns="0" bIns="0" rtlCol="0" anchor="t">
            <a:spAutoFit/>
          </a:bodyPr>
          <a:lstStyle/>
          <a:p>
            <a:pPr algn="l">
              <a:lnSpc>
                <a:spcPts val="5183"/>
              </a:lnSpc>
              <a:spcBef>
                <a:spcPct val="0"/>
              </a:spcBef>
            </a:pPr>
            <a:r>
              <a:rPr lang="en-US" sz="3702">
                <a:solidFill>
                  <a:srgbClr val="00569E"/>
                </a:solidFill>
                <a:latin typeface="Montserrat"/>
                <a:ea typeface="Montserrat"/>
                <a:cs typeface="Montserrat"/>
                <a:sym typeface="Montserrat"/>
              </a:rPr>
              <a:t>Routing</a:t>
            </a:r>
          </a:p>
        </p:txBody>
      </p:sp>
      <p:sp>
        <p:nvSpPr>
          <p:cNvPr id="18" name="Freeform 18"/>
          <p:cNvSpPr/>
          <p:nvPr/>
        </p:nvSpPr>
        <p:spPr>
          <a:xfrm rot="5400000">
            <a:off x="9045640" y="7137949"/>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9962016" y="7687245"/>
            <a:ext cx="2467421" cy="495301"/>
          </a:xfrm>
          <a:prstGeom prst="rect">
            <a:avLst/>
          </a:prstGeom>
        </p:spPr>
        <p:txBody>
          <a:bodyPr lIns="0" tIns="0" rIns="0" bIns="0" rtlCol="0" anchor="t">
            <a:spAutoFit/>
          </a:bodyPr>
          <a:lstStyle/>
          <a:p>
            <a:pPr algn="l">
              <a:lnSpc>
                <a:spcPts val="4199"/>
              </a:lnSpc>
              <a:spcBef>
                <a:spcPct val="0"/>
              </a:spcBef>
            </a:pPr>
            <a:r>
              <a:rPr lang="en-US" sz="2999">
                <a:solidFill>
                  <a:srgbClr val="00569E"/>
                </a:solidFill>
                <a:latin typeface="Montserrat"/>
                <a:ea typeface="Montserrat"/>
                <a:cs typeface="Montserrat"/>
                <a:sym typeface="Montserrat"/>
              </a:rPr>
              <a:t>React  Query</a:t>
            </a:r>
          </a:p>
        </p:txBody>
      </p:sp>
      <p:sp>
        <p:nvSpPr>
          <p:cNvPr id="20" name="TextBox 20"/>
          <p:cNvSpPr txBox="1"/>
          <p:nvPr/>
        </p:nvSpPr>
        <p:spPr>
          <a:xfrm>
            <a:off x="9699229" y="7016351"/>
            <a:ext cx="3982949" cy="629862"/>
          </a:xfrm>
          <a:prstGeom prst="rect">
            <a:avLst/>
          </a:prstGeom>
        </p:spPr>
        <p:txBody>
          <a:bodyPr wrap="square" lIns="0" tIns="0" rIns="0" bIns="0" rtlCol="0" anchor="t">
            <a:spAutoFit/>
          </a:bodyPr>
          <a:lstStyle/>
          <a:p>
            <a:pPr algn="l">
              <a:lnSpc>
                <a:spcPts val="5183"/>
              </a:lnSpc>
              <a:spcBef>
                <a:spcPct val="0"/>
              </a:spcBef>
            </a:pPr>
            <a:r>
              <a:rPr lang="en-US" sz="3702" dirty="0">
                <a:solidFill>
                  <a:srgbClr val="00569E"/>
                </a:solidFill>
                <a:latin typeface="Montserrat"/>
                <a:ea typeface="Montserrat"/>
                <a:cs typeface="Montserrat"/>
                <a:sym typeface="Montserrat"/>
              </a:rPr>
              <a:t>Data Fetching</a:t>
            </a:r>
          </a:p>
        </p:txBody>
      </p:sp>
      <p:sp>
        <p:nvSpPr>
          <p:cNvPr id="21" name="Freeform 21"/>
          <p:cNvSpPr/>
          <p:nvPr/>
        </p:nvSpPr>
        <p:spPr>
          <a:xfrm rot="5400000">
            <a:off x="13789640" y="7098398"/>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p:cNvSpPr txBox="1"/>
          <p:nvPr/>
        </p:nvSpPr>
        <p:spPr>
          <a:xfrm>
            <a:off x="14705346" y="7673818"/>
            <a:ext cx="2861816" cy="495301"/>
          </a:xfrm>
          <a:prstGeom prst="rect">
            <a:avLst/>
          </a:prstGeom>
        </p:spPr>
        <p:txBody>
          <a:bodyPr lIns="0" tIns="0" rIns="0" bIns="0" rtlCol="0" anchor="t">
            <a:spAutoFit/>
          </a:bodyPr>
          <a:lstStyle/>
          <a:p>
            <a:pPr algn="l">
              <a:lnSpc>
                <a:spcPts val="4199"/>
              </a:lnSpc>
              <a:spcBef>
                <a:spcPct val="0"/>
              </a:spcBef>
            </a:pPr>
            <a:r>
              <a:rPr lang="en-US" sz="2999" dirty="0">
                <a:solidFill>
                  <a:srgbClr val="00569E"/>
                </a:solidFill>
                <a:latin typeface="Montserrat"/>
                <a:ea typeface="Montserrat"/>
                <a:cs typeface="Montserrat"/>
                <a:sym typeface="Montserrat"/>
              </a:rPr>
              <a:t>Framer Motion</a:t>
            </a:r>
          </a:p>
        </p:txBody>
      </p:sp>
      <p:sp>
        <p:nvSpPr>
          <p:cNvPr id="23" name="TextBox 23"/>
          <p:cNvSpPr txBox="1"/>
          <p:nvPr/>
        </p:nvSpPr>
        <p:spPr>
          <a:xfrm>
            <a:off x="14442559" y="7002925"/>
            <a:ext cx="3124603" cy="629862"/>
          </a:xfrm>
          <a:prstGeom prst="rect">
            <a:avLst/>
          </a:prstGeom>
        </p:spPr>
        <p:txBody>
          <a:bodyPr wrap="square" lIns="0" tIns="0" rIns="0" bIns="0" rtlCol="0" anchor="t">
            <a:spAutoFit/>
          </a:bodyPr>
          <a:lstStyle/>
          <a:p>
            <a:pPr algn="l">
              <a:lnSpc>
                <a:spcPts val="5183"/>
              </a:lnSpc>
              <a:spcBef>
                <a:spcPct val="0"/>
              </a:spcBef>
            </a:pPr>
            <a:r>
              <a:rPr lang="en-US" sz="3702" dirty="0">
                <a:solidFill>
                  <a:srgbClr val="00569E"/>
                </a:solidFill>
                <a:latin typeface="Montserrat"/>
                <a:ea typeface="Montserrat"/>
                <a:cs typeface="Montserrat"/>
                <a:sym typeface="Montserrat"/>
              </a:rPr>
              <a:t>Animation</a:t>
            </a:r>
          </a:p>
        </p:txBody>
      </p:sp>
      <p:sp>
        <p:nvSpPr>
          <p:cNvPr id="24" name="Freeform 24"/>
          <p:cNvSpPr/>
          <p:nvPr/>
        </p:nvSpPr>
        <p:spPr>
          <a:xfrm rot="5400000">
            <a:off x="5853606" y="4461129"/>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TextBox 25"/>
          <p:cNvSpPr txBox="1"/>
          <p:nvPr/>
        </p:nvSpPr>
        <p:spPr>
          <a:xfrm>
            <a:off x="6769312" y="5036550"/>
            <a:ext cx="3982949" cy="495301"/>
          </a:xfrm>
          <a:prstGeom prst="rect">
            <a:avLst/>
          </a:prstGeom>
        </p:spPr>
        <p:txBody>
          <a:bodyPr wrap="square" lIns="0" tIns="0" rIns="0" bIns="0" rtlCol="0" anchor="t">
            <a:spAutoFit/>
          </a:bodyPr>
          <a:lstStyle/>
          <a:p>
            <a:pPr algn="l">
              <a:lnSpc>
                <a:spcPts val="4199"/>
              </a:lnSpc>
              <a:spcBef>
                <a:spcPct val="0"/>
              </a:spcBef>
            </a:pPr>
            <a:r>
              <a:rPr lang="en-US" sz="2999" dirty="0">
                <a:solidFill>
                  <a:srgbClr val="00569E"/>
                </a:solidFill>
                <a:latin typeface="Montserrat"/>
                <a:ea typeface="Montserrat"/>
                <a:cs typeface="Montserrat"/>
                <a:sym typeface="Montserrat"/>
              </a:rPr>
              <a:t>React Helmet Async</a:t>
            </a:r>
          </a:p>
        </p:txBody>
      </p:sp>
      <p:sp>
        <p:nvSpPr>
          <p:cNvPr id="26" name="TextBox 26"/>
          <p:cNvSpPr txBox="1"/>
          <p:nvPr/>
        </p:nvSpPr>
        <p:spPr>
          <a:xfrm>
            <a:off x="6506525" y="4365656"/>
            <a:ext cx="6084999" cy="629862"/>
          </a:xfrm>
          <a:prstGeom prst="rect">
            <a:avLst/>
          </a:prstGeom>
        </p:spPr>
        <p:txBody>
          <a:bodyPr wrap="square" lIns="0" tIns="0" rIns="0" bIns="0" rtlCol="0" anchor="t">
            <a:spAutoFit/>
          </a:bodyPr>
          <a:lstStyle/>
          <a:p>
            <a:pPr algn="l">
              <a:lnSpc>
                <a:spcPts val="5183"/>
              </a:lnSpc>
              <a:spcBef>
                <a:spcPct val="0"/>
              </a:spcBef>
            </a:pPr>
            <a:r>
              <a:rPr lang="en-US" sz="3702" dirty="0">
                <a:solidFill>
                  <a:srgbClr val="00569E"/>
                </a:solidFill>
                <a:latin typeface="Montserrat"/>
                <a:ea typeface="Montserrat"/>
                <a:cs typeface="Montserrat"/>
                <a:sym typeface="Montserrat"/>
              </a:rPr>
              <a:t>Head Tag Management</a:t>
            </a:r>
          </a:p>
        </p:txBody>
      </p:sp>
      <p:sp>
        <p:nvSpPr>
          <p:cNvPr id="27" name="TextBox 11">
            <a:extLst>
              <a:ext uri="{FF2B5EF4-FFF2-40B4-BE49-F238E27FC236}">
                <a16:creationId xmlns:a16="http://schemas.microsoft.com/office/drawing/2014/main" id="{9B20912E-51B3-CA6E-F67A-C1CF2AF27A3D}"/>
              </a:ext>
            </a:extLst>
          </p:cNvPr>
          <p:cNvSpPr txBox="1"/>
          <p:nvPr/>
        </p:nvSpPr>
        <p:spPr>
          <a:xfrm>
            <a:off x="2579964" y="1253390"/>
            <a:ext cx="11359101" cy="1306320"/>
          </a:xfrm>
          <a:prstGeom prst="rect">
            <a:avLst/>
          </a:prstGeom>
        </p:spPr>
        <p:txBody>
          <a:bodyPr wrap="square" lIns="0" tIns="0" rIns="0" bIns="0" rtlCol="0" anchor="t">
            <a:spAutoFit/>
          </a:bodyPr>
          <a:lstStyle/>
          <a:p>
            <a:pPr algn="ctr">
              <a:lnSpc>
                <a:spcPts val="10970"/>
              </a:lnSpc>
              <a:spcBef>
                <a:spcPct val="0"/>
              </a:spcBef>
            </a:pPr>
            <a:r>
              <a:rPr lang="en-US" sz="7836" b="1" dirty="0">
                <a:solidFill>
                  <a:srgbClr val="00569E"/>
                </a:solidFill>
                <a:latin typeface="Montserrat Bold"/>
                <a:ea typeface="Montserrat Bold"/>
                <a:cs typeface="Montserrat Bold"/>
                <a:sym typeface="Montserrat Bold"/>
              </a:rPr>
              <a:t>WEB APPLICATION </a:t>
            </a:r>
          </a:p>
        </p:txBody>
      </p:sp>
      <p:grpSp>
        <p:nvGrpSpPr>
          <p:cNvPr id="7" name="Group 5">
            <a:extLst>
              <a:ext uri="{FF2B5EF4-FFF2-40B4-BE49-F238E27FC236}">
                <a16:creationId xmlns:a16="http://schemas.microsoft.com/office/drawing/2014/main" id="{EC61F1E7-9CE5-F2E5-E1A7-90ADB333E615}"/>
              </a:ext>
            </a:extLst>
          </p:cNvPr>
          <p:cNvGrpSpPr/>
          <p:nvPr/>
        </p:nvGrpSpPr>
        <p:grpSpPr>
          <a:xfrm>
            <a:off x="11119915" y="8635181"/>
            <a:ext cx="13881919" cy="13881919"/>
            <a:chOff x="0" y="0"/>
            <a:chExt cx="812800" cy="812800"/>
          </a:xfrm>
        </p:grpSpPr>
        <p:sp>
          <p:nvSpPr>
            <p:cNvPr id="28" name="Freeform 6">
              <a:extLst>
                <a:ext uri="{FF2B5EF4-FFF2-40B4-BE49-F238E27FC236}">
                  <a16:creationId xmlns:a16="http://schemas.microsoft.com/office/drawing/2014/main" id="{50D2FFD9-41C3-CFDC-5594-40578E3902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29" name="TextBox 7">
              <a:extLst>
                <a:ext uri="{FF2B5EF4-FFF2-40B4-BE49-F238E27FC236}">
                  <a16:creationId xmlns:a16="http://schemas.microsoft.com/office/drawing/2014/main" id="{A349AACE-D139-5D5D-3A86-4BED7DA83CD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8940870" y="6479445"/>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2"/>
            <a:stretch>
              <a:fillRect/>
            </a:stretch>
          </a:blipFill>
        </p:spPr>
      </p:sp>
      <p:grpSp>
        <p:nvGrpSpPr>
          <p:cNvPr id="9" name="Group 9"/>
          <p:cNvGrpSpPr/>
          <p:nvPr/>
        </p:nvGrpSpPr>
        <p:grpSpPr>
          <a:xfrm>
            <a:off x="637007" y="9482625"/>
            <a:ext cx="17013987" cy="244057"/>
            <a:chOff x="0" y="0"/>
            <a:chExt cx="4274726" cy="61319"/>
          </a:xfrm>
        </p:grpSpPr>
        <p:sp>
          <p:nvSpPr>
            <p:cNvPr id="10" name="Freeform 10"/>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1" name="TextBox 11"/>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402491" y="9184273"/>
            <a:ext cx="17483017" cy="472694"/>
            <a:chOff x="0" y="0"/>
            <a:chExt cx="4392569" cy="118763"/>
          </a:xfrm>
        </p:grpSpPr>
        <p:sp>
          <p:nvSpPr>
            <p:cNvPr id="13" name="Freeform 13"/>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4" name="TextBox 14"/>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7526473" y="6135643"/>
            <a:ext cx="3235054" cy="3235054"/>
            <a:chOff x="0" y="0"/>
            <a:chExt cx="812800" cy="812800"/>
          </a:xfrm>
        </p:grpSpPr>
        <p:sp>
          <p:nvSpPr>
            <p:cNvPr id="16" name="Freeform 16"/>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7" name="TextBox 17"/>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488065" y="532821"/>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3"/>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637007" y="9482625"/>
            <a:ext cx="17013987" cy="244057"/>
            <a:chOff x="0" y="0"/>
            <a:chExt cx="4274726" cy="61319"/>
          </a:xfrm>
        </p:grpSpPr>
        <p:sp>
          <p:nvSpPr>
            <p:cNvPr id="6" name="Freeform 6"/>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7" name="TextBox 7"/>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2491" y="9184273"/>
            <a:ext cx="17483017" cy="472694"/>
            <a:chOff x="0" y="0"/>
            <a:chExt cx="4392569" cy="118763"/>
          </a:xfrm>
        </p:grpSpPr>
        <p:sp>
          <p:nvSpPr>
            <p:cNvPr id="9" name="Freeform 9"/>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0" name="TextBox 10"/>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526473" y="6135643"/>
            <a:ext cx="3235054" cy="3235054"/>
            <a:chOff x="0" y="0"/>
            <a:chExt cx="812800" cy="812800"/>
          </a:xfrm>
        </p:grpSpPr>
        <p:sp>
          <p:nvSpPr>
            <p:cNvPr id="12" name="Freeform 12"/>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3" name="TextBox 13"/>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474519" y="558144"/>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grpSp>
        <p:nvGrpSpPr>
          <p:cNvPr id="15" name="Group 15"/>
          <p:cNvGrpSpPr/>
          <p:nvPr/>
        </p:nvGrpSpPr>
        <p:grpSpPr>
          <a:xfrm>
            <a:off x="17431387" y="-1305445"/>
            <a:ext cx="3249958" cy="2957895"/>
            <a:chOff x="0" y="0"/>
            <a:chExt cx="893056" cy="812800"/>
          </a:xfrm>
        </p:grpSpPr>
        <p:sp>
          <p:nvSpPr>
            <p:cNvPr id="16" name="Freeform 1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17" name="TextBox 1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7431387"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71453"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637007" y="9482625"/>
            <a:ext cx="17013987" cy="244057"/>
            <a:chOff x="0" y="0"/>
            <a:chExt cx="4274726" cy="61319"/>
          </a:xfrm>
        </p:grpSpPr>
        <p:sp>
          <p:nvSpPr>
            <p:cNvPr id="6" name="Freeform 6"/>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7" name="TextBox 7"/>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2491" y="9184273"/>
            <a:ext cx="17483017" cy="472694"/>
            <a:chOff x="0" y="0"/>
            <a:chExt cx="4392569" cy="118763"/>
          </a:xfrm>
        </p:grpSpPr>
        <p:sp>
          <p:nvSpPr>
            <p:cNvPr id="9" name="Freeform 9"/>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0" name="TextBox 10"/>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526473" y="6135643"/>
            <a:ext cx="3235054" cy="3235054"/>
            <a:chOff x="0" y="0"/>
            <a:chExt cx="812800" cy="812800"/>
          </a:xfrm>
        </p:grpSpPr>
        <p:sp>
          <p:nvSpPr>
            <p:cNvPr id="12" name="Freeform 12"/>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3" name="TextBox 13"/>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653496" y="-1478948"/>
            <a:ext cx="3249958" cy="2957895"/>
            <a:chOff x="0" y="0"/>
            <a:chExt cx="893056" cy="812800"/>
          </a:xfrm>
        </p:grpSpPr>
        <p:sp>
          <p:nvSpPr>
            <p:cNvPr id="15" name="Freeform 15"/>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16" name="TextBox 16"/>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637007" y="9482625"/>
            <a:ext cx="17013987" cy="244057"/>
            <a:chOff x="0" y="0"/>
            <a:chExt cx="4274726" cy="61319"/>
          </a:xfrm>
        </p:grpSpPr>
        <p:sp>
          <p:nvSpPr>
            <p:cNvPr id="6" name="Freeform 6"/>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7" name="TextBox 7"/>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2491" y="9184273"/>
            <a:ext cx="17483017" cy="472694"/>
            <a:chOff x="0" y="0"/>
            <a:chExt cx="4392569" cy="118763"/>
          </a:xfrm>
        </p:grpSpPr>
        <p:sp>
          <p:nvSpPr>
            <p:cNvPr id="9" name="Freeform 9"/>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0" name="TextBox 10"/>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6663021" y="-1478948"/>
            <a:ext cx="3249958" cy="2957895"/>
            <a:chOff x="0" y="0"/>
            <a:chExt cx="893056" cy="812800"/>
          </a:xfrm>
        </p:grpSpPr>
        <p:sp>
          <p:nvSpPr>
            <p:cNvPr id="12" name="Freeform 12"/>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13" name="TextBox 13"/>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15" name="Group 15"/>
          <p:cNvGrpSpPr/>
          <p:nvPr/>
        </p:nvGrpSpPr>
        <p:grpSpPr>
          <a:xfrm>
            <a:off x="16663021" y="-1478948"/>
            <a:ext cx="3249958" cy="2957895"/>
            <a:chOff x="0" y="0"/>
            <a:chExt cx="893056" cy="812800"/>
          </a:xfrm>
        </p:grpSpPr>
        <p:sp>
          <p:nvSpPr>
            <p:cNvPr id="16" name="Freeform 1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17" name="TextBox 1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637007" y="9482625"/>
            <a:ext cx="17013987" cy="244057"/>
            <a:chOff x="0" y="0"/>
            <a:chExt cx="4274726" cy="61319"/>
          </a:xfrm>
        </p:grpSpPr>
        <p:sp>
          <p:nvSpPr>
            <p:cNvPr id="6" name="Freeform 6"/>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7" name="TextBox 7"/>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2491" y="9184273"/>
            <a:ext cx="17483017" cy="472694"/>
            <a:chOff x="0" y="0"/>
            <a:chExt cx="4392569" cy="118763"/>
          </a:xfrm>
        </p:grpSpPr>
        <p:sp>
          <p:nvSpPr>
            <p:cNvPr id="9" name="Freeform 9"/>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0" name="TextBox 10"/>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526473" y="6135643"/>
            <a:ext cx="3235054" cy="3235054"/>
            <a:chOff x="0" y="0"/>
            <a:chExt cx="812800" cy="812800"/>
          </a:xfrm>
        </p:grpSpPr>
        <p:sp>
          <p:nvSpPr>
            <p:cNvPr id="12" name="Freeform 12"/>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3" name="TextBox 13"/>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90503"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72546"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280978" y="4019633"/>
            <a:ext cx="14099416" cy="11326452"/>
            <a:chOff x="0" y="0"/>
            <a:chExt cx="812800" cy="652945"/>
          </a:xfrm>
        </p:grpSpPr>
        <p:sp>
          <p:nvSpPr>
            <p:cNvPr id="3" name="Freeform 3"/>
            <p:cNvSpPr/>
            <p:nvPr/>
          </p:nvSpPr>
          <p:spPr>
            <a:xfrm>
              <a:off x="0" y="0"/>
              <a:ext cx="812800" cy="652945"/>
            </a:xfrm>
            <a:custGeom>
              <a:avLst/>
              <a:gdLst/>
              <a:ahLst/>
              <a:cxnLst/>
              <a:rect l="l" t="t" r="r" b="b"/>
              <a:pathLst>
                <a:path w="812800" h="652945">
                  <a:moveTo>
                    <a:pt x="406400" y="0"/>
                  </a:moveTo>
                  <a:cubicBezTo>
                    <a:pt x="181951" y="0"/>
                    <a:pt x="0" y="146167"/>
                    <a:pt x="0" y="326472"/>
                  </a:cubicBezTo>
                  <a:cubicBezTo>
                    <a:pt x="0" y="506778"/>
                    <a:pt x="181951" y="652945"/>
                    <a:pt x="406400" y="652945"/>
                  </a:cubicBezTo>
                  <a:cubicBezTo>
                    <a:pt x="630849" y="652945"/>
                    <a:pt x="812800" y="506778"/>
                    <a:pt x="812800" y="326472"/>
                  </a:cubicBezTo>
                  <a:cubicBezTo>
                    <a:pt x="812800" y="146167"/>
                    <a:pt x="630849" y="0"/>
                    <a:pt x="406400" y="0"/>
                  </a:cubicBezTo>
                  <a:close/>
                </a:path>
              </a:pathLst>
            </a:custGeom>
            <a:gradFill rotWithShape="1">
              <a:gsLst>
                <a:gs pos="0">
                  <a:srgbClr val="00569E">
                    <a:alpha val="100000"/>
                  </a:srgbClr>
                </a:gs>
                <a:gs pos="100000">
                  <a:srgbClr val="CD9DF0">
                    <a:alpha val="100000"/>
                  </a:srgbClr>
                </a:gs>
              </a:gsLst>
              <a:lin ang="2700000"/>
            </a:gradFill>
            <a:ln cap="sq">
              <a:noFill/>
              <a:prstDash val="solid"/>
              <a:miter/>
            </a:ln>
          </p:spPr>
        </p:sp>
        <p:sp>
          <p:nvSpPr>
            <p:cNvPr id="4" name="TextBox 4"/>
            <p:cNvSpPr txBox="1"/>
            <p:nvPr/>
          </p:nvSpPr>
          <p:spPr>
            <a:xfrm>
              <a:off x="76200" y="23114"/>
              <a:ext cx="660400" cy="56861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6663021" y="-1478948"/>
            <a:ext cx="3249958" cy="2957895"/>
            <a:chOff x="0" y="0"/>
            <a:chExt cx="893056" cy="812800"/>
          </a:xfrm>
        </p:grpSpPr>
        <p:sp>
          <p:nvSpPr>
            <p:cNvPr id="6" name="Freeform 6"/>
            <p:cNvSpPr/>
            <p:nvPr/>
          </p:nvSpPr>
          <p:spPr>
            <a:xfrm>
              <a:off x="0" y="0"/>
              <a:ext cx="893056" cy="812800"/>
            </a:xfrm>
            <a:custGeom>
              <a:avLst/>
              <a:gdLst/>
              <a:ahLst/>
              <a:cxnLst/>
              <a:rect l="l" t="t" r="r" b="b"/>
              <a:pathLst>
                <a:path w="893056" h="812800">
                  <a:moveTo>
                    <a:pt x="446528" y="0"/>
                  </a:moveTo>
                  <a:cubicBezTo>
                    <a:pt x="199917" y="0"/>
                    <a:pt x="0" y="181951"/>
                    <a:pt x="0" y="406400"/>
                  </a:cubicBezTo>
                  <a:cubicBezTo>
                    <a:pt x="0" y="630849"/>
                    <a:pt x="199917" y="812800"/>
                    <a:pt x="446528" y="812800"/>
                  </a:cubicBezTo>
                  <a:cubicBezTo>
                    <a:pt x="693139" y="812800"/>
                    <a:pt x="893056" y="630849"/>
                    <a:pt x="893056" y="406400"/>
                  </a:cubicBezTo>
                  <a:cubicBezTo>
                    <a:pt x="893056" y="181951"/>
                    <a:pt x="693139" y="0"/>
                    <a:pt x="446528" y="0"/>
                  </a:cubicBezTo>
                  <a:close/>
                </a:path>
              </a:pathLst>
            </a:custGeom>
            <a:solidFill>
              <a:srgbClr val="FFFFFF"/>
            </a:solidFill>
            <a:ln w="952500" cap="sq">
              <a:gradFill>
                <a:gsLst>
                  <a:gs pos="0">
                    <a:srgbClr val="145DA0">
                      <a:alpha val="100000"/>
                    </a:srgbClr>
                  </a:gs>
                  <a:gs pos="100000">
                    <a:srgbClr val="CFA6F6">
                      <a:alpha val="100000"/>
                    </a:srgbClr>
                  </a:gs>
                </a:gsLst>
                <a:path path="circle">
                  <a:fillToRect r="100000" b="100000"/>
                </a:path>
                <a:tileRect l="-100000" t="-100000"/>
              </a:gradFill>
              <a:prstDash val="solid"/>
              <a:miter/>
            </a:ln>
          </p:spPr>
        </p:sp>
        <p:sp>
          <p:nvSpPr>
            <p:cNvPr id="7" name="TextBox 7"/>
            <p:cNvSpPr txBox="1"/>
            <p:nvPr/>
          </p:nvSpPr>
          <p:spPr>
            <a:xfrm>
              <a:off x="83724" y="38100"/>
              <a:ext cx="725608"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37007" y="9482625"/>
            <a:ext cx="17013987" cy="244057"/>
            <a:chOff x="0" y="0"/>
            <a:chExt cx="4274726" cy="61319"/>
          </a:xfrm>
        </p:grpSpPr>
        <p:sp>
          <p:nvSpPr>
            <p:cNvPr id="9" name="Freeform 9"/>
            <p:cNvSpPr/>
            <p:nvPr/>
          </p:nvSpPr>
          <p:spPr>
            <a:xfrm>
              <a:off x="0" y="0"/>
              <a:ext cx="4274726" cy="61319"/>
            </a:xfrm>
            <a:custGeom>
              <a:avLst/>
              <a:gdLst/>
              <a:ahLst/>
              <a:cxnLst/>
              <a:rect l="l" t="t" r="r" b="b"/>
              <a:pathLst>
                <a:path w="4274726" h="61319">
                  <a:moveTo>
                    <a:pt x="7736" y="0"/>
                  </a:moveTo>
                  <a:lnTo>
                    <a:pt x="4266990" y="0"/>
                  </a:lnTo>
                  <a:cubicBezTo>
                    <a:pt x="4271263" y="0"/>
                    <a:pt x="4274726" y="3463"/>
                    <a:pt x="4274726" y="7736"/>
                  </a:cubicBezTo>
                  <a:lnTo>
                    <a:pt x="4274726" y="53583"/>
                  </a:lnTo>
                  <a:cubicBezTo>
                    <a:pt x="4274726" y="55635"/>
                    <a:pt x="4273911" y="57602"/>
                    <a:pt x="4272460" y="59053"/>
                  </a:cubicBezTo>
                  <a:cubicBezTo>
                    <a:pt x="4271009" y="60504"/>
                    <a:pt x="4269042" y="61319"/>
                    <a:pt x="4266990" y="61319"/>
                  </a:cubicBezTo>
                  <a:lnTo>
                    <a:pt x="7736" y="61319"/>
                  </a:lnTo>
                  <a:cubicBezTo>
                    <a:pt x="5684" y="61319"/>
                    <a:pt x="3716" y="60504"/>
                    <a:pt x="2266" y="59053"/>
                  </a:cubicBezTo>
                  <a:cubicBezTo>
                    <a:pt x="815" y="57602"/>
                    <a:pt x="0" y="55635"/>
                    <a:pt x="0" y="53583"/>
                  </a:cubicBezTo>
                  <a:lnTo>
                    <a:pt x="0" y="7736"/>
                  </a:lnTo>
                  <a:cubicBezTo>
                    <a:pt x="0" y="5684"/>
                    <a:pt x="815" y="3716"/>
                    <a:pt x="2266" y="2266"/>
                  </a:cubicBezTo>
                  <a:cubicBezTo>
                    <a:pt x="3716" y="815"/>
                    <a:pt x="5684" y="0"/>
                    <a:pt x="7736" y="0"/>
                  </a:cubicBezTo>
                  <a:close/>
                </a:path>
              </a:pathLst>
            </a:custGeom>
            <a:solidFill>
              <a:srgbClr val="CCCCCC"/>
            </a:solidFill>
          </p:spPr>
        </p:sp>
        <p:sp>
          <p:nvSpPr>
            <p:cNvPr id="10" name="TextBox 10"/>
            <p:cNvSpPr txBox="1"/>
            <p:nvPr/>
          </p:nvSpPr>
          <p:spPr>
            <a:xfrm>
              <a:off x="0" y="-38100"/>
              <a:ext cx="4274726" cy="994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402491" y="9184273"/>
            <a:ext cx="17483017" cy="472694"/>
            <a:chOff x="0" y="0"/>
            <a:chExt cx="4392569" cy="118763"/>
          </a:xfrm>
        </p:grpSpPr>
        <p:sp>
          <p:nvSpPr>
            <p:cNvPr id="12" name="Freeform 12"/>
            <p:cNvSpPr/>
            <p:nvPr/>
          </p:nvSpPr>
          <p:spPr>
            <a:xfrm>
              <a:off x="0" y="0"/>
              <a:ext cx="4392569" cy="118763"/>
            </a:xfrm>
            <a:custGeom>
              <a:avLst/>
              <a:gdLst/>
              <a:ahLst/>
              <a:cxnLst/>
              <a:rect l="l" t="t" r="r" b="b"/>
              <a:pathLst>
                <a:path w="4392569" h="118763">
                  <a:moveTo>
                    <a:pt x="6642" y="0"/>
                  </a:moveTo>
                  <a:lnTo>
                    <a:pt x="4385926" y="0"/>
                  </a:lnTo>
                  <a:cubicBezTo>
                    <a:pt x="4389595" y="0"/>
                    <a:pt x="4392569" y="2974"/>
                    <a:pt x="4392569" y="6642"/>
                  </a:cubicBezTo>
                  <a:lnTo>
                    <a:pt x="4392569" y="112121"/>
                  </a:lnTo>
                  <a:cubicBezTo>
                    <a:pt x="4392569" y="115789"/>
                    <a:pt x="4389595" y="118763"/>
                    <a:pt x="4385926" y="118763"/>
                  </a:cubicBezTo>
                  <a:lnTo>
                    <a:pt x="6642" y="118763"/>
                  </a:lnTo>
                  <a:cubicBezTo>
                    <a:pt x="2974" y="118763"/>
                    <a:pt x="0" y="115789"/>
                    <a:pt x="0" y="112121"/>
                  </a:cubicBezTo>
                  <a:lnTo>
                    <a:pt x="0" y="6642"/>
                  </a:lnTo>
                  <a:cubicBezTo>
                    <a:pt x="0" y="2974"/>
                    <a:pt x="2974" y="0"/>
                    <a:pt x="6642" y="0"/>
                  </a:cubicBezTo>
                  <a:close/>
                </a:path>
              </a:pathLst>
            </a:custGeom>
            <a:solidFill>
              <a:srgbClr val="E8E6E6"/>
            </a:solidFill>
          </p:spPr>
        </p:sp>
        <p:sp>
          <p:nvSpPr>
            <p:cNvPr id="13" name="TextBox 13"/>
            <p:cNvSpPr txBox="1"/>
            <p:nvPr/>
          </p:nvSpPr>
          <p:spPr>
            <a:xfrm>
              <a:off x="0" y="-38100"/>
              <a:ext cx="4392569" cy="156863"/>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526473" y="6135643"/>
            <a:ext cx="3235054" cy="3235054"/>
            <a:chOff x="0" y="0"/>
            <a:chExt cx="812800" cy="812800"/>
          </a:xfrm>
        </p:grpSpPr>
        <p:sp>
          <p:nvSpPr>
            <p:cNvPr id="15" name="Freeform 15"/>
            <p:cNvSpPr/>
            <p:nvPr/>
          </p:nvSpPr>
          <p:spPr>
            <a:xfrm>
              <a:off x="1974" y="4166"/>
              <a:ext cx="808851" cy="808634"/>
            </a:xfrm>
            <a:custGeom>
              <a:avLst/>
              <a:gdLst/>
              <a:ahLst/>
              <a:cxnLst/>
              <a:rect l="l" t="t" r="r" b="b"/>
              <a:pathLst>
                <a:path w="808851" h="808634">
                  <a:moveTo>
                    <a:pt x="417738" y="6003"/>
                  </a:moveTo>
                  <a:lnTo>
                    <a:pt x="797514" y="296126"/>
                  </a:lnTo>
                  <a:cubicBezTo>
                    <a:pt x="805512" y="302236"/>
                    <a:pt x="808852" y="312685"/>
                    <a:pt x="805880" y="322301"/>
                  </a:cubicBezTo>
                  <a:lnTo>
                    <a:pt x="660541" y="792629"/>
                  </a:lnTo>
                  <a:cubicBezTo>
                    <a:pt x="657601" y="802145"/>
                    <a:pt x="648803" y="808634"/>
                    <a:pt x="638843" y="808634"/>
                  </a:cubicBezTo>
                  <a:lnTo>
                    <a:pt x="170009" y="808634"/>
                  </a:lnTo>
                  <a:cubicBezTo>
                    <a:pt x="160049" y="808634"/>
                    <a:pt x="151251" y="802145"/>
                    <a:pt x="148311" y="792629"/>
                  </a:cubicBezTo>
                  <a:lnTo>
                    <a:pt x="2972" y="322301"/>
                  </a:lnTo>
                  <a:cubicBezTo>
                    <a:pt x="0" y="312685"/>
                    <a:pt x="3340" y="302236"/>
                    <a:pt x="11338" y="296126"/>
                  </a:cubicBezTo>
                  <a:lnTo>
                    <a:pt x="391114" y="6003"/>
                  </a:lnTo>
                  <a:cubicBezTo>
                    <a:pt x="398973" y="0"/>
                    <a:pt x="409879" y="0"/>
                    <a:pt x="417738" y="6003"/>
                  </a:cubicBezTo>
                  <a:close/>
                </a:path>
              </a:pathLst>
            </a:custGeom>
            <a:solidFill>
              <a:srgbClr val="CCCCCC"/>
            </a:solidFill>
          </p:spPr>
        </p:sp>
        <p:sp>
          <p:nvSpPr>
            <p:cNvPr id="16" name="TextBox 16"/>
            <p:cNvSpPr txBox="1"/>
            <p:nvPr/>
          </p:nvSpPr>
          <p:spPr>
            <a:xfrm>
              <a:off x="127000" y="165100"/>
              <a:ext cx="558800" cy="596900"/>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474519" y="560318"/>
            <a:ext cx="15338963" cy="8623956"/>
          </a:xfrm>
          <a:custGeom>
            <a:avLst/>
            <a:gdLst/>
            <a:ahLst/>
            <a:cxnLst/>
            <a:rect l="l" t="t" r="r" b="b"/>
            <a:pathLst>
              <a:path w="15338963" h="8623956">
                <a:moveTo>
                  <a:pt x="0" y="0"/>
                </a:moveTo>
                <a:lnTo>
                  <a:pt x="15338962" y="0"/>
                </a:lnTo>
                <a:lnTo>
                  <a:pt x="15338962" y="8623955"/>
                </a:lnTo>
                <a:lnTo>
                  <a:pt x="0" y="8623955"/>
                </a:lnTo>
                <a:lnTo>
                  <a:pt x="0" y="0"/>
                </a:lnTo>
                <a:close/>
              </a:path>
            </a:pathLst>
          </a:custGeom>
          <a:blipFill>
            <a:blip r:embed="rId2"/>
            <a:stretch>
              <a:fillRect l="-36" r="-36"/>
            </a:stretch>
          </a:blipFill>
          <a:ln w="47625" cap="sq">
            <a:solidFill>
              <a:srgbClr val="000000"/>
            </a:solidFill>
            <a:prstDash val="solid"/>
            <a:miter/>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346523" y="-3061481"/>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a:grpSpLocks noChangeAspect="1"/>
          </p:cNvGrpSpPr>
          <p:nvPr/>
        </p:nvGrpSpPr>
        <p:grpSpPr>
          <a:xfrm>
            <a:off x="10895876" y="2111601"/>
            <a:ext cx="6855643" cy="6855643"/>
            <a:chOff x="0" y="0"/>
            <a:chExt cx="8916670" cy="8916670"/>
          </a:xfrm>
        </p:grpSpPr>
        <p:sp>
          <p:nvSpPr>
            <p:cNvPr id="6" name="Freeform 6"/>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sp>
        <p:sp>
          <p:nvSpPr>
            <p:cNvPr id="7" name="Freeform 7"/>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a:stretch>
            </a:blipFill>
          </p:spPr>
        </p:sp>
      </p:grpSp>
      <p:sp>
        <p:nvSpPr>
          <p:cNvPr id="8" name="Freeform 8"/>
          <p:cNvSpPr/>
          <p:nvPr/>
        </p:nvSpPr>
        <p:spPr>
          <a:xfrm rot="5400000">
            <a:off x="999902" y="4068465"/>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715102" y="2523426"/>
            <a:ext cx="10691631" cy="1193800"/>
          </a:xfrm>
          <a:prstGeom prst="rect">
            <a:avLst/>
          </a:prstGeom>
        </p:spPr>
        <p:txBody>
          <a:bodyPr lIns="0" tIns="0" rIns="0" bIns="0" rtlCol="0" anchor="t">
            <a:spAutoFit/>
          </a:bodyPr>
          <a:lstStyle/>
          <a:p>
            <a:pPr algn="l">
              <a:lnSpc>
                <a:spcPts val="9799"/>
              </a:lnSpc>
              <a:spcBef>
                <a:spcPct val="0"/>
              </a:spcBef>
            </a:pPr>
            <a:r>
              <a:rPr lang="en-US" sz="6999" b="1">
                <a:solidFill>
                  <a:srgbClr val="00569E"/>
                </a:solidFill>
                <a:latin typeface="Montserrat Bold"/>
                <a:ea typeface="Montserrat Bold"/>
                <a:cs typeface="Montserrat Bold"/>
                <a:sym typeface="Montserrat Bold"/>
              </a:rPr>
              <a:t>MOBILE APPLICATION</a:t>
            </a:r>
          </a:p>
        </p:txBody>
      </p:sp>
      <p:sp>
        <p:nvSpPr>
          <p:cNvPr id="10" name="TextBox 10"/>
          <p:cNvSpPr txBox="1"/>
          <p:nvPr/>
        </p:nvSpPr>
        <p:spPr>
          <a:xfrm>
            <a:off x="3087024" y="3707701"/>
            <a:ext cx="9525" cy="523875"/>
          </a:xfrm>
          <a:prstGeom prst="rect">
            <a:avLst/>
          </a:prstGeom>
        </p:spPr>
        <p:txBody>
          <a:bodyPr lIns="0" tIns="0" rIns="0" bIns="0" rtlCol="0" anchor="t">
            <a:spAutoFit/>
          </a:bodyPr>
          <a:lstStyle/>
          <a:p>
            <a:pPr algn="ctr" rtl="1">
              <a:lnSpc>
                <a:spcPts val="4200"/>
              </a:lnSpc>
            </a:pPr>
            <a:endParaRPr/>
          </a:p>
        </p:txBody>
      </p:sp>
      <p:sp>
        <p:nvSpPr>
          <p:cNvPr id="12" name="TextBox 12"/>
          <p:cNvSpPr txBox="1"/>
          <p:nvPr/>
        </p:nvSpPr>
        <p:spPr>
          <a:xfrm>
            <a:off x="1683601" y="3881488"/>
            <a:ext cx="6123623" cy="770839"/>
          </a:xfrm>
          <a:prstGeom prst="rect">
            <a:avLst/>
          </a:prstGeom>
        </p:spPr>
        <p:txBody>
          <a:bodyPr lIns="0" tIns="0" rIns="0" bIns="0" rtlCol="0" anchor="t">
            <a:spAutoFit/>
          </a:bodyPr>
          <a:lstStyle/>
          <a:p>
            <a:pPr rtl="1">
              <a:lnSpc>
                <a:spcPts val="6337"/>
              </a:lnSpc>
              <a:spcBef>
                <a:spcPct val="0"/>
              </a:spcBef>
            </a:pPr>
            <a:r>
              <a:rPr lang="en-US" sz="4527" b="1" dirty="0">
                <a:solidFill>
                  <a:srgbClr val="00569E"/>
                </a:solidFill>
                <a:latin typeface="Montserrat Bold"/>
                <a:ea typeface="Montserrat Bold"/>
                <a:cs typeface="Montserrat Bold"/>
                <a:sym typeface="Montserrat Bold"/>
              </a:rPr>
              <a:t>Framework : Flutter</a:t>
            </a:r>
            <a:r>
              <a:rPr lang="ar-EG" sz="4527" b="1" dirty="0">
                <a:solidFill>
                  <a:srgbClr val="00569E"/>
                </a:solidFill>
                <a:latin typeface="Montserrat Bold"/>
                <a:ea typeface="Montserrat Bold"/>
                <a:cs typeface="Montserrat Bold"/>
                <a:sym typeface="Montserrat Bold"/>
                <a:rtl/>
              </a:rPr>
              <a:t> </a:t>
            </a:r>
          </a:p>
        </p:txBody>
      </p:sp>
      <p:sp>
        <p:nvSpPr>
          <p:cNvPr id="13" name="TextBox 13"/>
          <p:cNvSpPr txBox="1"/>
          <p:nvPr/>
        </p:nvSpPr>
        <p:spPr>
          <a:xfrm>
            <a:off x="1028700" y="4926215"/>
            <a:ext cx="8457476" cy="3823595"/>
          </a:xfrm>
          <a:prstGeom prst="rect">
            <a:avLst/>
          </a:prstGeom>
        </p:spPr>
        <p:txBody>
          <a:bodyPr lIns="0" tIns="0" rIns="0" bIns="0" rtlCol="0" anchor="t">
            <a:spAutoFit/>
          </a:bodyPr>
          <a:lstStyle/>
          <a:p>
            <a:pPr algn="l">
              <a:lnSpc>
                <a:spcPts val="6075"/>
              </a:lnSpc>
            </a:pPr>
            <a:r>
              <a:rPr lang="en-US" sz="4339">
                <a:solidFill>
                  <a:srgbClr val="00569E"/>
                </a:solidFill>
                <a:latin typeface="Montserrat"/>
                <a:ea typeface="Montserrat"/>
                <a:cs typeface="Montserrat"/>
                <a:sym typeface="Montserrat"/>
              </a:rPr>
              <a:t>Cross-platform for iOS and Android</a:t>
            </a:r>
          </a:p>
          <a:p>
            <a:pPr algn="l">
              <a:lnSpc>
                <a:spcPts val="6075"/>
              </a:lnSpc>
            </a:pPr>
            <a:r>
              <a:rPr lang="en-US" sz="4339">
                <a:solidFill>
                  <a:srgbClr val="00569E"/>
                </a:solidFill>
                <a:latin typeface="Montserrat"/>
                <a:ea typeface="Montserrat"/>
                <a:cs typeface="Montserrat"/>
                <a:sym typeface="Montserrat"/>
              </a:rPr>
              <a:t>Attractive &amp; responsive UI</a:t>
            </a:r>
          </a:p>
          <a:p>
            <a:pPr algn="l">
              <a:lnSpc>
                <a:spcPts val="6075"/>
              </a:lnSpc>
              <a:spcBef>
                <a:spcPct val="0"/>
              </a:spcBef>
            </a:pPr>
            <a:r>
              <a:rPr lang="en-US" sz="4339">
                <a:solidFill>
                  <a:srgbClr val="00569E"/>
                </a:solidFill>
                <a:latin typeface="Montserrat"/>
                <a:ea typeface="Montserrat"/>
                <a:cs typeface="Montserrat"/>
                <a:sym typeface="Montserrat"/>
              </a:rPr>
              <a:t>Fast development with Hot Reload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E1F13-D1C2-95E6-4DD2-5A948C8410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399578-D80A-4B8D-A860-E4855958633D}"/>
              </a:ext>
            </a:extLst>
          </p:cNvPr>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a:extLst>
              <a:ext uri="{FF2B5EF4-FFF2-40B4-BE49-F238E27FC236}">
                <a16:creationId xmlns:a16="http://schemas.microsoft.com/office/drawing/2014/main" id="{A21E5D59-995F-B354-CC8F-F02F7212C973}"/>
              </a:ext>
            </a:extLst>
          </p:cNvPr>
          <p:cNvGrpSpPr/>
          <p:nvPr/>
        </p:nvGrpSpPr>
        <p:grpSpPr>
          <a:xfrm>
            <a:off x="-2123887" y="-2346523"/>
            <a:ext cx="4693046" cy="4693046"/>
            <a:chOff x="0" y="0"/>
            <a:chExt cx="812800" cy="812800"/>
          </a:xfrm>
        </p:grpSpPr>
        <p:sp>
          <p:nvSpPr>
            <p:cNvPr id="4" name="Freeform 4">
              <a:extLst>
                <a:ext uri="{FF2B5EF4-FFF2-40B4-BE49-F238E27FC236}">
                  <a16:creationId xmlns:a16="http://schemas.microsoft.com/office/drawing/2014/main" id="{7B1618B6-2F53-5238-C2E1-4564261518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a:extLst>
                <a:ext uri="{FF2B5EF4-FFF2-40B4-BE49-F238E27FC236}">
                  <a16:creationId xmlns:a16="http://schemas.microsoft.com/office/drawing/2014/main" id="{5559554B-F4D0-E93A-0614-B6ABEFA0DA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814F35C3-B110-8B20-C786-0C46AA329B22}"/>
              </a:ext>
            </a:extLst>
          </p:cNvPr>
          <p:cNvGrpSpPr/>
          <p:nvPr/>
        </p:nvGrpSpPr>
        <p:grpSpPr>
          <a:xfrm>
            <a:off x="15941477" y="-2091562"/>
            <a:ext cx="4693046" cy="4693046"/>
            <a:chOff x="0" y="0"/>
            <a:chExt cx="812800" cy="812800"/>
          </a:xfrm>
        </p:grpSpPr>
        <p:sp>
          <p:nvSpPr>
            <p:cNvPr id="7" name="Freeform 7">
              <a:extLst>
                <a:ext uri="{FF2B5EF4-FFF2-40B4-BE49-F238E27FC236}">
                  <a16:creationId xmlns:a16="http://schemas.microsoft.com/office/drawing/2014/main" id="{6FFA77EC-164A-8B31-F50B-D95464D892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a:extLst>
                <a:ext uri="{FF2B5EF4-FFF2-40B4-BE49-F238E27FC236}">
                  <a16:creationId xmlns:a16="http://schemas.microsoft.com/office/drawing/2014/main" id="{3703A9F1-F19A-1103-B65D-0CC4E237BB5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92F8BFAE-AB52-1028-C948-9DC1E8D4E203}"/>
              </a:ext>
            </a:extLst>
          </p:cNvPr>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cstate="print">
              <a:extLst>
                <a:ext uri="{28A0092B-C50C-407E-A947-70E740481C1C}">
                  <a14:useLocalDpi xmlns:a14="http://schemas.microsoft.com/office/drawing/2010/main" val="0"/>
                </a:ext>
              </a:extLst>
            </a:blip>
            <a:stretch>
              <a:fillRect/>
            </a:stretch>
          </a:blipFill>
          <a:ln w="47625" cap="rnd">
            <a:solidFill>
              <a:srgbClr val="E9E9E9"/>
            </a:solidFill>
            <a:prstDash val="solid"/>
            <a:round/>
          </a:ln>
        </p:spPr>
      </p:sp>
      <p:sp>
        <p:nvSpPr>
          <p:cNvPr id="11" name="Freeform 11">
            <a:extLst>
              <a:ext uri="{FF2B5EF4-FFF2-40B4-BE49-F238E27FC236}">
                <a16:creationId xmlns:a16="http://schemas.microsoft.com/office/drawing/2014/main" id="{617D4EED-DCBF-4134-BEC9-5530D2BDD9D1}"/>
              </a:ext>
            </a:extLst>
          </p:cNvPr>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a:ln w="47625" cap="rnd">
            <a:solidFill>
              <a:srgbClr val="E8E6E6"/>
            </a:solidFill>
            <a:prstDash val="solid"/>
            <a:round/>
          </a:ln>
        </p:spPr>
      </p:sp>
      <p:sp>
        <p:nvSpPr>
          <p:cNvPr id="12" name="Freeform 9">
            <a:extLst>
              <a:ext uri="{FF2B5EF4-FFF2-40B4-BE49-F238E27FC236}">
                <a16:creationId xmlns:a16="http://schemas.microsoft.com/office/drawing/2014/main" id="{A7ABF6FC-8769-7183-83A2-4828ABFF92B2}"/>
              </a:ext>
            </a:extLst>
          </p:cNvPr>
          <p:cNvSpPr/>
          <p:nvPr/>
        </p:nvSpPr>
        <p:spPr>
          <a:xfrm>
            <a:off x="12835661"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cstate="print">
              <a:extLst>
                <a:ext uri="{28A0092B-C50C-407E-A947-70E740481C1C}">
                  <a14:useLocalDpi xmlns:a14="http://schemas.microsoft.com/office/drawing/2010/main" val="0"/>
                </a:ext>
              </a:extLst>
            </a:blip>
            <a:stretch>
              <a:fillRect/>
            </a:stretch>
          </a:blipFill>
          <a:ln w="47625" cap="rnd">
            <a:solidFill>
              <a:srgbClr val="E9E9E9"/>
            </a:solidFill>
            <a:prstDash val="solid"/>
            <a:round/>
          </a:ln>
        </p:spPr>
      </p:sp>
    </p:spTree>
    <p:extLst>
      <p:ext uri="{BB962C8B-B14F-4D97-AF65-F5344CB8AC3E}">
        <p14:creationId xmlns:p14="http://schemas.microsoft.com/office/powerpoint/2010/main" val="4126580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2069" r="-2069"/>
            </a:stretch>
          </a:blipFill>
          <a:ln w="47625" cap="rnd">
            <a:solidFill>
              <a:srgbClr val="E9E9E9"/>
            </a:solidFill>
            <a:prstDash val="solid"/>
            <a:round/>
          </a:ln>
        </p:spPr>
      </p:sp>
      <p:sp>
        <p:nvSpPr>
          <p:cNvPr id="10" name="Freeform 10"/>
          <p:cNvSpPr/>
          <p:nvPr/>
        </p:nvSpPr>
        <p:spPr>
          <a:xfrm>
            <a:off x="12975790"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5"/>
            <a:stretch>
              <a:fillRect l="-3326" r="-3752"/>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6"/>
            <a:stretch>
              <a:fillRect t="-4" b="-4"/>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2411" r="-2411"/>
            </a:stretch>
          </a:blipFill>
          <a:ln w="47625" cap="rnd">
            <a:solidFill>
              <a:srgbClr val="E9E9E9"/>
            </a:solidFill>
            <a:prstDash val="solid"/>
            <a:round/>
          </a:ln>
        </p:spPr>
      </p:sp>
      <p:sp>
        <p:nvSpPr>
          <p:cNvPr id="10" name="Freeform 10"/>
          <p:cNvSpPr/>
          <p:nvPr/>
        </p:nvSpPr>
        <p:spPr>
          <a:xfrm>
            <a:off x="12974342"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5"/>
            <a:stretch>
              <a:fillRect l="-3539" r="-3539"/>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6"/>
            <a:stretch>
              <a:fillRect t="-329" b="-329"/>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3094" r="-3094"/>
            </a:stretch>
          </a:blipFill>
          <a:ln w="95250" cap="rnd">
            <a:solidFill>
              <a:srgbClr val="E9E9E9"/>
            </a:solidFill>
            <a:prstDash val="solid"/>
            <a:round/>
          </a:ln>
        </p:spPr>
      </p:sp>
      <p:sp>
        <p:nvSpPr>
          <p:cNvPr id="10" name="Freeform 10"/>
          <p:cNvSpPr/>
          <p:nvPr/>
        </p:nvSpPr>
        <p:spPr>
          <a:xfrm>
            <a:off x="12974342"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5"/>
            <a:stretch>
              <a:fillRect l="-3884" r="-3884"/>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6"/>
            <a:stretch>
              <a:fillRect t="-9591"/>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2752" r="-2752"/>
            </a:stretch>
          </a:blipFill>
          <a:ln w="47625" cap="rnd">
            <a:solidFill>
              <a:srgbClr val="E9E9E9"/>
            </a:solidFill>
            <a:prstDash val="solid"/>
            <a:round/>
          </a:ln>
        </p:spPr>
      </p:sp>
      <p:sp>
        <p:nvSpPr>
          <p:cNvPr id="10" name="Freeform 10"/>
          <p:cNvSpPr/>
          <p:nvPr/>
        </p:nvSpPr>
        <p:spPr>
          <a:xfrm>
            <a:off x="12974342"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5"/>
            <a:stretch>
              <a:fillRect l="-3366" r="-3366"/>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6"/>
            <a:stretch>
              <a:fillRect l="-481" r="-481"/>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2240" r="-2240"/>
            </a:stretch>
          </a:blipFill>
          <a:ln w="47625" cap="rnd">
            <a:solidFill>
              <a:srgbClr val="E9E9E9"/>
            </a:solidFill>
            <a:prstDash val="solid"/>
            <a:round/>
          </a:ln>
        </p:spPr>
      </p:sp>
      <p:sp>
        <p:nvSpPr>
          <p:cNvPr id="10" name="Freeform 10"/>
          <p:cNvSpPr/>
          <p:nvPr/>
        </p:nvSpPr>
        <p:spPr>
          <a:xfrm>
            <a:off x="12974342"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5"/>
            <a:stretch>
              <a:fillRect l="-3366" r="-3366"/>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6"/>
            <a:stretch>
              <a:fillRect t="-329" b="-329"/>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3678204"/>
            <a:ext cx="9392643" cy="9392643"/>
          </a:xfrm>
          <a:custGeom>
            <a:avLst/>
            <a:gdLst/>
            <a:ahLst/>
            <a:cxnLst/>
            <a:rect l="l" t="t" r="r" b="b"/>
            <a:pathLst>
              <a:path w="9392643" h="9392643">
                <a:moveTo>
                  <a:pt x="0" y="0"/>
                </a:moveTo>
                <a:lnTo>
                  <a:pt x="9392643" y="0"/>
                </a:lnTo>
                <a:lnTo>
                  <a:pt x="9392643" y="9392643"/>
                </a:lnTo>
                <a:lnTo>
                  <a:pt x="0" y="9392643"/>
                </a:lnTo>
                <a:lnTo>
                  <a:pt x="0" y="0"/>
                </a:lnTo>
                <a:close/>
              </a:path>
            </a:pathLst>
          </a:custGeom>
          <a:blipFill>
            <a:blip r:embed="rId2">
              <a:alphaModFix amt="20999"/>
              <a:extLst>
                <a:ext uri="{96DAC541-7B7A-43D3-8B79-37D633B846F1}">
                  <asvg:svgBlip xmlns:asvg="http://schemas.microsoft.com/office/drawing/2016/SVG/main" r:embed="rId3"/>
                </a:ext>
              </a:extLst>
            </a:blip>
            <a:stretch>
              <a:fillRect t="-728" b="-728"/>
            </a:stretch>
          </a:blipFill>
        </p:spPr>
      </p:sp>
      <p:grpSp>
        <p:nvGrpSpPr>
          <p:cNvPr id="3" name="Group 3"/>
          <p:cNvGrpSpPr/>
          <p:nvPr/>
        </p:nvGrpSpPr>
        <p:grpSpPr>
          <a:xfrm>
            <a:off x="-2123887" y="-2346523"/>
            <a:ext cx="4693046" cy="469304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5941477" y="-2091562"/>
            <a:ext cx="4693046" cy="469304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alpha val="32941"/>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442636" y="254962"/>
            <a:ext cx="5033149" cy="9451924"/>
          </a:xfrm>
          <a:custGeom>
            <a:avLst/>
            <a:gdLst/>
            <a:ahLst/>
            <a:cxnLst/>
            <a:rect l="l" t="t" r="r" b="b"/>
            <a:pathLst>
              <a:path w="5033149" h="9451924">
                <a:moveTo>
                  <a:pt x="0" y="0"/>
                </a:moveTo>
                <a:lnTo>
                  <a:pt x="5033149" y="0"/>
                </a:lnTo>
                <a:lnTo>
                  <a:pt x="5033149" y="9451923"/>
                </a:lnTo>
                <a:lnTo>
                  <a:pt x="0" y="9451923"/>
                </a:lnTo>
                <a:lnTo>
                  <a:pt x="0" y="0"/>
                </a:lnTo>
                <a:close/>
              </a:path>
            </a:pathLst>
          </a:custGeom>
          <a:blipFill>
            <a:blip r:embed="rId4"/>
            <a:stretch>
              <a:fillRect l="-2240" r="-2240"/>
            </a:stretch>
          </a:blipFill>
          <a:ln w="47625" cap="rnd">
            <a:solidFill>
              <a:srgbClr val="E9E9E9"/>
            </a:solidFill>
            <a:prstDash val="solid"/>
            <a:round/>
          </a:ln>
        </p:spPr>
      </p:sp>
      <p:sp>
        <p:nvSpPr>
          <p:cNvPr id="10" name="Freeform 10"/>
          <p:cNvSpPr/>
          <p:nvPr/>
        </p:nvSpPr>
        <p:spPr>
          <a:xfrm>
            <a:off x="12974342" y="254962"/>
            <a:ext cx="4975268" cy="9451924"/>
          </a:xfrm>
          <a:custGeom>
            <a:avLst/>
            <a:gdLst/>
            <a:ahLst/>
            <a:cxnLst/>
            <a:rect l="l" t="t" r="r" b="b"/>
            <a:pathLst>
              <a:path w="4975268" h="9451924">
                <a:moveTo>
                  <a:pt x="0" y="0"/>
                </a:moveTo>
                <a:lnTo>
                  <a:pt x="4975268" y="0"/>
                </a:lnTo>
                <a:lnTo>
                  <a:pt x="4975268" y="9451923"/>
                </a:lnTo>
                <a:lnTo>
                  <a:pt x="0" y="9451923"/>
                </a:lnTo>
                <a:lnTo>
                  <a:pt x="0" y="0"/>
                </a:lnTo>
                <a:close/>
              </a:path>
            </a:pathLst>
          </a:custGeom>
          <a:blipFill>
            <a:blip r:embed="rId4"/>
            <a:stretch>
              <a:fillRect l="-2848" r="-2848"/>
            </a:stretch>
          </a:blipFill>
          <a:ln w="47625" cap="rnd">
            <a:solidFill>
              <a:srgbClr val="E8E6E6"/>
            </a:solidFill>
            <a:prstDash val="solid"/>
            <a:round/>
          </a:ln>
        </p:spPr>
      </p:sp>
      <p:sp>
        <p:nvSpPr>
          <p:cNvPr id="11" name="Freeform 11"/>
          <p:cNvSpPr/>
          <p:nvPr/>
        </p:nvSpPr>
        <p:spPr>
          <a:xfrm>
            <a:off x="6569712" y="254962"/>
            <a:ext cx="5310703" cy="9451924"/>
          </a:xfrm>
          <a:custGeom>
            <a:avLst/>
            <a:gdLst/>
            <a:ahLst/>
            <a:cxnLst/>
            <a:rect l="l" t="t" r="r" b="b"/>
            <a:pathLst>
              <a:path w="5310703" h="9451924">
                <a:moveTo>
                  <a:pt x="0" y="0"/>
                </a:moveTo>
                <a:lnTo>
                  <a:pt x="5310703" y="0"/>
                </a:lnTo>
                <a:lnTo>
                  <a:pt x="5310703" y="9451923"/>
                </a:lnTo>
                <a:lnTo>
                  <a:pt x="0" y="9451923"/>
                </a:lnTo>
                <a:lnTo>
                  <a:pt x="0" y="0"/>
                </a:lnTo>
                <a:close/>
              </a:path>
            </a:pathLst>
          </a:custGeom>
          <a:blipFill>
            <a:blip r:embed="rId5"/>
            <a:stretch>
              <a:fillRect l="-481" r="-481"/>
            </a:stretch>
          </a:blipFill>
          <a:ln w="47625" cap="rnd">
            <a:solidFill>
              <a:srgbClr val="E8E6E6"/>
            </a:solidFill>
            <a:prstDash val="solid"/>
            <a:roun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64346" y="-3253914"/>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grpSp>
        <p:nvGrpSpPr>
          <p:cNvPr id="6" name="Group 6"/>
          <p:cNvGrpSpPr>
            <a:grpSpLocks noChangeAspect="1"/>
          </p:cNvGrpSpPr>
          <p:nvPr/>
        </p:nvGrpSpPr>
        <p:grpSpPr>
          <a:xfrm>
            <a:off x="6875230" y="2017711"/>
            <a:ext cx="10899076" cy="6251578"/>
            <a:chOff x="0" y="0"/>
            <a:chExt cx="7981950" cy="4578350"/>
          </a:xfrm>
        </p:grpSpPr>
        <p:sp>
          <p:nvSpPr>
            <p:cNvPr id="7" name="Freeform 7"/>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8" name="Freeform 8"/>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9" name="Freeform 9"/>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0" name="Freeform 10"/>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1" name="Freeform 11"/>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t="-24300" b="-35484"/>
              </a:stretch>
            </a:blipFill>
          </p:spPr>
        </p:sp>
      </p:grpSp>
      <p:sp>
        <p:nvSpPr>
          <p:cNvPr id="12" name="TextBox 12"/>
          <p:cNvSpPr txBox="1"/>
          <p:nvPr/>
        </p:nvSpPr>
        <p:spPr>
          <a:xfrm>
            <a:off x="430355" y="3803279"/>
            <a:ext cx="7015797" cy="2396041"/>
          </a:xfrm>
          <a:prstGeom prst="rect">
            <a:avLst/>
          </a:prstGeom>
        </p:spPr>
        <p:txBody>
          <a:bodyPr wrap="square" lIns="0" tIns="0" rIns="0" bIns="0" rtlCol="0" anchor="t">
            <a:spAutoFit/>
          </a:bodyPr>
          <a:lstStyle/>
          <a:p>
            <a:pPr algn="ctr">
              <a:lnSpc>
                <a:spcPts val="9684"/>
              </a:lnSpc>
              <a:spcBef>
                <a:spcPct val="0"/>
              </a:spcBef>
            </a:pPr>
            <a:r>
              <a:rPr lang="en-US" sz="6917" b="1" dirty="0">
                <a:solidFill>
                  <a:srgbClr val="00569E"/>
                </a:solidFill>
                <a:latin typeface="Montserrat Bold"/>
                <a:ea typeface="Montserrat Bold"/>
                <a:cs typeface="Montserrat Bold"/>
                <a:sym typeface="Montserrat Bold"/>
              </a:rPr>
              <a:t>ARTIFICIAL INTELLIGENCE</a:t>
            </a:r>
          </a:p>
        </p:txBody>
      </p:sp>
      <p:sp>
        <p:nvSpPr>
          <p:cNvPr id="13" name="TextBox 13"/>
          <p:cNvSpPr txBox="1"/>
          <p:nvPr/>
        </p:nvSpPr>
        <p:spPr>
          <a:xfrm>
            <a:off x="3087024" y="3707701"/>
            <a:ext cx="9525" cy="523875"/>
          </a:xfrm>
          <a:prstGeom prst="rect">
            <a:avLst/>
          </a:prstGeom>
        </p:spPr>
        <p:txBody>
          <a:bodyPr lIns="0" tIns="0" rIns="0" bIns="0" rtlCol="0" anchor="t">
            <a:spAutoFit/>
          </a:bodyPr>
          <a:lstStyle/>
          <a:p>
            <a:pPr algn="ctr" rtl="1">
              <a:lnSpc>
                <a:spcPts val="4200"/>
              </a:lnSpc>
            </a:pPr>
            <a:endParaRPr/>
          </a:p>
        </p:txBody>
      </p:sp>
      <p:sp>
        <p:nvSpPr>
          <p:cNvPr id="14" name="TextBox 14"/>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grpSp>
        <p:nvGrpSpPr>
          <p:cNvPr id="15" name="Group 15"/>
          <p:cNvGrpSpPr/>
          <p:nvPr/>
        </p:nvGrpSpPr>
        <p:grpSpPr>
          <a:xfrm>
            <a:off x="16956011" y="-3664346"/>
            <a:ext cx="4693046" cy="4693046"/>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3664346" y="8955450"/>
            <a:ext cx="4693046" cy="469304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7259300" y="8955450"/>
            <a:ext cx="4693046" cy="4693046"/>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83958" y="-3060104"/>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9089" y="7355961"/>
            <a:ext cx="3175402" cy="2384089"/>
            <a:chOff x="0" y="0"/>
            <a:chExt cx="836320" cy="627908"/>
          </a:xfrm>
        </p:grpSpPr>
        <p:sp>
          <p:nvSpPr>
            <p:cNvPr id="6" name="Freeform 6"/>
            <p:cNvSpPr/>
            <p:nvPr/>
          </p:nvSpPr>
          <p:spPr>
            <a:xfrm>
              <a:off x="0" y="0"/>
              <a:ext cx="836320" cy="627908"/>
            </a:xfrm>
            <a:custGeom>
              <a:avLst/>
              <a:gdLst/>
              <a:ahLst/>
              <a:cxnLst/>
              <a:rect l="l" t="t" r="r" b="b"/>
              <a:pathLst>
                <a:path w="836320" h="627908">
                  <a:moveTo>
                    <a:pt x="418160" y="0"/>
                  </a:moveTo>
                  <a:cubicBezTo>
                    <a:pt x="187217" y="0"/>
                    <a:pt x="0" y="140562"/>
                    <a:pt x="0" y="313954"/>
                  </a:cubicBezTo>
                  <a:cubicBezTo>
                    <a:pt x="0" y="487346"/>
                    <a:pt x="187217" y="627908"/>
                    <a:pt x="418160" y="627908"/>
                  </a:cubicBezTo>
                  <a:cubicBezTo>
                    <a:pt x="649103" y="627908"/>
                    <a:pt x="836320" y="487346"/>
                    <a:pt x="836320" y="313954"/>
                  </a:cubicBezTo>
                  <a:cubicBezTo>
                    <a:pt x="836320" y="140562"/>
                    <a:pt x="649103" y="0"/>
                    <a:pt x="418160" y="0"/>
                  </a:cubicBezTo>
                  <a:close/>
                </a:path>
              </a:pathLst>
            </a:custGeom>
            <a:gradFill rotWithShape="1">
              <a:gsLst>
                <a:gs pos="0">
                  <a:srgbClr val="CDFFD8">
                    <a:alpha val="100000"/>
                  </a:srgbClr>
                </a:gs>
                <a:gs pos="100000">
                  <a:srgbClr val="94B9FF">
                    <a:alpha val="100000"/>
                  </a:srgbClr>
                </a:gs>
              </a:gsLst>
              <a:lin ang="0"/>
            </a:gradFill>
          </p:spPr>
        </p:sp>
        <p:sp>
          <p:nvSpPr>
            <p:cNvPr id="7" name="TextBox 7"/>
            <p:cNvSpPr txBox="1"/>
            <p:nvPr/>
          </p:nvSpPr>
          <p:spPr>
            <a:xfrm>
              <a:off x="78405" y="20766"/>
              <a:ext cx="679510" cy="54827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125317" y="7355961"/>
            <a:ext cx="2742326" cy="2384089"/>
            <a:chOff x="0" y="0"/>
            <a:chExt cx="722259" cy="627908"/>
          </a:xfrm>
        </p:grpSpPr>
        <p:sp>
          <p:nvSpPr>
            <p:cNvPr id="9" name="Freeform 9"/>
            <p:cNvSpPr/>
            <p:nvPr/>
          </p:nvSpPr>
          <p:spPr>
            <a:xfrm>
              <a:off x="0" y="0"/>
              <a:ext cx="722259" cy="627908"/>
            </a:xfrm>
            <a:custGeom>
              <a:avLst/>
              <a:gdLst/>
              <a:ahLst/>
              <a:cxnLst/>
              <a:rect l="l" t="t" r="r" b="b"/>
              <a:pathLst>
                <a:path w="722259" h="627908">
                  <a:moveTo>
                    <a:pt x="361129" y="0"/>
                  </a:moveTo>
                  <a:cubicBezTo>
                    <a:pt x="161683" y="0"/>
                    <a:pt x="0" y="140562"/>
                    <a:pt x="0" y="313954"/>
                  </a:cubicBezTo>
                  <a:cubicBezTo>
                    <a:pt x="0" y="487346"/>
                    <a:pt x="161683" y="627908"/>
                    <a:pt x="361129" y="627908"/>
                  </a:cubicBezTo>
                  <a:cubicBezTo>
                    <a:pt x="560576" y="627908"/>
                    <a:pt x="722259" y="487346"/>
                    <a:pt x="722259" y="313954"/>
                  </a:cubicBezTo>
                  <a:cubicBezTo>
                    <a:pt x="722259" y="140562"/>
                    <a:pt x="560576" y="0"/>
                    <a:pt x="361129" y="0"/>
                  </a:cubicBezTo>
                  <a:close/>
                </a:path>
              </a:pathLst>
            </a:custGeom>
            <a:gradFill rotWithShape="1">
              <a:gsLst>
                <a:gs pos="0">
                  <a:srgbClr val="CDFFD8">
                    <a:alpha val="100000"/>
                  </a:srgbClr>
                </a:gs>
                <a:gs pos="100000">
                  <a:srgbClr val="94B9FF">
                    <a:alpha val="100000"/>
                  </a:srgbClr>
                </a:gs>
              </a:gsLst>
              <a:lin ang="0"/>
            </a:gradFill>
          </p:spPr>
        </p:sp>
        <p:sp>
          <p:nvSpPr>
            <p:cNvPr id="10" name="TextBox 10"/>
            <p:cNvSpPr txBox="1"/>
            <p:nvPr/>
          </p:nvSpPr>
          <p:spPr>
            <a:xfrm>
              <a:off x="67712" y="20766"/>
              <a:ext cx="586835" cy="54827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249642" y="7355961"/>
            <a:ext cx="2761865" cy="2381325"/>
            <a:chOff x="0" y="0"/>
            <a:chExt cx="727405" cy="627180"/>
          </a:xfrm>
        </p:grpSpPr>
        <p:sp>
          <p:nvSpPr>
            <p:cNvPr id="12" name="Freeform 12"/>
            <p:cNvSpPr/>
            <p:nvPr/>
          </p:nvSpPr>
          <p:spPr>
            <a:xfrm>
              <a:off x="0" y="0"/>
              <a:ext cx="727405" cy="627180"/>
            </a:xfrm>
            <a:custGeom>
              <a:avLst/>
              <a:gdLst/>
              <a:ahLst/>
              <a:cxnLst/>
              <a:rect l="l" t="t" r="r" b="b"/>
              <a:pathLst>
                <a:path w="727405" h="627180">
                  <a:moveTo>
                    <a:pt x="363702" y="0"/>
                  </a:moveTo>
                  <a:cubicBezTo>
                    <a:pt x="162835" y="0"/>
                    <a:pt x="0" y="140399"/>
                    <a:pt x="0" y="313590"/>
                  </a:cubicBezTo>
                  <a:cubicBezTo>
                    <a:pt x="0" y="486781"/>
                    <a:pt x="162835" y="627180"/>
                    <a:pt x="363702" y="627180"/>
                  </a:cubicBezTo>
                  <a:cubicBezTo>
                    <a:pt x="564570" y="627180"/>
                    <a:pt x="727405" y="486781"/>
                    <a:pt x="727405" y="313590"/>
                  </a:cubicBezTo>
                  <a:cubicBezTo>
                    <a:pt x="727405" y="140399"/>
                    <a:pt x="564570" y="0"/>
                    <a:pt x="363702" y="0"/>
                  </a:cubicBezTo>
                  <a:close/>
                </a:path>
              </a:pathLst>
            </a:custGeom>
            <a:gradFill rotWithShape="1">
              <a:gsLst>
                <a:gs pos="0">
                  <a:srgbClr val="CDFFD8">
                    <a:alpha val="100000"/>
                  </a:srgbClr>
                </a:gs>
                <a:gs pos="100000">
                  <a:srgbClr val="94B9FF">
                    <a:alpha val="100000"/>
                  </a:srgbClr>
                </a:gs>
              </a:gsLst>
              <a:lin ang="0"/>
            </a:gradFill>
          </p:spPr>
        </p:sp>
        <p:sp>
          <p:nvSpPr>
            <p:cNvPr id="13" name="TextBox 13"/>
            <p:cNvSpPr txBox="1"/>
            <p:nvPr/>
          </p:nvSpPr>
          <p:spPr>
            <a:xfrm>
              <a:off x="68194" y="20698"/>
              <a:ext cx="591016" cy="547684"/>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448264" y="7298899"/>
            <a:ext cx="3428522" cy="2499862"/>
            <a:chOff x="0" y="0"/>
            <a:chExt cx="902985" cy="658400"/>
          </a:xfrm>
        </p:grpSpPr>
        <p:sp>
          <p:nvSpPr>
            <p:cNvPr id="15" name="Freeform 15"/>
            <p:cNvSpPr/>
            <p:nvPr/>
          </p:nvSpPr>
          <p:spPr>
            <a:xfrm>
              <a:off x="0" y="0"/>
              <a:ext cx="902985" cy="658400"/>
            </a:xfrm>
            <a:custGeom>
              <a:avLst/>
              <a:gdLst/>
              <a:ahLst/>
              <a:cxnLst/>
              <a:rect l="l" t="t" r="r" b="b"/>
              <a:pathLst>
                <a:path w="902985" h="658400">
                  <a:moveTo>
                    <a:pt x="451493" y="0"/>
                  </a:moveTo>
                  <a:cubicBezTo>
                    <a:pt x="202140" y="0"/>
                    <a:pt x="0" y="147388"/>
                    <a:pt x="0" y="329200"/>
                  </a:cubicBezTo>
                  <a:cubicBezTo>
                    <a:pt x="0" y="511012"/>
                    <a:pt x="202140" y="658400"/>
                    <a:pt x="451493" y="658400"/>
                  </a:cubicBezTo>
                  <a:cubicBezTo>
                    <a:pt x="700845" y="658400"/>
                    <a:pt x="902985" y="511012"/>
                    <a:pt x="902985" y="329200"/>
                  </a:cubicBezTo>
                  <a:cubicBezTo>
                    <a:pt x="902985" y="147388"/>
                    <a:pt x="700845" y="0"/>
                    <a:pt x="451493" y="0"/>
                  </a:cubicBezTo>
                  <a:close/>
                </a:path>
              </a:pathLst>
            </a:custGeom>
            <a:gradFill rotWithShape="1">
              <a:gsLst>
                <a:gs pos="0">
                  <a:srgbClr val="CDFFD8">
                    <a:alpha val="100000"/>
                  </a:srgbClr>
                </a:gs>
                <a:gs pos="100000">
                  <a:srgbClr val="94B9FF">
                    <a:alpha val="100000"/>
                  </a:srgbClr>
                </a:gs>
              </a:gsLst>
              <a:lin ang="0"/>
            </a:gradFill>
          </p:spPr>
        </p:sp>
        <p:sp>
          <p:nvSpPr>
            <p:cNvPr id="16" name="TextBox 16"/>
            <p:cNvSpPr txBox="1"/>
            <p:nvPr/>
          </p:nvSpPr>
          <p:spPr>
            <a:xfrm>
              <a:off x="84655" y="23625"/>
              <a:ext cx="733675" cy="5730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892127" y="2568337"/>
            <a:ext cx="6639958" cy="3481266"/>
            <a:chOff x="0" y="0"/>
            <a:chExt cx="1105979" cy="579854"/>
          </a:xfrm>
        </p:grpSpPr>
        <p:sp>
          <p:nvSpPr>
            <p:cNvPr id="18" name="Freeform 18"/>
            <p:cNvSpPr/>
            <p:nvPr/>
          </p:nvSpPr>
          <p:spPr>
            <a:xfrm>
              <a:off x="0" y="0"/>
              <a:ext cx="1105979" cy="579854"/>
            </a:xfrm>
            <a:custGeom>
              <a:avLst/>
              <a:gdLst/>
              <a:ahLst/>
              <a:cxnLst/>
              <a:rect l="l" t="t" r="r" b="b"/>
              <a:pathLst>
                <a:path w="1105979" h="579854">
                  <a:moveTo>
                    <a:pt x="55309" y="0"/>
                  </a:moveTo>
                  <a:lnTo>
                    <a:pt x="1050670" y="0"/>
                  </a:lnTo>
                  <a:cubicBezTo>
                    <a:pt x="1065339" y="0"/>
                    <a:pt x="1079407" y="5827"/>
                    <a:pt x="1089779" y="16200"/>
                  </a:cubicBezTo>
                  <a:cubicBezTo>
                    <a:pt x="1100152" y="26572"/>
                    <a:pt x="1105979" y="40640"/>
                    <a:pt x="1105979" y="55309"/>
                  </a:cubicBezTo>
                  <a:lnTo>
                    <a:pt x="1105979" y="524545"/>
                  </a:lnTo>
                  <a:cubicBezTo>
                    <a:pt x="1105979" y="539214"/>
                    <a:pt x="1100152" y="553282"/>
                    <a:pt x="1089779" y="563654"/>
                  </a:cubicBezTo>
                  <a:cubicBezTo>
                    <a:pt x="1079407" y="574027"/>
                    <a:pt x="1065339" y="579854"/>
                    <a:pt x="1050670" y="579854"/>
                  </a:cubicBezTo>
                  <a:lnTo>
                    <a:pt x="55309" y="579854"/>
                  </a:lnTo>
                  <a:cubicBezTo>
                    <a:pt x="40640" y="579854"/>
                    <a:pt x="26572" y="574027"/>
                    <a:pt x="16200" y="563654"/>
                  </a:cubicBezTo>
                  <a:cubicBezTo>
                    <a:pt x="5827" y="553282"/>
                    <a:pt x="0" y="539214"/>
                    <a:pt x="0" y="524545"/>
                  </a:cubicBezTo>
                  <a:lnTo>
                    <a:pt x="0" y="55309"/>
                  </a:lnTo>
                  <a:cubicBezTo>
                    <a:pt x="0" y="40640"/>
                    <a:pt x="5827" y="26572"/>
                    <a:pt x="16200" y="16200"/>
                  </a:cubicBezTo>
                  <a:cubicBezTo>
                    <a:pt x="26572" y="5827"/>
                    <a:pt x="40640" y="0"/>
                    <a:pt x="55309" y="0"/>
                  </a:cubicBezTo>
                  <a:close/>
                </a:path>
              </a:pathLst>
            </a:custGeom>
            <a:blipFill>
              <a:blip r:embed="rId2"/>
              <a:stretch>
                <a:fillRect t="-13578" b="-13578"/>
              </a:stretch>
            </a:blipFill>
          </p:spPr>
        </p:sp>
      </p:grpSp>
      <p:sp>
        <p:nvSpPr>
          <p:cNvPr id="19" name="TextBox 19"/>
          <p:cNvSpPr txBox="1"/>
          <p:nvPr/>
        </p:nvSpPr>
        <p:spPr>
          <a:xfrm>
            <a:off x="8110538" y="1275098"/>
            <a:ext cx="9525" cy="639489"/>
          </a:xfrm>
          <a:prstGeom prst="rect">
            <a:avLst/>
          </a:prstGeom>
        </p:spPr>
        <p:txBody>
          <a:bodyPr lIns="0" tIns="0" rIns="0" bIns="0" rtlCol="0" anchor="t">
            <a:spAutoFit/>
          </a:bodyPr>
          <a:lstStyle/>
          <a:p>
            <a:pPr algn="ctr">
              <a:lnSpc>
                <a:spcPts val="5179"/>
              </a:lnSpc>
            </a:pPr>
            <a:endParaRPr/>
          </a:p>
        </p:txBody>
      </p:sp>
      <p:sp>
        <p:nvSpPr>
          <p:cNvPr id="20" name="TextBox 20"/>
          <p:cNvSpPr txBox="1"/>
          <p:nvPr/>
        </p:nvSpPr>
        <p:spPr>
          <a:xfrm>
            <a:off x="2546611" y="49545"/>
            <a:ext cx="13194778" cy="675899"/>
          </a:xfrm>
          <a:prstGeom prst="rect">
            <a:avLst/>
          </a:prstGeom>
        </p:spPr>
        <p:txBody>
          <a:bodyPr lIns="0" tIns="0" rIns="0" bIns="0" rtlCol="0" anchor="t">
            <a:spAutoFit/>
          </a:bodyPr>
          <a:lstStyle/>
          <a:p>
            <a:pPr algn="ctr" rtl="1">
              <a:lnSpc>
                <a:spcPts val="5549"/>
              </a:lnSpc>
            </a:pPr>
            <a:endParaRPr/>
          </a:p>
        </p:txBody>
      </p:sp>
      <p:sp>
        <p:nvSpPr>
          <p:cNvPr id="21" name="TextBox 21"/>
          <p:cNvSpPr txBox="1"/>
          <p:nvPr/>
        </p:nvSpPr>
        <p:spPr>
          <a:xfrm>
            <a:off x="7703049" y="6028838"/>
            <a:ext cx="9525" cy="887077"/>
          </a:xfrm>
          <a:prstGeom prst="rect">
            <a:avLst/>
          </a:prstGeom>
        </p:spPr>
        <p:txBody>
          <a:bodyPr lIns="0" tIns="0" rIns="0" bIns="0" rtlCol="0" anchor="t">
            <a:spAutoFit/>
          </a:bodyPr>
          <a:lstStyle/>
          <a:p>
            <a:pPr algn="ctr" rtl="1">
              <a:lnSpc>
                <a:spcPts val="7279"/>
              </a:lnSpc>
            </a:pPr>
            <a:endParaRPr/>
          </a:p>
        </p:txBody>
      </p:sp>
      <p:sp>
        <p:nvSpPr>
          <p:cNvPr id="22" name="TextBox 22"/>
          <p:cNvSpPr txBox="1"/>
          <p:nvPr/>
        </p:nvSpPr>
        <p:spPr>
          <a:xfrm>
            <a:off x="7703049" y="7368649"/>
            <a:ext cx="5187" cy="478878"/>
          </a:xfrm>
          <a:prstGeom prst="rect">
            <a:avLst/>
          </a:prstGeom>
        </p:spPr>
        <p:txBody>
          <a:bodyPr lIns="0" tIns="0" rIns="0" bIns="0" rtlCol="0" anchor="t">
            <a:spAutoFit/>
          </a:bodyPr>
          <a:lstStyle/>
          <a:p>
            <a:pPr algn="ctr" rtl="1">
              <a:lnSpc>
                <a:spcPts val="3964"/>
              </a:lnSpc>
            </a:pPr>
            <a:endParaRPr/>
          </a:p>
        </p:txBody>
      </p:sp>
      <p:sp>
        <p:nvSpPr>
          <p:cNvPr id="23" name="TextBox 23"/>
          <p:cNvSpPr txBox="1"/>
          <p:nvPr/>
        </p:nvSpPr>
        <p:spPr>
          <a:xfrm>
            <a:off x="2355857" y="342900"/>
            <a:ext cx="13194778" cy="778512"/>
          </a:xfrm>
          <a:prstGeom prst="rect">
            <a:avLst/>
          </a:prstGeom>
        </p:spPr>
        <p:txBody>
          <a:bodyPr lIns="0" tIns="0" rIns="0" bIns="0" rtlCol="0" anchor="t">
            <a:spAutoFit/>
          </a:bodyPr>
          <a:lstStyle/>
          <a:p>
            <a:pPr algn="ctr" rtl="1">
              <a:lnSpc>
                <a:spcPts val="6439"/>
              </a:lnSpc>
              <a:spcBef>
                <a:spcPct val="0"/>
              </a:spcBef>
            </a:pPr>
            <a:r>
              <a:rPr lang="en-US" sz="4599" b="1" dirty="0">
                <a:solidFill>
                  <a:srgbClr val="00569E"/>
                </a:solidFill>
                <a:latin typeface="Montserrat Bold"/>
                <a:ea typeface="Montserrat Bold"/>
                <a:cs typeface="Montserrat Bold"/>
                <a:sym typeface="Montserrat Bold"/>
              </a:rPr>
              <a:t>AI Model –  CNN 1D for Audio Classification</a:t>
            </a:r>
            <a:r>
              <a:rPr lang="ar-EG" sz="4599" b="1" dirty="0">
                <a:solidFill>
                  <a:srgbClr val="00569E"/>
                </a:solidFill>
                <a:latin typeface="Montserrat Bold"/>
                <a:ea typeface="Montserrat Bold"/>
                <a:cs typeface="Montserrat Bold"/>
                <a:sym typeface="Montserrat Bold"/>
                <a:rtl/>
              </a:rPr>
              <a:t> </a:t>
            </a:r>
          </a:p>
        </p:txBody>
      </p:sp>
      <p:sp>
        <p:nvSpPr>
          <p:cNvPr id="24" name="TextBox 24"/>
          <p:cNvSpPr txBox="1"/>
          <p:nvPr/>
        </p:nvSpPr>
        <p:spPr>
          <a:xfrm>
            <a:off x="507335" y="1350278"/>
            <a:ext cx="16891821" cy="1688347"/>
          </a:xfrm>
          <a:prstGeom prst="rect">
            <a:avLst/>
          </a:prstGeom>
        </p:spPr>
        <p:txBody>
          <a:bodyPr wrap="square" lIns="0" tIns="0" rIns="0" bIns="0" rtlCol="0" anchor="t">
            <a:spAutoFit/>
          </a:bodyPr>
          <a:lstStyle/>
          <a:p>
            <a:pPr algn="just">
              <a:lnSpc>
                <a:spcPts val="4479"/>
              </a:lnSpc>
              <a:spcBef>
                <a:spcPct val="0"/>
              </a:spcBef>
            </a:pPr>
            <a:r>
              <a:rPr lang="en-US" sz="3199" dirty="0">
                <a:solidFill>
                  <a:srgbClr val="00569E"/>
                </a:solidFill>
                <a:latin typeface="Montserrat"/>
                <a:ea typeface="Montserrat"/>
                <a:cs typeface="Montserrat"/>
                <a:sym typeface="Montserrat"/>
              </a:rPr>
              <a:t>I used the CNN 1D Model, which was trained on recordings of infant cries, to determine the baby's condition and help mothers understand how to handle their baby based on the sounds the baby makes.</a:t>
            </a:r>
          </a:p>
        </p:txBody>
      </p:sp>
      <p:sp>
        <p:nvSpPr>
          <p:cNvPr id="25" name="TextBox 25"/>
          <p:cNvSpPr txBox="1"/>
          <p:nvPr/>
        </p:nvSpPr>
        <p:spPr>
          <a:xfrm>
            <a:off x="900252" y="6192917"/>
            <a:ext cx="16230600" cy="1110032"/>
          </a:xfrm>
          <a:prstGeom prst="rect">
            <a:avLst/>
          </a:prstGeom>
        </p:spPr>
        <p:txBody>
          <a:bodyPr lIns="0" tIns="0" rIns="0" bIns="0" rtlCol="0" anchor="t">
            <a:spAutoFit/>
          </a:bodyPr>
          <a:lstStyle/>
          <a:p>
            <a:pPr algn="just">
              <a:lnSpc>
                <a:spcPts val="4446"/>
              </a:lnSpc>
              <a:spcBef>
                <a:spcPct val="0"/>
              </a:spcBef>
            </a:pPr>
            <a:r>
              <a:rPr lang="en-US" sz="3176" dirty="0">
                <a:solidFill>
                  <a:srgbClr val="00569E"/>
                </a:solidFill>
                <a:latin typeface="Montserrat"/>
                <a:ea typeface="Montserrat"/>
                <a:cs typeface="Montserrat"/>
                <a:sym typeface="Montserrat"/>
              </a:rPr>
              <a:t>The dataset consists of 500 infant cry recordings and is balanced. It is consists of 5 classes :</a:t>
            </a:r>
          </a:p>
        </p:txBody>
      </p:sp>
      <p:sp>
        <p:nvSpPr>
          <p:cNvPr id="26" name="TextBox 26"/>
          <p:cNvSpPr txBox="1"/>
          <p:nvPr/>
        </p:nvSpPr>
        <p:spPr>
          <a:xfrm>
            <a:off x="816987" y="8096041"/>
            <a:ext cx="2759606" cy="646431"/>
          </a:xfrm>
          <a:prstGeom prst="rect">
            <a:avLst/>
          </a:prstGeom>
        </p:spPr>
        <p:txBody>
          <a:bodyPr lIns="0" tIns="0" rIns="0" bIns="0" rtlCol="0" anchor="t">
            <a:spAutoFit/>
          </a:bodyPr>
          <a:lstStyle/>
          <a:p>
            <a:pPr algn="ctr">
              <a:lnSpc>
                <a:spcPts val="5319"/>
              </a:lnSpc>
              <a:spcBef>
                <a:spcPct val="0"/>
              </a:spcBef>
            </a:pPr>
            <a:r>
              <a:rPr lang="en-US" sz="3799">
                <a:solidFill>
                  <a:srgbClr val="00569E"/>
                </a:solidFill>
                <a:latin typeface="Montserrat"/>
                <a:ea typeface="Montserrat"/>
                <a:cs typeface="Montserrat"/>
                <a:sym typeface="Montserrat"/>
              </a:rPr>
              <a:t>Discomfort</a:t>
            </a:r>
          </a:p>
        </p:txBody>
      </p:sp>
      <p:sp>
        <p:nvSpPr>
          <p:cNvPr id="27" name="TextBox 27"/>
          <p:cNvSpPr txBox="1"/>
          <p:nvPr/>
        </p:nvSpPr>
        <p:spPr>
          <a:xfrm>
            <a:off x="7076184" y="8072721"/>
            <a:ext cx="3108783" cy="771373"/>
          </a:xfrm>
          <a:prstGeom prst="rect">
            <a:avLst/>
          </a:prstGeom>
        </p:spPr>
        <p:txBody>
          <a:bodyPr lIns="0" tIns="0" rIns="0" bIns="0" rtlCol="0" anchor="t">
            <a:spAutoFit/>
          </a:bodyPr>
          <a:lstStyle/>
          <a:p>
            <a:pPr algn="ctr">
              <a:lnSpc>
                <a:spcPts val="6310"/>
              </a:lnSpc>
              <a:spcBef>
                <a:spcPct val="0"/>
              </a:spcBef>
            </a:pPr>
            <a:r>
              <a:rPr lang="en-US" sz="4507">
                <a:solidFill>
                  <a:srgbClr val="00569E"/>
                </a:solidFill>
                <a:latin typeface="Montserrat"/>
                <a:ea typeface="Montserrat"/>
                <a:cs typeface="Montserrat"/>
                <a:sym typeface="Montserrat"/>
              </a:rPr>
              <a:t>Tired</a:t>
            </a:r>
          </a:p>
        </p:txBody>
      </p:sp>
      <p:sp>
        <p:nvSpPr>
          <p:cNvPr id="28" name="TextBox 28"/>
          <p:cNvSpPr txBox="1"/>
          <p:nvPr/>
        </p:nvSpPr>
        <p:spPr>
          <a:xfrm>
            <a:off x="3916775" y="8067153"/>
            <a:ext cx="3159408" cy="704208"/>
          </a:xfrm>
          <a:prstGeom prst="rect">
            <a:avLst/>
          </a:prstGeom>
        </p:spPr>
        <p:txBody>
          <a:bodyPr lIns="0" tIns="0" rIns="0" bIns="0" rtlCol="0" anchor="t">
            <a:spAutoFit/>
          </a:bodyPr>
          <a:lstStyle/>
          <a:p>
            <a:pPr algn="ctr">
              <a:lnSpc>
                <a:spcPts val="5811"/>
              </a:lnSpc>
              <a:spcBef>
                <a:spcPct val="0"/>
              </a:spcBef>
            </a:pPr>
            <a:r>
              <a:rPr lang="en-US" sz="4151">
                <a:solidFill>
                  <a:srgbClr val="00569E"/>
                </a:solidFill>
                <a:latin typeface="Montserrat"/>
                <a:ea typeface="Montserrat"/>
                <a:cs typeface="Montserrat"/>
                <a:sym typeface="Montserrat"/>
              </a:rPr>
              <a:t>Hungry</a:t>
            </a:r>
          </a:p>
        </p:txBody>
      </p:sp>
      <p:sp>
        <p:nvSpPr>
          <p:cNvPr id="29" name="TextBox 29"/>
          <p:cNvSpPr txBox="1"/>
          <p:nvPr/>
        </p:nvSpPr>
        <p:spPr>
          <a:xfrm>
            <a:off x="10697659" y="8086471"/>
            <a:ext cx="3169602" cy="795641"/>
          </a:xfrm>
          <a:prstGeom prst="rect">
            <a:avLst/>
          </a:prstGeom>
        </p:spPr>
        <p:txBody>
          <a:bodyPr lIns="0" tIns="0" rIns="0" bIns="0" rtlCol="0" anchor="t">
            <a:spAutoFit/>
          </a:bodyPr>
          <a:lstStyle/>
          <a:p>
            <a:pPr algn="ctr">
              <a:lnSpc>
                <a:spcPts val="6547"/>
              </a:lnSpc>
              <a:spcBef>
                <a:spcPct val="0"/>
              </a:spcBef>
            </a:pPr>
            <a:r>
              <a:rPr lang="en-US" sz="4676">
                <a:solidFill>
                  <a:srgbClr val="00569E"/>
                </a:solidFill>
                <a:latin typeface="Montserrat"/>
                <a:ea typeface="Montserrat"/>
                <a:cs typeface="Montserrat"/>
                <a:sym typeface="Montserrat"/>
              </a:rPr>
              <a:t>Belly pain </a:t>
            </a:r>
          </a:p>
        </p:txBody>
      </p:sp>
      <p:grpSp>
        <p:nvGrpSpPr>
          <p:cNvPr id="30" name="Group 30"/>
          <p:cNvGrpSpPr/>
          <p:nvPr/>
        </p:nvGrpSpPr>
        <p:grpSpPr>
          <a:xfrm>
            <a:off x="14298606" y="7355961"/>
            <a:ext cx="3233479" cy="2484504"/>
            <a:chOff x="0" y="0"/>
            <a:chExt cx="851616" cy="654355"/>
          </a:xfrm>
        </p:grpSpPr>
        <p:sp>
          <p:nvSpPr>
            <p:cNvPr id="31" name="Freeform 31"/>
            <p:cNvSpPr/>
            <p:nvPr/>
          </p:nvSpPr>
          <p:spPr>
            <a:xfrm>
              <a:off x="0" y="0"/>
              <a:ext cx="851616" cy="654355"/>
            </a:xfrm>
            <a:custGeom>
              <a:avLst/>
              <a:gdLst/>
              <a:ahLst/>
              <a:cxnLst/>
              <a:rect l="l" t="t" r="r" b="b"/>
              <a:pathLst>
                <a:path w="851616" h="654355">
                  <a:moveTo>
                    <a:pt x="425808" y="0"/>
                  </a:moveTo>
                  <a:cubicBezTo>
                    <a:pt x="190641" y="0"/>
                    <a:pt x="0" y="146482"/>
                    <a:pt x="0" y="327178"/>
                  </a:cubicBezTo>
                  <a:cubicBezTo>
                    <a:pt x="0" y="507873"/>
                    <a:pt x="190641" y="654355"/>
                    <a:pt x="425808" y="654355"/>
                  </a:cubicBezTo>
                  <a:cubicBezTo>
                    <a:pt x="660975" y="654355"/>
                    <a:pt x="851616" y="507873"/>
                    <a:pt x="851616" y="327178"/>
                  </a:cubicBezTo>
                  <a:cubicBezTo>
                    <a:pt x="851616" y="146482"/>
                    <a:pt x="660975" y="0"/>
                    <a:pt x="425808" y="0"/>
                  </a:cubicBezTo>
                  <a:close/>
                </a:path>
              </a:pathLst>
            </a:custGeom>
            <a:gradFill rotWithShape="1">
              <a:gsLst>
                <a:gs pos="0">
                  <a:srgbClr val="CDFFD8">
                    <a:alpha val="100000"/>
                  </a:srgbClr>
                </a:gs>
                <a:gs pos="100000">
                  <a:srgbClr val="94B9FF">
                    <a:alpha val="100000"/>
                  </a:srgbClr>
                </a:gs>
              </a:gsLst>
              <a:lin ang="0"/>
            </a:gradFill>
          </p:spPr>
        </p:sp>
        <p:sp>
          <p:nvSpPr>
            <p:cNvPr id="32" name="TextBox 32"/>
            <p:cNvSpPr txBox="1"/>
            <p:nvPr/>
          </p:nvSpPr>
          <p:spPr>
            <a:xfrm>
              <a:off x="79839" y="23246"/>
              <a:ext cx="691938" cy="569763"/>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13977717" y="8053671"/>
            <a:ext cx="4068398" cy="903860"/>
          </a:xfrm>
          <a:prstGeom prst="rect">
            <a:avLst/>
          </a:prstGeom>
        </p:spPr>
        <p:txBody>
          <a:bodyPr lIns="0" tIns="0" rIns="0" bIns="0" rtlCol="0" anchor="t">
            <a:spAutoFit/>
          </a:bodyPr>
          <a:lstStyle/>
          <a:p>
            <a:pPr algn="ctr">
              <a:lnSpc>
                <a:spcPts val="7404"/>
              </a:lnSpc>
              <a:spcBef>
                <a:spcPct val="0"/>
              </a:spcBef>
            </a:pPr>
            <a:r>
              <a:rPr lang="en-US" sz="5289">
                <a:solidFill>
                  <a:srgbClr val="00569E"/>
                </a:solidFill>
                <a:latin typeface="Montserrat"/>
                <a:ea typeface="Montserrat"/>
                <a:cs typeface="Montserrat"/>
                <a:sym typeface="Montserrat"/>
              </a:rPr>
              <a:t>Burbing</a:t>
            </a:r>
          </a:p>
        </p:txBody>
      </p:sp>
      <p:grpSp>
        <p:nvGrpSpPr>
          <p:cNvPr id="34" name="Group 34"/>
          <p:cNvGrpSpPr/>
          <p:nvPr/>
        </p:nvGrpSpPr>
        <p:grpSpPr>
          <a:xfrm>
            <a:off x="17674964" y="-3060104"/>
            <a:ext cx="4693046" cy="469304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53484" y="-3264489"/>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703049" y="6028838"/>
            <a:ext cx="9525" cy="887077"/>
          </a:xfrm>
          <a:prstGeom prst="rect">
            <a:avLst/>
          </a:prstGeom>
        </p:spPr>
        <p:txBody>
          <a:bodyPr lIns="0" tIns="0" rIns="0" bIns="0" rtlCol="0" anchor="t">
            <a:spAutoFit/>
          </a:bodyPr>
          <a:lstStyle/>
          <a:p>
            <a:pPr algn="ctr" rtl="1">
              <a:lnSpc>
                <a:spcPts val="7279"/>
              </a:lnSpc>
            </a:pPr>
            <a:endParaRPr/>
          </a:p>
        </p:txBody>
      </p:sp>
      <p:sp>
        <p:nvSpPr>
          <p:cNvPr id="6" name="TextBox 6"/>
          <p:cNvSpPr txBox="1"/>
          <p:nvPr/>
        </p:nvSpPr>
        <p:spPr>
          <a:xfrm>
            <a:off x="7703049" y="7460193"/>
            <a:ext cx="5187" cy="478878"/>
          </a:xfrm>
          <a:prstGeom prst="rect">
            <a:avLst/>
          </a:prstGeom>
        </p:spPr>
        <p:txBody>
          <a:bodyPr lIns="0" tIns="0" rIns="0" bIns="0" rtlCol="0" anchor="t">
            <a:spAutoFit/>
          </a:bodyPr>
          <a:lstStyle/>
          <a:p>
            <a:pPr algn="ctr" rtl="1">
              <a:lnSpc>
                <a:spcPts val="3964"/>
              </a:lnSpc>
            </a:pPr>
            <a:endParaRPr/>
          </a:p>
        </p:txBody>
      </p:sp>
      <p:sp>
        <p:nvSpPr>
          <p:cNvPr id="7" name="TextBox 7"/>
          <p:cNvSpPr txBox="1"/>
          <p:nvPr/>
        </p:nvSpPr>
        <p:spPr>
          <a:xfrm>
            <a:off x="9139238" y="3919813"/>
            <a:ext cx="9525" cy="638394"/>
          </a:xfrm>
          <a:prstGeom prst="rect">
            <a:avLst/>
          </a:prstGeom>
        </p:spPr>
        <p:txBody>
          <a:bodyPr lIns="0" tIns="0" rIns="0" bIns="0" rtlCol="0" anchor="t">
            <a:spAutoFit/>
          </a:bodyPr>
          <a:lstStyle/>
          <a:p>
            <a:pPr algn="ctr" rtl="1">
              <a:lnSpc>
                <a:spcPts val="5235"/>
              </a:lnSpc>
            </a:pPr>
            <a:endParaRPr/>
          </a:p>
        </p:txBody>
      </p:sp>
      <p:sp>
        <p:nvSpPr>
          <p:cNvPr id="8" name="TextBox 8"/>
          <p:cNvSpPr txBox="1"/>
          <p:nvPr/>
        </p:nvSpPr>
        <p:spPr>
          <a:xfrm>
            <a:off x="534920" y="3394440"/>
            <a:ext cx="17205878" cy="4935087"/>
          </a:xfrm>
          <a:prstGeom prst="rect">
            <a:avLst/>
          </a:prstGeom>
        </p:spPr>
        <p:txBody>
          <a:bodyPr lIns="0" tIns="0" rIns="0" bIns="0" rtlCol="0" anchor="t">
            <a:spAutoFit/>
          </a:bodyPr>
          <a:lstStyle/>
          <a:p>
            <a:pPr algn="just">
              <a:lnSpc>
                <a:spcPts val="6541"/>
              </a:lnSpc>
              <a:spcBef>
                <a:spcPct val="0"/>
              </a:spcBef>
            </a:pPr>
            <a:r>
              <a:rPr lang="en-US" sz="4672" dirty="0">
                <a:solidFill>
                  <a:srgbClr val="00569E"/>
                </a:solidFill>
                <a:latin typeface="Montserrat"/>
                <a:ea typeface="Montserrat"/>
                <a:cs typeface="Montserrat"/>
                <a:sym typeface="Montserrat"/>
              </a:rPr>
              <a:t>"In the first try, the dataset was unbalanced and consisted of a total of 457 recordings with 5 classes. Out of those, 382 recordings belonged to the 'Hungry' class. This created an unfair situation for the other classes, As a result, the model became overfitted to the 'Hungry' class.</a:t>
            </a:r>
          </a:p>
          <a:p>
            <a:pPr algn="just">
              <a:lnSpc>
                <a:spcPts val="6541"/>
              </a:lnSpc>
              <a:spcBef>
                <a:spcPct val="0"/>
              </a:spcBef>
            </a:pPr>
            <a:endParaRPr lang="en-US" sz="4672" dirty="0">
              <a:solidFill>
                <a:srgbClr val="00569E"/>
              </a:solidFill>
              <a:latin typeface="Montserrat"/>
              <a:ea typeface="Montserrat"/>
              <a:cs typeface="Montserrat"/>
              <a:sym typeface="Montserrat"/>
            </a:endParaRPr>
          </a:p>
        </p:txBody>
      </p:sp>
      <p:grpSp>
        <p:nvGrpSpPr>
          <p:cNvPr id="9" name="Group 9"/>
          <p:cNvGrpSpPr/>
          <p:nvPr/>
        </p:nvGrpSpPr>
        <p:grpSpPr>
          <a:xfrm>
            <a:off x="17436155" y="-3264489"/>
            <a:ext cx="4693046" cy="469304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5457809" y="634541"/>
            <a:ext cx="7360100" cy="1426109"/>
            <a:chOff x="0" y="0"/>
            <a:chExt cx="1938463" cy="302372"/>
          </a:xfrm>
        </p:grpSpPr>
        <p:sp>
          <p:nvSpPr>
            <p:cNvPr id="13" name="Freeform 13"/>
            <p:cNvSpPr/>
            <p:nvPr/>
          </p:nvSpPr>
          <p:spPr>
            <a:xfrm>
              <a:off x="0" y="0"/>
              <a:ext cx="1938463" cy="302372"/>
            </a:xfrm>
            <a:custGeom>
              <a:avLst/>
              <a:gdLst/>
              <a:ahLst/>
              <a:cxnLst/>
              <a:rect l="l" t="t" r="r" b="b"/>
              <a:pathLst>
                <a:path w="1938463" h="302372">
                  <a:moveTo>
                    <a:pt x="1735263" y="0"/>
                  </a:moveTo>
                  <a:cubicBezTo>
                    <a:pt x="1847487" y="0"/>
                    <a:pt x="1938463" y="67688"/>
                    <a:pt x="1938463" y="151186"/>
                  </a:cubicBezTo>
                  <a:cubicBezTo>
                    <a:pt x="1938463" y="234683"/>
                    <a:pt x="1847487" y="302372"/>
                    <a:pt x="1735263" y="302372"/>
                  </a:cubicBezTo>
                  <a:lnTo>
                    <a:pt x="203200" y="302372"/>
                  </a:lnTo>
                  <a:cubicBezTo>
                    <a:pt x="90976" y="302372"/>
                    <a:pt x="0" y="234683"/>
                    <a:pt x="0" y="151186"/>
                  </a:cubicBezTo>
                  <a:cubicBezTo>
                    <a:pt x="0" y="67688"/>
                    <a:pt x="90976" y="0"/>
                    <a:pt x="203200" y="0"/>
                  </a:cubicBezTo>
                  <a:close/>
                </a:path>
              </a:pathLst>
            </a:custGeom>
            <a:gradFill rotWithShape="1">
              <a:gsLst>
                <a:gs pos="0">
                  <a:srgbClr val="CDFFD8">
                    <a:alpha val="100000"/>
                  </a:srgbClr>
                </a:gs>
                <a:gs pos="100000">
                  <a:srgbClr val="94B9FF">
                    <a:alpha val="100000"/>
                  </a:srgbClr>
                </a:gs>
              </a:gsLst>
              <a:lin ang="0"/>
            </a:gradFill>
          </p:spPr>
        </p:sp>
        <p:sp>
          <p:nvSpPr>
            <p:cNvPr id="14" name="TextBox 14"/>
            <p:cNvSpPr txBox="1"/>
            <p:nvPr/>
          </p:nvSpPr>
          <p:spPr>
            <a:xfrm>
              <a:off x="0" y="-38100"/>
              <a:ext cx="1938463" cy="340472"/>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8278475" y="4536734"/>
            <a:ext cx="9525" cy="603110"/>
          </a:xfrm>
          <a:prstGeom prst="rect">
            <a:avLst/>
          </a:prstGeom>
        </p:spPr>
        <p:txBody>
          <a:bodyPr lIns="0" tIns="0" rIns="0" bIns="0" rtlCol="0" anchor="t">
            <a:spAutoFit/>
          </a:bodyPr>
          <a:lstStyle/>
          <a:p>
            <a:pPr algn="just" rtl="1">
              <a:lnSpc>
                <a:spcPts val="5081"/>
              </a:lnSpc>
              <a:spcBef>
                <a:spcPct val="0"/>
              </a:spcBef>
            </a:pPr>
            <a:endParaRPr/>
          </a:p>
        </p:txBody>
      </p:sp>
      <p:sp>
        <p:nvSpPr>
          <p:cNvPr id="16" name="TextBox 16"/>
          <p:cNvSpPr txBox="1"/>
          <p:nvPr/>
        </p:nvSpPr>
        <p:spPr>
          <a:xfrm>
            <a:off x="993287" y="588380"/>
            <a:ext cx="16222882" cy="1426110"/>
          </a:xfrm>
          <a:prstGeom prst="rect">
            <a:avLst/>
          </a:prstGeom>
        </p:spPr>
        <p:txBody>
          <a:bodyPr lIns="0" tIns="0" rIns="0" bIns="0" rtlCol="0" anchor="t">
            <a:spAutoFit/>
          </a:bodyPr>
          <a:lstStyle/>
          <a:p>
            <a:pPr algn="ctr">
              <a:lnSpc>
                <a:spcPts val="11695"/>
              </a:lnSpc>
              <a:spcBef>
                <a:spcPct val="0"/>
              </a:spcBef>
            </a:pPr>
            <a:r>
              <a:rPr lang="en-US" sz="8353" b="1" dirty="0">
                <a:solidFill>
                  <a:srgbClr val="00569E"/>
                </a:solidFill>
                <a:latin typeface="Montserrat Bold"/>
                <a:ea typeface="Montserrat Bold"/>
                <a:cs typeface="Montserrat Bold"/>
                <a:sym typeface="Montserrat Bold"/>
              </a:rPr>
              <a:t>🟠 First Try</a:t>
            </a:r>
          </a:p>
        </p:txBody>
      </p:sp>
      <p:grpSp>
        <p:nvGrpSpPr>
          <p:cNvPr id="17" name="Group 17"/>
          <p:cNvGrpSpPr/>
          <p:nvPr/>
        </p:nvGrpSpPr>
        <p:grpSpPr>
          <a:xfrm>
            <a:off x="17436155" y="899090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3664346" y="9258300"/>
            <a:ext cx="4693046" cy="469304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2">
            <a:extLst>
              <a:ext uri="{FF2B5EF4-FFF2-40B4-BE49-F238E27FC236}">
                <a16:creationId xmlns:a16="http://schemas.microsoft.com/office/drawing/2014/main" id="{1FFB068C-1674-D971-4DCA-705F760CA1A3}"/>
              </a:ext>
            </a:extLst>
          </p:cNvPr>
          <p:cNvGrpSpPr/>
          <p:nvPr/>
        </p:nvGrpSpPr>
        <p:grpSpPr>
          <a:xfrm>
            <a:off x="4978203" y="691123"/>
            <a:ext cx="8143603" cy="1426109"/>
            <a:chOff x="0" y="0"/>
            <a:chExt cx="1938463" cy="302372"/>
          </a:xfrm>
        </p:grpSpPr>
        <p:sp>
          <p:nvSpPr>
            <p:cNvPr id="22" name="Freeform 13">
              <a:extLst>
                <a:ext uri="{FF2B5EF4-FFF2-40B4-BE49-F238E27FC236}">
                  <a16:creationId xmlns:a16="http://schemas.microsoft.com/office/drawing/2014/main" id="{39DFC84A-CFF2-28C6-224F-ADE5DF9D2367}"/>
                </a:ext>
              </a:extLst>
            </p:cNvPr>
            <p:cNvSpPr/>
            <p:nvPr/>
          </p:nvSpPr>
          <p:spPr>
            <a:xfrm>
              <a:off x="0" y="0"/>
              <a:ext cx="1938463" cy="302372"/>
            </a:xfrm>
            <a:custGeom>
              <a:avLst/>
              <a:gdLst/>
              <a:ahLst/>
              <a:cxnLst/>
              <a:rect l="l" t="t" r="r" b="b"/>
              <a:pathLst>
                <a:path w="1938463" h="302372">
                  <a:moveTo>
                    <a:pt x="1735263" y="0"/>
                  </a:moveTo>
                  <a:cubicBezTo>
                    <a:pt x="1847487" y="0"/>
                    <a:pt x="1938463" y="67688"/>
                    <a:pt x="1938463" y="151186"/>
                  </a:cubicBezTo>
                  <a:cubicBezTo>
                    <a:pt x="1938463" y="234683"/>
                    <a:pt x="1847487" y="302372"/>
                    <a:pt x="1735263" y="302372"/>
                  </a:cubicBezTo>
                  <a:lnTo>
                    <a:pt x="203200" y="302372"/>
                  </a:lnTo>
                  <a:cubicBezTo>
                    <a:pt x="90976" y="302372"/>
                    <a:pt x="0" y="234683"/>
                    <a:pt x="0" y="151186"/>
                  </a:cubicBezTo>
                  <a:cubicBezTo>
                    <a:pt x="0" y="67688"/>
                    <a:pt x="90976" y="0"/>
                    <a:pt x="203200" y="0"/>
                  </a:cubicBezTo>
                  <a:close/>
                </a:path>
              </a:pathLst>
            </a:custGeom>
            <a:gradFill rotWithShape="1">
              <a:gsLst>
                <a:gs pos="0">
                  <a:srgbClr val="CDFFD8">
                    <a:alpha val="100000"/>
                  </a:srgbClr>
                </a:gs>
                <a:gs pos="100000">
                  <a:srgbClr val="94B9FF">
                    <a:alpha val="100000"/>
                  </a:srgbClr>
                </a:gs>
              </a:gsLst>
              <a:lin ang="0"/>
            </a:gradFill>
          </p:spPr>
        </p:sp>
        <p:sp>
          <p:nvSpPr>
            <p:cNvPr id="23" name="TextBox 14">
              <a:extLst>
                <a:ext uri="{FF2B5EF4-FFF2-40B4-BE49-F238E27FC236}">
                  <a16:creationId xmlns:a16="http://schemas.microsoft.com/office/drawing/2014/main" id="{2C64C404-16D8-2F69-5E07-BEC1611BEEF4}"/>
                </a:ext>
              </a:extLst>
            </p:cNvPr>
            <p:cNvSpPr txBox="1"/>
            <p:nvPr/>
          </p:nvSpPr>
          <p:spPr>
            <a:xfrm>
              <a:off x="0" y="-38100"/>
              <a:ext cx="1938463" cy="340472"/>
            </a:xfrm>
            <a:prstGeom prst="rect">
              <a:avLst/>
            </a:prstGeom>
          </p:spPr>
          <p:txBody>
            <a:bodyPr lIns="50800" tIns="50800" rIns="50800" bIns="50800" rtlCol="0" anchor="ctr"/>
            <a:lstStyle/>
            <a:p>
              <a:pPr algn="ctr">
                <a:lnSpc>
                  <a:spcPts val="2659"/>
                </a:lnSpc>
              </a:pPr>
              <a:endParaRPr/>
            </a:p>
          </p:txBody>
        </p:sp>
      </p:grpSp>
      <p:grpSp>
        <p:nvGrpSpPr>
          <p:cNvPr id="2" name="Group 2"/>
          <p:cNvGrpSpPr/>
          <p:nvPr/>
        </p:nvGrpSpPr>
        <p:grpSpPr>
          <a:xfrm>
            <a:off x="-3842645" y="-335701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3590647"/>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259300" y="9258300"/>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842645" y="9060560"/>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5274749" y="471495"/>
            <a:ext cx="8332804" cy="1473946"/>
          </a:xfrm>
          <a:prstGeom prst="rect">
            <a:avLst/>
          </a:prstGeom>
        </p:spPr>
        <p:txBody>
          <a:bodyPr lIns="50800" tIns="50800" rIns="50800" bIns="50800" rtlCol="0" anchor="ctr"/>
          <a:lstStyle/>
          <a:p>
            <a:pPr algn="ctr">
              <a:lnSpc>
                <a:spcPts val="2659"/>
              </a:lnSpc>
            </a:pPr>
            <a:endParaRPr/>
          </a:p>
        </p:txBody>
      </p:sp>
      <p:sp>
        <p:nvSpPr>
          <p:cNvPr id="17" name="TextBox 17"/>
          <p:cNvSpPr txBox="1"/>
          <p:nvPr/>
        </p:nvSpPr>
        <p:spPr>
          <a:xfrm>
            <a:off x="7703049" y="6028838"/>
            <a:ext cx="9525" cy="887077"/>
          </a:xfrm>
          <a:prstGeom prst="rect">
            <a:avLst/>
          </a:prstGeom>
        </p:spPr>
        <p:txBody>
          <a:bodyPr lIns="0" tIns="0" rIns="0" bIns="0" rtlCol="0" anchor="t">
            <a:spAutoFit/>
          </a:bodyPr>
          <a:lstStyle/>
          <a:p>
            <a:pPr algn="ctr" rtl="1">
              <a:lnSpc>
                <a:spcPts val="7279"/>
              </a:lnSpc>
            </a:pPr>
            <a:endParaRPr/>
          </a:p>
        </p:txBody>
      </p:sp>
      <p:sp>
        <p:nvSpPr>
          <p:cNvPr id="18" name="TextBox 18"/>
          <p:cNvSpPr txBox="1"/>
          <p:nvPr/>
        </p:nvSpPr>
        <p:spPr>
          <a:xfrm>
            <a:off x="7703049" y="7460193"/>
            <a:ext cx="5187" cy="478878"/>
          </a:xfrm>
          <a:prstGeom prst="rect">
            <a:avLst/>
          </a:prstGeom>
        </p:spPr>
        <p:txBody>
          <a:bodyPr lIns="0" tIns="0" rIns="0" bIns="0" rtlCol="0" anchor="t">
            <a:spAutoFit/>
          </a:bodyPr>
          <a:lstStyle/>
          <a:p>
            <a:pPr algn="ctr" rtl="1">
              <a:lnSpc>
                <a:spcPts val="3964"/>
              </a:lnSpc>
            </a:pPr>
            <a:endParaRPr/>
          </a:p>
        </p:txBody>
      </p:sp>
      <p:sp>
        <p:nvSpPr>
          <p:cNvPr id="19" name="TextBox 19"/>
          <p:cNvSpPr txBox="1"/>
          <p:nvPr/>
        </p:nvSpPr>
        <p:spPr>
          <a:xfrm>
            <a:off x="673547" y="3666965"/>
            <a:ext cx="16940907" cy="3473451"/>
          </a:xfrm>
          <a:prstGeom prst="rect">
            <a:avLst/>
          </a:prstGeom>
        </p:spPr>
        <p:txBody>
          <a:bodyPr lIns="0" tIns="0" rIns="0" bIns="0" rtlCol="0" anchor="t">
            <a:spAutoFit/>
          </a:bodyPr>
          <a:lstStyle/>
          <a:p>
            <a:pPr algn="just">
              <a:lnSpc>
                <a:spcPts val="6859"/>
              </a:lnSpc>
              <a:spcBef>
                <a:spcPct val="0"/>
              </a:spcBef>
            </a:pPr>
            <a:r>
              <a:rPr lang="en-US" sz="4899" dirty="0">
                <a:solidFill>
                  <a:srgbClr val="00569E"/>
                </a:solidFill>
                <a:latin typeface="Montserrat"/>
                <a:ea typeface="Montserrat"/>
                <a:cs typeface="Montserrat"/>
                <a:sym typeface="Montserrat"/>
              </a:rPr>
              <a:t>I collected the dataset from different resources and made it balanced, but I discovered that the sounds in all categories were very similar. Result ,the model got misclassified between classes.</a:t>
            </a:r>
          </a:p>
        </p:txBody>
      </p:sp>
      <p:sp>
        <p:nvSpPr>
          <p:cNvPr id="20" name="TextBox 20"/>
          <p:cNvSpPr txBox="1"/>
          <p:nvPr/>
        </p:nvSpPr>
        <p:spPr>
          <a:xfrm>
            <a:off x="5274749" y="662426"/>
            <a:ext cx="7360100" cy="1317565"/>
          </a:xfrm>
          <a:prstGeom prst="rect">
            <a:avLst/>
          </a:prstGeom>
        </p:spPr>
        <p:txBody>
          <a:bodyPr wrap="square" lIns="0" tIns="0" rIns="0" bIns="0" rtlCol="0" anchor="t">
            <a:spAutoFit/>
          </a:bodyPr>
          <a:lstStyle/>
          <a:p>
            <a:pPr algn="ctr">
              <a:lnSpc>
                <a:spcPts val="10855"/>
              </a:lnSpc>
              <a:spcBef>
                <a:spcPct val="0"/>
              </a:spcBef>
            </a:pPr>
            <a:r>
              <a:rPr lang="en-US" sz="7754" b="1" dirty="0">
                <a:solidFill>
                  <a:srgbClr val="00569E"/>
                </a:solidFill>
                <a:latin typeface="Montserrat Bold"/>
                <a:ea typeface="Montserrat Bold"/>
                <a:cs typeface="Montserrat Bold"/>
                <a:sym typeface="Montserrat Bold"/>
              </a:rPr>
              <a:t>🟠 Second Try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12">
            <a:extLst>
              <a:ext uri="{FF2B5EF4-FFF2-40B4-BE49-F238E27FC236}">
                <a16:creationId xmlns:a16="http://schemas.microsoft.com/office/drawing/2014/main" id="{FA2B7A25-78A0-E08D-4652-FBFAEAE555E2}"/>
              </a:ext>
            </a:extLst>
          </p:cNvPr>
          <p:cNvGrpSpPr/>
          <p:nvPr/>
        </p:nvGrpSpPr>
        <p:grpSpPr>
          <a:xfrm>
            <a:off x="5463950" y="538436"/>
            <a:ext cx="7360100" cy="1426109"/>
            <a:chOff x="0" y="0"/>
            <a:chExt cx="1938463" cy="302372"/>
          </a:xfrm>
        </p:grpSpPr>
        <p:sp>
          <p:nvSpPr>
            <p:cNvPr id="26" name="Freeform 13">
              <a:extLst>
                <a:ext uri="{FF2B5EF4-FFF2-40B4-BE49-F238E27FC236}">
                  <a16:creationId xmlns:a16="http://schemas.microsoft.com/office/drawing/2014/main" id="{73F5AA97-C2A4-E44A-304A-F1887D86E0BD}"/>
                </a:ext>
              </a:extLst>
            </p:cNvPr>
            <p:cNvSpPr/>
            <p:nvPr/>
          </p:nvSpPr>
          <p:spPr>
            <a:xfrm>
              <a:off x="0" y="0"/>
              <a:ext cx="1938463" cy="302372"/>
            </a:xfrm>
            <a:custGeom>
              <a:avLst/>
              <a:gdLst/>
              <a:ahLst/>
              <a:cxnLst/>
              <a:rect l="l" t="t" r="r" b="b"/>
              <a:pathLst>
                <a:path w="1938463" h="302372">
                  <a:moveTo>
                    <a:pt x="1735263" y="0"/>
                  </a:moveTo>
                  <a:cubicBezTo>
                    <a:pt x="1847487" y="0"/>
                    <a:pt x="1938463" y="67688"/>
                    <a:pt x="1938463" y="151186"/>
                  </a:cubicBezTo>
                  <a:cubicBezTo>
                    <a:pt x="1938463" y="234683"/>
                    <a:pt x="1847487" y="302372"/>
                    <a:pt x="1735263" y="302372"/>
                  </a:cubicBezTo>
                  <a:lnTo>
                    <a:pt x="203200" y="302372"/>
                  </a:lnTo>
                  <a:cubicBezTo>
                    <a:pt x="90976" y="302372"/>
                    <a:pt x="0" y="234683"/>
                    <a:pt x="0" y="151186"/>
                  </a:cubicBezTo>
                  <a:cubicBezTo>
                    <a:pt x="0" y="67688"/>
                    <a:pt x="90976" y="0"/>
                    <a:pt x="203200" y="0"/>
                  </a:cubicBezTo>
                  <a:close/>
                </a:path>
              </a:pathLst>
            </a:custGeom>
            <a:gradFill rotWithShape="1">
              <a:gsLst>
                <a:gs pos="0">
                  <a:srgbClr val="CDFFD8">
                    <a:alpha val="100000"/>
                  </a:srgbClr>
                </a:gs>
                <a:gs pos="100000">
                  <a:srgbClr val="94B9FF">
                    <a:alpha val="100000"/>
                  </a:srgbClr>
                </a:gs>
              </a:gsLst>
              <a:lin ang="0"/>
            </a:gradFill>
          </p:spPr>
        </p:sp>
        <p:sp>
          <p:nvSpPr>
            <p:cNvPr id="27" name="TextBox 14">
              <a:extLst>
                <a:ext uri="{FF2B5EF4-FFF2-40B4-BE49-F238E27FC236}">
                  <a16:creationId xmlns:a16="http://schemas.microsoft.com/office/drawing/2014/main" id="{E94FE52C-F1C5-5381-5D3C-C5ECDFC02D36}"/>
                </a:ext>
              </a:extLst>
            </p:cNvPr>
            <p:cNvSpPr txBox="1"/>
            <p:nvPr/>
          </p:nvSpPr>
          <p:spPr>
            <a:xfrm>
              <a:off x="0" y="-38100"/>
              <a:ext cx="1938463" cy="340472"/>
            </a:xfrm>
            <a:prstGeom prst="rect">
              <a:avLst/>
            </a:prstGeom>
          </p:spPr>
          <p:txBody>
            <a:bodyPr lIns="50800" tIns="50800" rIns="50800" bIns="50800" rtlCol="0" anchor="ctr"/>
            <a:lstStyle/>
            <a:p>
              <a:pPr algn="ctr">
                <a:lnSpc>
                  <a:spcPts val="2659"/>
                </a:lnSpc>
              </a:pPr>
              <a:endParaRPr/>
            </a:p>
          </p:txBody>
        </p:sp>
      </p:grpSp>
      <p:grpSp>
        <p:nvGrpSpPr>
          <p:cNvPr id="2" name="Group 2"/>
          <p:cNvGrpSpPr/>
          <p:nvPr/>
        </p:nvGrpSpPr>
        <p:grpSpPr>
          <a:xfrm>
            <a:off x="-3870677" y="-3430969"/>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9070039"/>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259300" y="-3664346"/>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4074064" y="8837508"/>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278976" y="6204733"/>
            <a:ext cx="9525" cy="887077"/>
          </a:xfrm>
          <a:prstGeom prst="rect">
            <a:avLst/>
          </a:prstGeom>
        </p:spPr>
        <p:txBody>
          <a:bodyPr lIns="0" tIns="0" rIns="0" bIns="0" rtlCol="0" anchor="t">
            <a:spAutoFit/>
          </a:bodyPr>
          <a:lstStyle/>
          <a:p>
            <a:pPr algn="ctr" rtl="1">
              <a:lnSpc>
                <a:spcPts val="7279"/>
              </a:lnSpc>
            </a:pPr>
            <a:endParaRPr/>
          </a:p>
        </p:txBody>
      </p:sp>
      <p:sp>
        <p:nvSpPr>
          <p:cNvPr id="18" name="TextBox 18"/>
          <p:cNvSpPr txBox="1"/>
          <p:nvPr/>
        </p:nvSpPr>
        <p:spPr>
          <a:xfrm>
            <a:off x="8278976" y="7636088"/>
            <a:ext cx="5187" cy="478878"/>
          </a:xfrm>
          <a:prstGeom prst="rect">
            <a:avLst/>
          </a:prstGeom>
        </p:spPr>
        <p:txBody>
          <a:bodyPr lIns="0" tIns="0" rIns="0" bIns="0" rtlCol="0" anchor="t">
            <a:spAutoFit/>
          </a:bodyPr>
          <a:lstStyle/>
          <a:p>
            <a:pPr algn="ctr" rtl="1">
              <a:lnSpc>
                <a:spcPts val="3964"/>
              </a:lnSpc>
            </a:pPr>
            <a:endParaRPr/>
          </a:p>
        </p:txBody>
      </p:sp>
      <p:sp>
        <p:nvSpPr>
          <p:cNvPr id="19" name="TextBox 19"/>
          <p:cNvSpPr txBox="1"/>
          <p:nvPr/>
        </p:nvSpPr>
        <p:spPr>
          <a:xfrm>
            <a:off x="600767" y="3118538"/>
            <a:ext cx="17086466" cy="538122"/>
          </a:xfrm>
          <a:prstGeom prst="rect">
            <a:avLst/>
          </a:prstGeom>
        </p:spPr>
        <p:txBody>
          <a:bodyPr lIns="0" tIns="0" rIns="0" bIns="0" rtlCol="0" anchor="t">
            <a:spAutoFit/>
          </a:bodyPr>
          <a:lstStyle/>
          <a:p>
            <a:pPr algn="l" rtl="1">
              <a:lnSpc>
                <a:spcPts val="4467"/>
              </a:lnSpc>
              <a:spcBef>
                <a:spcPct val="0"/>
              </a:spcBef>
            </a:pPr>
            <a:r>
              <a:rPr lang="ar-EG" sz="3190" b="1">
                <a:solidFill>
                  <a:srgbClr val="00569E"/>
                </a:solidFill>
                <a:latin typeface="Montserrat Bold"/>
                <a:ea typeface="Montserrat Bold"/>
                <a:cs typeface="Montserrat Bold"/>
                <a:sym typeface="Montserrat Bold"/>
                <a:rtl/>
              </a:rPr>
              <a:t>.  </a:t>
            </a:r>
            <a:r>
              <a:rPr lang="en-US" sz="3190" b="1">
                <a:solidFill>
                  <a:srgbClr val="00569E"/>
                </a:solidFill>
                <a:latin typeface="Montserrat Bold"/>
                <a:ea typeface="Montserrat Bold"/>
                <a:cs typeface="Montserrat Bold"/>
                <a:sym typeface="Montserrat Bold"/>
              </a:rPr>
              <a:t>I used the SMOTE technique to add synthetic samples for unbalanced classes</a:t>
            </a:r>
            <a:r>
              <a:rPr lang="ar-EG" sz="3190" b="1">
                <a:solidFill>
                  <a:srgbClr val="00569E"/>
                </a:solidFill>
                <a:latin typeface="Montserrat Bold"/>
                <a:ea typeface="Montserrat Bold"/>
                <a:cs typeface="Montserrat Bold"/>
                <a:sym typeface="Montserrat Bold"/>
                <a:rtl/>
              </a:rPr>
              <a:t>   </a:t>
            </a:r>
          </a:p>
        </p:txBody>
      </p:sp>
      <p:sp>
        <p:nvSpPr>
          <p:cNvPr id="20" name="TextBox 20"/>
          <p:cNvSpPr txBox="1"/>
          <p:nvPr/>
        </p:nvSpPr>
        <p:spPr>
          <a:xfrm>
            <a:off x="1604627" y="4342459"/>
            <a:ext cx="11783978" cy="637505"/>
          </a:xfrm>
          <a:prstGeom prst="rect">
            <a:avLst/>
          </a:prstGeom>
        </p:spPr>
        <p:txBody>
          <a:bodyPr lIns="0" tIns="0" rIns="0" bIns="0" rtlCol="0" anchor="t">
            <a:spAutoFit/>
          </a:bodyPr>
          <a:lstStyle/>
          <a:p>
            <a:pPr algn="just">
              <a:lnSpc>
                <a:spcPts val="5286"/>
              </a:lnSpc>
              <a:spcBef>
                <a:spcPct val="0"/>
              </a:spcBef>
            </a:pPr>
            <a:r>
              <a:rPr lang="en-US" sz="3776">
                <a:solidFill>
                  <a:srgbClr val="00569E"/>
                </a:solidFill>
                <a:latin typeface="Montserrat"/>
                <a:ea typeface="Montserrat"/>
                <a:cs typeface="Montserrat"/>
                <a:sym typeface="Montserrat"/>
              </a:rPr>
              <a:t>✅ Ensured sound variation between all  classes .</a:t>
            </a:r>
          </a:p>
        </p:txBody>
      </p:sp>
      <p:sp>
        <p:nvSpPr>
          <p:cNvPr id="21" name="TextBox 21"/>
          <p:cNvSpPr txBox="1"/>
          <p:nvPr/>
        </p:nvSpPr>
        <p:spPr>
          <a:xfrm>
            <a:off x="1580606" y="5469629"/>
            <a:ext cx="8029419" cy="669971"/>
          </a:xfrm>
          <a:prstGeom prst="rect">
            <a:avLst/>
          </a:prstGeom>
        </p:spPr>
        <p:txBody>
          <a:bodyPr lIns="0" tIns="0" rIns="0" bIns="0" rtlCol="0" anchor="t">
            <a:spAutoFit/>
          </a:bodyPr>
          <a:lstStyle/>
          <a:p>
            <a:pPr algn="just">
              <a:lnSpc>
                <a:spcPts val="5599"/>
              </a:lnSpc>
              <a:spcBef>
                <a:spcPct val="0"/>
              </a:spcBef>
            </a:pPr>
            <a:r>
              <a:rPr lang="en-US" sz="3999">
                <a:solidFill>
                  <a:srgbClr val="00569E"/>
                </a:solidFill>
                <a:latin typeface="Montserrat"/>
                <a:ea typeface="Montserrat"/>
                <a:cs typeface="Montserrat"/>
                <a:sym typeface="Montserrat"/>
              </a:rPr>
              <a:t>✅ Dataset became balanced .</a:t>
            </a:r>
          </a:p>
        </p:txBody>
      </p:sp>
      <p:sp>
        <p:nvSpPr>
          <p:cNvPr id="22" name="TextBox 22"/>
          <p:cNvSpPr txBox="1"/>
          <p:nvPr/>
        </p:nvSpPr>
        <p:spPr>
          <a:xfrm>
            <a:off x="1604627" y="6625331"/>
            <a:ext cx="12504783" cy="669971"/>
          </a:xfrm>
          <a:prstGeom prst="rect">
            <a:avLst/>
          </a:prstGeom>
        </p:spPr>
        <p:txBody>
          <a:bodyPr lIns="0" tIns="0" rIns="0" bIns="0" rtlCol="0" anchor="t">
            <a:spAutoFit/>
          </a:bodyPr>
          <a:lstStyle/>
          <a:p>
            <a:pPr algn="just">
              <a:lnSpc>
                <a:spcPts val="5599"/>
              </a:lnSpc>
              <a:spcBef>
                <a:spcPct val="0"/>
              </a:spcBef>
            </a:pPr>
            <a:r>
              <a:rPr lang="en-US" sz="3999">
                <a:solidFill>
                  <a:srgbClr val="00569E"/>
                </a:solidFill>
                <a:latin typeface="Montserrat"/>
                <a:ea typeface="Montserrat"/>
                <a:cs typeface="Montserrat"/>
                <a:sym typeface="Montserrat"/>
              </a:rPr>
              <a:t>✅ The model achieved 97% acc on the test data. </a:t>
            </a:r>
          </a:p>
        </p:txBody>
      </p:sp>
      <p:sp>
        <p:nvSpPr>
          <p:cNvPr id="23" name="TextBox 23"/>
          <p:cNvSpPr txBox="1"/>
          <p:nvPr/>
        </p:nvSpPr>
        <p:spPr>
          <a:xfrm>
            <a:off x="1604627" y="7771551"/>
            <a:ext cx="11808000" cy="695917"/>
          </a:xfrm>
          <a:prstGeom prst="rect">
            <a:avLst/>
          </a:prstGeom>
        </p:spPr>
        <p:txBody>
          <a:bodyPr lIns="0" tIns="0" rIns="0" bIns="0" rtlCol="0" anchor="t">
            <a:spAutoFit/>
          </a:bodyPr>
          <a:lstStyle/>
          <a:p>
            <a:pPr algn="l">
              <a:lnSpc>
                <a:spcPts val="5739"/>
              </a:lnSpc>
              <a:spcBef>
                <a:spcPct val="0"/>
              </a:spcBef>
            </a:pPr>
            <a:r>
              <a:rPr lang="en-US" sz="4099">
                <a:solidFill>
                  <a:srgbClr val="00569E"/>
                </a:solidFill>
                <a:latin typeface="Montserrat"/>
                <a:ea typeface="Montserrat"/>
                <a:cs typeface="Montserrat"/>
                <a:sym typeface="Montserrat"/>
              </a:rPr>
              <a:t>✅ This the best result i have achieved .</a:t>
            </a:r>
          </a:p>
        </p:txBody>
      </p:sp>
      <p:sp>
        <p:nvSpPr>
          <p:cNvPr id="24" name="TextBox 24"/>
          <p:cNvSpPr txBox="1"/>
          <p:nvPr/>
        </p:nvSpPr>
        <p:spPr>
          <a:xfrm>
            <a:off x="5614753" y="462890"/>
            <a:ext cx="6852163" cy="1501655"/>
          </a:xfrm>
          <a:prstGeom prst="rect">
            <a:avLst/>
          </a:prstGeom>
        </p:spPr>
        <p:txBody>
          <a:bodyPr wrap="square" lIns="0" tIns="0" rIns="0" bIns="0" rtlCol="0" anchor="t">
            <a:spAutoFit/>
          </a:bodyPr>
          <a:lstStyle/>
          <a:p>
            <a:pPr algn="ctr">
              <a:lnSpc>
                <a:spcPts val="12255"/>
              </a:lnSpc>
              <a:spcBef>
                <a:spcPct val="0"/>
              </a:spcBef>
            </a:pPr>
            <a:r>
              <a:rPr lang="en-US" sz="8753" b="1" dirty="0">
                <a:solidFill>
                  <a:srgbClr val="00569E"/>
                </a:solidFill>
                <a:latin typeface="Montserrat Bold"/>
                <a:ea typeface="Montserrat Bold"/>
                <a:cs typeface="Montserrat Bold"/>
                <a:sym typeface="Montserrat Bold"/>
              </a:rPr>
              <a:t>🟠 Final Try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41202" y="-3340112"/>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9258300"/>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259300" y="-3664346"/>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664346" y="9258300"/>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8425382" y="0"/>
            <a:ext cx="6586017" cy="10286999"/>
          </a:xfrm>
          <a:custGeom>
            <a:avLst/>
            <a:gdLst/>
            <a:ahLst/>
            <a:cxnLst/>
            <a:rect l="l" t="t" r="r" b="b"/>
            <a:pathLst>
              <a:path w="6580321" h="10463855">
                <a:moveTo>
                  <a:pt x="0" y="0"/>
                </a:moveTo>
                <a:lnTo>
                  <a:pt x="6580321" y="0"/>
                </a:lnTo>
                <a:lnTo>
                  <a:pt x="6580321" y="10463855"/>
                </a:lnTo>
                <a:lnTo>
                  <a:pt x="0" y="10463855"/>
                </a:lnTo>
                <a:lnTo>
                  <a:pt x="0" y="0"/>
                </a:lnTo>
                <a:close/>
              </a:path>
            </a:pathLst>
          </a:custGeom>
          <a:blipFill>
            <a:blip r:embed="rId2"/>
            <a:stretch>
              <a:fillRect l="-14249" t="-3004" b="-4765"/>
            </a:stretch>
          </a:blipFill>
        </p:spPr>
      </p:sp>
      <p:sp>
        <p:nvSpPr>
          <p:cNvPr id="15" name="TextBox 15"/>
          <p:cNvSpPr txBox="1"/>
          <p:nvPr/>
        </p:nvSpPr>
        <p:spPr>
          <a:xfrm>
            <a:off x="245371" y="5067300"/>
            <a:ext cx="7848975" cy="662963"/>
          </a:xfrm>
          <a:prstGeom prst="rect">
            <a:avLst/>
          </a:prstGeom>
        </p:spPr>
        <p:txBody>
          <a:bodyPr lIns="0" tIns="0" rIns="0" bIns="0" rtlCol="0" anchor="t">
            <a:spAutoFit/>
          </a:bodyPr>
          <a:lstStyle/>
          <a:p>
            <a:pPr algn="ctr">
              <a:lnSpc>
                <a:spcPts val="5459"/>
              </a:lnSpc>
              <a:spcBef>
                <a:spcPct val="0"/>
              </a:spcBef>
            </a:pPr>
            <a:r>
              <a:rPr lang="en-US" sz="3899" b="1">
                <a:solidFill>
                  <a:srgbClr val="00569E"/>
                </a:solidFill>
                <a:latin typeface="Montserrat Bold"/>
                <a:ea typeface="Montserrat Bold"/>
                <a:cs typeface="Montserrat Bold"/>
                <a:sym typeface="Montserrat Bold"/>
              </a:rPr>
              <a:t>The proccessing Steps of Data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00153" y="-3319227"/>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542925"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057" y="9258300"/>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497182" y="-3319227"/>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900153" y="9023425"/>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7207182" y="0"/>
            <a:ext cx="4479143" cy="10287000"/>
          </a:xfrm>
          <a:custGeom>
            <a:avLst/>
            <a:gdLst/>
            <a:ahLst/>
            <a:cxnLst/>
            <a:rect l="l" t="t" r="r" b="b"/>
            <a:pathLst>
              <a:path w="4479143" h="10287000">
                <a:moveTo>
                  <a:pt x="0" y="0"/>
                </a:moveTo>
                <a:lnTo>
                  <a:pt x="4479144" y="0"/>
                </a:lnTo>
                <a:lnTo>
                  <a:pt x="4479144" y="10287000"/>
                </a:lnTo>
                <a:lnTo>
                  <a:pt x="0" y="10287000"/>
                </a:lnTo>
                <a:lnTo>
                  <a:pt x="0" y="0"/>
                </a:lnTo>
                <a:close/>
              </a:path>
            </a:pathLst>
          </a:custGeom>
          <a:blipFill>
            <a:blip r:embed="rId2"/>
            <a:stretch>
              <a:fillRect l="-26506" r="-26506"/>
            </a:stretch>
          </a:blipFill>
        </p:spPr>
      </p:sp>
      <p:sp>
        <p:nvSpPr>
          <p:cNvPr id="15" name="TextBox 15"/>
          <p:cNvSpPr txBox="1"/>
          <p:nvPr/>
        </p:nvSpPr>
        <p:spPr>
          <a:xfrm>
            <a:off x="490742" y="4746260"/>
            <a:ext cx="6274077" cy="1730377"/>
          </a:xfrm>
          <a:prstGeom prst="rect">
            <a:avLst/>
          </a:prstGeom>
        </p:spPr>
        <p:txBody>
          <a:bodyPr lIns="0" tIns="0" rIns="0" bIns="0" rtlCol="0" anchor="t">
            <a:spAutoFit/>
          </a:bodyPr>
          <a:lstStyle/>
          <a:p>
            <a:pPr algn="ctr">
              <a:lnSpc>
                <a:spcPts val="6999"/>
              </a:lnSpc>
              <a:spcBef>
                <a:spcPct val="0"/>
              </a:spcBef>
            </a:pPr>
            <a:r>
              <a:rPr lang="en-US" sz="4999" b="1">
                <a:solidFill>
                  <a:srgbClr val="00569E"/>
                </a:solidFill>
                <a:latin typeface="Montserrat Bold"/>
                <a:ea typeface="Montserrat Bold"/>
                <a:cs typeface="Montserrat Bold"/>
                <a:sym typeface="Montserrat Bold"/>
              </a:rPr>
              <a:t>Architecture of the model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18057" y="-2949336"/>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9258300"/>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554059" y="-3194707"/>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4018057" y="8749080"/>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42925"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5292478" y="357299"/>
            <a:ext cx="11581239" cy="9572403"/>
          </a:xfrm>
          <a:custGeom>
            <a:avLst/>
            <a:gdLst/>
            <a:ahLst/>
            <a:cxnLst/>
            <a:rect l="l" t="t" r="r" b="b"/>
            <a:pathLst>
              <a:path w="11581239" h="9572403">
                <a:moveTo>
                  <a:pt x="0" y="0"/>
                </a:moveTo>
                <a:lnTo>
                  <a:pt x="11581239" y="0"/>
                </a:lnTo>
                <a:lnTo>
                  <a:pt x="11581239" y="9572402"/>
                </a:lnTo>
                <a:lnTo>
                  <a:pt x="0" y="9572402"/>
                </a:lnTo>
                <a:lnTo>
                  <a:pt x="0" y="0"/>
                </a:lnTo>
                <a:close/>
              </a:path>
            </a:pathLst>
          </a:custGeom>
          <a:blipFill>
            <a:blip r:embed="rId2"/>
            <a:stretch>
              <a:fillRect t="-2064" b="-1832"/>
            </a:stretch>
          </a:blipFill>
        </p:spPr>
      </p:sp>
      <p:sp>
        <p:nvSpPr>
          <p:cNvPr id="15" name="TextBox 15"/>
          <p:cNvSpPr txBox="1"/>
          <p:nvPr/>
        </p:nvSpPr>
        <p:spPr>
          <a:xfrm>
            <a:off x="335587" y="4637139"/>
            <a:ext cx="4956892" cy="1747838"/>
          </a:xfrm>
          <a:prstGeom prst="rect">
            <a:avLst/>
          </a:prstGeom>
        </p:spPr>
        <p:txBody>
          <a:bodyPr wrap="square" lIns="0" tIns="0" rIns="0" bIns="0" rtlCol="0" anchor="t">
            <a:spAutoFit/>
          </a:bodyPr>
          <a:lstStyle/>
          <a:p>
            <a:pPr algn="ctr">
              <a:lnSpc>
                <a:spcPts val="7092"/>
              </a:lnSpc>
              <a:spcBef>
                <a:spcPct val="0"/>
              </a:spcBef>
            </a:pPr>
            <a:r>
              <a:rPr lang="en-US" sz="5065" b="1" dirty="0">
                <a:solidFill>
                  <a:srgbClr val="00569E"/>
                </a:solidFill>
                <a:latin typeface="Montserrat Bold"/>
                <a:ea typeface="Montserrat Bold"/>
                <a:cs typeface="Montserrat Bold"/>
                <a:sym typeface="Montserrat Bold"/>
              </a:rPr>
              <a:t>Confusion Matrix</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64346" y="-3664346"/>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9258300"/>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465631" y="-3355887"/>
            <a:ext cx="4693046" cy="469304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664346" y="9258300"/>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720275" y="3660751"/>
            <a:ext cx="8423725" cy="6156345"/>
          </a:xfrm>
          <a:custGeom>
            <a:avLst/>
            <a:gdLst/>
            <a:ahLst/>
            <a:cxnLst/>
            <a:rect l="l" t="t" r="r" b="b"/>
            <a:pathLst>
              <a:path w="8423725" h="6156345">
                <a:moveTo>
                  <a:pt x="0" y="0"/>
                </a:moveTo>
                <a:lnTo>
                  <a:pt x="8423725" y="0"/>
                </a:lnTo>
                <a:lnTo>
                  <a:pt x="8423725" y="6156345"/>
                </a:lnTo>
                <a:lnTo>
                  <a:pt x="0" y="6156345"/>
                </a:lnTo>
                <a:lnTo>
                  <a:pt x="0" y="0"/>
                </a:lnTo>
                <a:close/>
              </a:path>
            </a:pathLst>
          </a:custGeom>
          <a:blipFill>
            <a:blip r:embed="rId2"/>
            <a:stretch>
              <a:fillRect l="-7013" t="-1434" r="-7883" b="-10420"/>
            </a:stretch>
          </a:blipFill>
        </p:spPr>
      </p:sp>
      <p:sp>
        <p:nvSpPr>
          <p:cNvPr id="15" name="Freeform 15"/>
          <p:cNvSpPr/>
          <p:nvPr/>
        </p:nvSpPr>
        <p:spPr>
          <a:xfrm>
            <a:off x="9144000" y="3682691"/>
            <a:ext cx="8321631" cy="6604309"/>
          </a:xfrm>
          <a:custGeom>
            <a:avLst/>
            <a:gdLst/>
            <a:ahLst/>
            <a:cxnLst/>
            <a:rect l="l" t="t" r="r" b="b"/>
            <a:pathLst>
              <a:path w="8321631" h="6604309">
                <a:moveTo>
                  <a:pt x="0" y="0"/>
                </a:moveTo>
                <a:lnTo>
                  <a:pt x="8321631" y="0"/>
                </a:lnTo>
                <a:lnTo>
                  <a:pt x="8321631" y="6604309"/>
                </a:lnTo>
                <a:lnTo>
                  <a:pt x="0" y="6604309"/>
                </a:lnTo>
                <a:lnTo>
                  <a:pt x="0" y="0"/>
                </a:lnTo>
                <a:close/>
              </a:path>
            </a:pathLst>
          </a:custGeom>
          <a:blipFill>
            <a:blip r:embed="rId3"/>
            <a:stretch>
              <a:fillRect l="-3362" t="-2647" r="-8144"/>
            </a:stretch>
          </a:blipFill>
        </p:spPr>
      </p:sp>
      <p:sp>
        <p:nvSpPr>
          <p:cNvPr id="16" name="TextBox 16"/>
          <p:cNvSpPr txBox="1"/>
          <p:nvPr/>
        </p:nvSpPr>
        <p:spPr>
          <a:xfrm>
            <a:off x="3086533" y="158113"/>
            <a:ext cx="12928622" cy="870587"/>
          </a:xfrm>
          <a:prstGeom prst="rect">
            <a:avLst/>
          </a:prstGeom>
        </p:spPr>
        <p:txBody>
          <a:bodyPr lIns="0" tIns="0" rIns="0" bIns="0" rtlCol="0" anchor="t">
            <a:spAutoFit/>
          </a:bodyPr>
          <a:lstStyle/>
          <a:p>
            <a:pPr algn="ctr">
              <a:lnSpc>
                <a:spcPts val="7139"/>
              </a:lnSpc>
              <a:spcBef>
                <a:spcPct val="0"/>
              </a:spcBef>
            </a:pPr>
            <a:r>
              <a:rPr lang="en-US" sz="5099" b="1">
                <a:solidFill>
                  <a:srgbClr val="00569E"/>
                </a:solidFill>
                <a:latin typeface="Montserrat Bold"/>
                <a:ea typeface="Montserrat Bold"/>
                <a:cs typeface="Montserrat Bold"/>
                <a:sym typeface="Montserrat Bold"/>
              </a:rPr>
              <a:t>Training acc and training loss</a:t>
            </a:r>
          </a:p>
        </p:txBody>
      </p:sp>
      <p:sp>
        <p:nvSpPr>
          <p:cNvPr id="17" name="TextBox 17"/>
          <p:cNvSpPr txBox="1"/>
          <p:nvPr/>
        </p:nvSpPr>
        <p:spPr>
          <a:xfrm>
            <a:off x="569451" y="2364383"/>
            <a:ext cx="13986268" cy="669971"/>
          </a:xfrm>
          <a:prstGeom prst="rect">
            <a:avLst/>
          </a:prstGeom>
        </p:spPr>
        <p:txBody>
          <a:bodyPr lIns="0" tIns="0" rIns="0" bIns="0" rtlCol="0" anchor="t">
            <a:spAutoFit/>
          </a:bodyPr>
          <a:lstStyle/>
          <a:p>
            <a:pPr algn="ctr">
              <a:lnSpc>
                <a:spcPts val="5599"/>
              </a:lnSpc>
              <a:spcBef>
                <a:spcPct val="0"/>
              </a:spcBef>
            </a:pPr>
            <a:r>
              <a:rPr lang="en-US" sz="3999" b="1">
                <a:solidFill>
                  <a:srgbClr val="00569E"/>
                </a:solidFill>
                <a:latin typeface="Montserrat Bold"/>
                <a:ea typeface="Montserrat Bold"/>
                <a:cs typeface="Montserrat Bold"/>
                <a:sym typeface="Montserrat Bold"/>
              </a:rPr>
              <a:t>The model achieved 98% acc on the Training data</a:t>
            </a:r>
          </a:p>
        </p:txBody>
      </p:sp>
      <p:grpSp>
        <p:nvGrpSpPr>
          <p:cNvPr id="18" name="Group 18"/>
          <p:cNvGrpSpPr/>
          <p:nvPr/>
        </p:nvGrpSpPr>
        <p:grpSpPr>
          <a:xfrm>
            <a:off x="418627" y="2581882"/>
            <a:ext cx="301648" cy="30164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9E"/>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664346"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087024" y="3707701"/>
            <a:ext cx="9525" cy="523875"/>
          </a:xfrm>
          <a:prstGeom prst="rect">
            <a:avLst/>
          </a:prstGeom>
        </p:spPr>
        <p:txBody>
          <a:bodyPr lIns="0" tIns="0" rIns="0" bIns="0" rtlCol="0" anchor="t">
            <a:spAutoFit/>
          </a:bodyPr>
          <a:lstStyle/>
          <a:p>
            <a:pPr algn="ctr" rtl="1">
              <a:lnSpc>
                <a:spcPts val="4200"/>
              </a:lnSpc>
            </a:pPr>
            <a:endParaRPr/>
          </a:p>
        </p:txBody>
      </p:sp>
      <p:sp>
        <p:nvSpPr>
          <p:cNvPr id="6" name="TextBox 6"/>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sp>
        <p:nvSpPr>
          <p:cNvPr id="7" name="TextBox 7"/>
          <p:cNvSpPr txBox="1"/>
          <p:nvPr/>
        </p:nvSpPr>
        <p:spPr>
          <a:xfrm>
            <a:off x="1725389" y="3707701"/>
            <a:ext cx="6162983" cy="1301803"/>
          </a:xfrm>
          <a:prstGeom prst="rect">
            <a:avLst/>
          </a:prstGeom>
        </p:spPr>
        <p:txBody>
          <a:bodyPr wrap="square" lIns="0" tIns="0" rIns="0" bIns="0" rtlCol="0" anchor="t">
            <a:spAutoFit/>
          </a:bodyPr>
          <a:lstStyle/>
          <a:p>
            <a:pPr>
              <a:lnSpc>
                <a:spcPts val="10672"/>
              </a:lnSpc>
              <a:spcBef>
                <a:spcPct val="0"/>
              </a:spcBef>
            </a:pPr>
            <a:r>
              <a:rPr lang="en-US" sz="7622" b="1" dirty="0">
                <a:solidFill>
                  <a:srgbClr val="00569E"/>
                </a:solidFill>
                <a:latin typeface="Montserrat Bold"/>
                <a:ea typeface="Montserrat Bold"/>
                <a:cs typeface="Montserrat Bold"/>
                <a:sym typeface="Montserrat Bold"/>
              </a:rPr>
              <a:t>DATABASE</a:t>
            </a:r>
          </a:p>
        </p:txBody>
      </p:sp>
      <p:grpSp>
        <p:nvGrpSpPr>
          <p:cNvPr id="8" name="Group 8"/>
          <p:cNvGrpSpPr>
            <a:grpSpLocks noChangeAspect="1"/>
          </p:cNvGrpSpPr>
          <p:nvPr/>
        </p:nvGrpSpPr>
        <p:grpSpPr>
          <a:xfrm>
            <a:off x="8188326" y="2346523"/>
            <a:ext cx="10099674" cy="5793051"/>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l="-3448" r="-3448"/>
              </a:stretch>
            </a:blipFill>
          </p:spPr>
        </p:sp>
      </p:grpSp>
      <p:sp>
        <p:nvSpPr>
          <p:cNvPr id="14" name="TextBox 14"/>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sp>
        <p:nvSpPr>
          <p:cNvPr id="15" name="Freeform 11">
            <a:extLst>
              <a:ext uri="{FF2B5EF4-FFF2-40B4-BE49-F238E27FC236}">
                <a16:creationId xmlns:a16="http://schemas.microsoft.com/office/drawing/2014/main" id="{A33F60E0-8107-5EED-5B7D-13BA8B470EEE}"/>
              </a:ext>
            </a:extLst>
          </p:cNvPr>
          <p:cNvSpPr/>
          <p:nvPr/>
        </p:nvSpPr>
        <p:spPr>
          <a:xfrm rot="5400000">
            <a:off x="2010736" y="5439676"/>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3">
            <a:extLst>
              <a:ext uri="{FF2B5EF4-FFF2-40B4-BE49-F238E27FC236}">
                <a16:creationId xmlns:a16="http://schemas.microsoft.com/office/drawing/2014/main" id="{67AF345C-46BB-7183-5AD1-62D42C6500C5}"/>
              </a:ext>
            </a:extLst>
          </p:cNvPr>
          <p:cNvSpPr txBox="1"/>
          <p:nvPr/>
        </p:nvSpPr>
        <p:spPr>
          <a:xfrm>
            <a:off x="2706837" y="5233251"/>
            <a:ext cx="5663385" cy="897682"/>
          </a:xfrm>
          <a:prstGeom prst="rect">
            <a:avLst/>
          </a:prstGeom>
        </p:spPr>
        <p:txBody>
          <a:bodyPr wrap="square" lIns="0" tIns="0" rIns="0" bIns="0" rtlCol="0" anchor="t">
            <a:spAutoFit/>
          </a:bodyPr>
          <a:lstStyle/>
          <a:p>
            <a:pPr>
              <a:lnSpc>
                <a:spcPts val="7000"/>
              </a:lnSpc>
            </a:pPr>
            <a:r>
              <a:rPr lang="en-US" sz="5000" dirty="0">
                <a:solidFill>
                  <a:srgbClr val="00569E"/>
                </a:solidFill>
                <a:latin typeface="XM Vahid"/>
                <a:ea typeface="XM Vahid"/>
                <a:cs typeface="XM Vahid"/>
                <a:sym typeface="XM Vahid"/>
              </a:rPr>
              <a:t>ERD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F3F91E-707B-3C7A-FAAA-D8D79F814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9631" y="114300"/>
            <a:ext cx="12588738" cy="10096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7678924" y="2927335"/>
            <a:ext cx="10099674" cy="5793051"/>
            <a:chOff x="0" y="0"/>
            <a:chExt cx="7981950" cy="4578350"/>
          </a:xfrm>
        </p:grpSpPr>
        <p:sp>
          <p:nvSpPr>
            <p:cNvPr id="3" name="Freeform 3"/>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4" name="Freeform 4"/>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5" name="Freeform 5"/>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6" name="Freeform 6"/>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7" name="Freeform 7"/>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t="-49865" b="-49865"/>
              </a:stretch>
            </a:blipFill>
          </p:spPr>
        </p:sp>
      </p:grpSp>
      <p:sp>
        <p:nvSpPr>
          <p:cNvPr id="8" name="TextBox 8"/>
          <p:cNvSpPr txBox="1"/>
          <p:nvPr/>
        </p:nvSpPr>
        <p:spPr>
          <a:xfrm>
            <a:off x="0" y="5075653"/>
            <a:ext cx="8516047" cy="1344014"/>
          </a:xfrm>
          <a:prstGeom prst="rect">
            <a:avLst/>
          </a:prstGeom>
        </p:spPr>
        <p:txBody>
          <a:bodyPr lIns="0" tIns="0" rIns="0" bIns="0" rtlCol="0" anchor="t">
            <a:spAutoFit/>
          </a:bodyPr>
          <a:lstStyle/>
          <a:p>
            <a:pPr algn="ctr">
              <a:lnSpc>
                <a:spcPts val="10970"/>
              </a:lnSpc>
              <a:spcBef>
                <a:spcPct val="0"/>
              </a:spcBef>
            </a:pPr>
            <a:r>
              <a:rPr lang="en-US" sz="7836" b="1">
                <a:solidFill>
                  <a:srgbClr val="00569E"/>
                </a:solidFill>
                <a:latin typeface="Montserrat Bold"/>
                <a:ea typeface="Montserrat Bold"/>
                <a:cs typeface="Montserrat Bold"/>
                <a:sym typeface="Montserrat Bold"/>
              </a:rPr>
              <a:t>BACKEND</a:t>
            </a:r>
          </a:p>
        </p:txBody>
      </p:sp>
      <p:sp>
        <p:nvSpPr>
          <p:cNvPr id="9" name="TextBox 9"/>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772885"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6330070" y="3140152"/>
            <a:ext cx="5618334" cy="6280658"/>
          </a:xfrm>
          <a:custGeom>
            <a:avLst/>
            <a:gdLst/>
            <a:ahLst/>
            <a:cxnLst/>
            <a:rect l="l" t="t" r="r" b="b"/>
            <a:pathLst>
              <a:path w="5618334" h="6280658">
                <a:moveTo>
                  <a:pt x="0" y="0"/>
                </a:moveTo>
                <a:lnTo>
                  <a:pt x="5618335" y="0"/>
                </a:lnTo>
                <a:lnTo>
                  <a:pt x="5618335" y="6280658"/>
                </a:lnTo>
                <a:lnTo>
                  <a:pt x="0" y="62806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995394" y="5805819"/>
            <a:ext cx="4306737" cy="854075"/>
          </a:xfrm>
          <a:prstGeom prst="rect">
            <a:avLst/>
          </a:prstGeom>
        </p:spPr>
        <p:txBody>
          <a:bodyPr lIns="0" tIns="0" rIns="0" bIns="0" rtlCol="0" anchor="t">
            <a:spAutoFit/>
          </a:bodyPr>
          <a:lstStyle/>
          <a:p>
            <a:pPr algn="ctr">
              <a:lnSpc>
                <a:spcPts val="7000"/>
              </a:lnSpc>
              <a:spcBef>
                <a:spcPct val="0"/>
              </a:spcBef>
            </a:pPr>
            <a:r>
              <a:rPr lang="en-US" sz="5000" b="1">
                <a:solidFill>
                  <a:srgbClr val="00569E"/>
                </a:solidFill>
                <a:latin typeface="Montserrat Bold"/>
                <a:ea typeface="Montserrat Bold"/>
                <a:cs typeface="Montserrat Bold"/>
                <a:sym typeface="Montserrat Bold"/>
              </a:rPr>
              <a:t>Frameworks</a:t>
            </a:r>
          </a:p>
        </p:txBody>
      </p:sp>
      <p:sp>
        <p:nvSpPr>
          <p:cNvPr id="7" name="TextBox 7"/>
          <p:cNvSpPr txBox="1"/>
          <p:nvPr/>
        </p:nvSpPr>
        <p:spPr>
          <a:xfrm>
            <a:off x="3087024" y="3707701"/>
            <a:ext cx="9525" cy="523875"/>
          </a:xfrm>
          <a:prstGeom prst="rect">
            <a:avLst/>
          </a:prstGeom>
        </p:spPr>
        <p:txBody>
          <a:bodyPr lIns="0" tIns="0" rIns="0" bIns="0" rtlCol="0" anchor="t">
            <a:spAutoFit/>
          </a:bodyPr>
          <a:lstStyle/>
          <a:p>
            <a:pPr algn="ctr" rtl="1">
              <a:lnSpc>
                <a:spcPts val="4200"/>
              </a:lnSpc>
            </a:pPr>
            <a:endParaRPr/>
          </a:p>
        </p:txBody>
      </p:sp>
      <p:sp>
        <p:nvSpPr>
          <p:cNvPr id="8" name="TextBox 8"/>
          <p:cNvSpPr txBox="1"/>
          <p:nvPr/>
        </p:nvSpPr>
        <p:spPr>
          <a:xfrm>
            <a:off x="9139238" y="4652327"/>
            <a:ext cx="9525" cy="887095"/>
          </a:xfrm>
          <a:prstGeom prst="rect">
            <a:avLst/>
          </a:prstGeom>
        </p:spPr>
        <p:txBody>
          <a:bodyPr lIns="0" tIns="0" rIns="0" bIns="0" rtlCol="0" anchor="t">
            <a:spAutoFit/>
          </a:bodyPr>
          <a:lstStyle/>
          <a:p>
            <a:pPr algn="ctr" rtl="1">
              <a:lnSpc>
                <a:spcPts val="7279"/>
              </a:lnSpc>
            </a:pPr>
            <a:endParaRPr/>
          </a:p>
        </p:txBody>
      </p:sp>
      <p:sp>
        <p:nvSpPr>
          <p:cNvPr id="9" name="TextBox 9"/>
          <p:cNvSpPr txBox="1"/>
          <p:nvPr/>
        </p:nvSpPr>
        <p:spPr>
          <a:xfrm>
            <a:off x="2132033" y="847725"/>
            <a:ext cx="14033459" cy="1698626"/>
          </a:xfrm>
          <a:prstGeom prst="rect">
            <a:avLst/>
          </a:prstGeom>
        </p:spPr>
        <p:txBody>
          <a:bodyPr lIns="0" tIns="0" rIns="0" bIns="0" rtlCol="0" anchor="t">
            <a:spAutoFit/>
          </a:bodyPr>
          <a:lstStyle/>
          <a:p>
            <a:pPr algn="ctr">
              <a:lnSpc>
                <a:spcPts val="13999"/>
              </a:lnSpc>
              <a:spcBef>
                <a:spcPct val="0"/>
              </a:spcBef>
            </a:pPr>
            <a:r>
              <a:rPr lang="en-US" sz="9999" b="1">
                <a:solidFill>
                  <a:srgbClr val="00569E"/>
                </a:solidFill>
                <a:latin typeface="Montserrat Bold"/>
                <a:ea typeface="Montserrat Bold"/>
                <a:cs typeface="Montserrat Bold"/>
                <a:sym typeface="Montserrat Bold"/>
              </a:rPr>
              <a:t>BACKEND</a:t>
            </a:r>
          </a:p>
        </p:txBody>
      </p:sp>
      <p:sp>
        <p:nvSpPr>
          <p:cNvPr id="10" name="TextBox 10"/>
          <p:cNvSpPr txBox="1"/>
          <p:nvPr/>
        </p:nvSpPr>
        <p:spPr>
          <a:xfrm>
            <a:off x="11169547" y="3482313"/>
            <a:ext cx="6089753" cy="936551"/>
          </a:xfrm>
          <a:prstGeom prst="rect">
            <a:avLst/>
          </a:prstGeom>
        </p:spPr>
        <p:txBody>
          <a:bodyPr lIns="0" tIns="0" rIns="0" bIns="0" rtlCol="0" anchor="t">
            <a:spAutoFit/>
          </a:bodyPr>
          <a:lstStyle/>
          <a:p>
            <a:pPr algn="ctr">
              <a:lnSpc>
                <a:spcPts val="7699"/>
              </a:lnSpc>
              <a:spcBef>
                <a:spcPct val="0"/>
              </a:spcBef>
            </a:pPr>
            <a:r>
              <a:rPr lang="en-US" sz="5499" b="1">
                <a:solidFill>
                  <a:srgbClr val="00569E"/>
                </a:solidFill>
                <a:latin typeface="Montserrat Bold"/>
                <a:ea typeface="Montserrat Bold"/>
                <a:cs typeface="Montserrat Bold"/>
                <a:sym typeface="Montserrat Bold"/>
              </a:rPr>
              <a:t>Asp .Net Core</a:t>
            </a:r>
          </a:p>
        </p:txBody>
      </p:sp>
      <p:sp>
        <p:nvSpPr>
          <p:cNvPr id="11" name="TextBox 11"/>
          <p:cNvSpPr txBox="1"/>
          <p:nvPr/>
        </p:nvSpPr>
        <p:spPr>
          <a:xfrm>
            <a:off x="3709090" y="7841324"/>
            <a:ext cx="3599901" cy="936625"/>
          </a:xfrm>
          <a:prstGeom prst="rect">
            <a:avLst/>
          </a:prstGeom>
        </p:spPr>
        <p:txBody>
          <a:bodyPr lIns="0" tIns="0" rIns="0" bIns="0" rtlCol="0" anchor="t">
            <a:spAutoFit/>
          </a:bodyPr>
          <a:lstStyle/>
          <a:p>
            <a:pPr algn="ctr">
              <a:lnSpc>
                <a:spcPts val="7699"/>
              </a:lnSpc>
              <a:spcBef>
                <a:spcPct val="0"/>
              </a:spcBef>
            </a:pPr>
            <a:r>
              <a:rPr lang="en-US" sz="5499" b="1">
                <a:solidFill>
                  <a:srgbClr val="00569E"/>
                </a:solidFill>
                <a:latin typeface="Montserrat Bold"/>
                <a:ea typeface="Montserrat Bold"/>
                <a:cs typeface="Montserrat Bold"/>
                <a:sym typeface="Montserrat Bold"/>
              </a:rPr>
              <a:t>Flask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7723" y="4306228"/>
            <a:ext cx="3850853" cy="1925426"/>
          </a:xfrm>
          <a:custGeom>
            <a:avLst/>
            <a:gdLst/>
            <a:ahLst/>
            <a:cxnLst/>
            <a:rect l="l" t="t" r="r" b="b"/>
            <a:pathLst>
              <a:path w="3850853" h="1925426">
                <a:moveTo>
                  <a:pt x="0" y="0"/>
                </a:moveTo>
                <a:lnTo>
                  <a:pt x="3850853" y="0"/>
                </a:lnTo>
                <a:lnTo>
                  <a:pt x="3850853" y="1925427"/>
                </a:lnTo>
                <a:lnTo>
                  <a:pt x="0" y="1925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4146146" y="595780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293844" y="4306228"/>
            <a:ext cx="3343241" cy="1671621"/>
          </a:xfrm>
          <a:custGeom>
            <a:avLst/>
            <a:gdLst/>
            <a:ahLst/>
            <a:cxnLst/>
            <a:rect l="l" t="t" r="r" b="b"/>
            <a:pathLst>
              <a:path w="3343241" h="1671621">
                <a:moveTo>
                  <a:pt x="0" y="0"/>
                </a:moveTo>
                <a:lnTo>
                  <a:pt x="3343241" y="0"/>
                </a:lnTo>
                <a:lnTo>
                  <a:pt x="3343241" y="1671621"/>
                </a:lnTo>
                <a:lnTo>
                  <a:pt x="0" y="16716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0800000">
            <a:off x="10450367" y="5964484"/>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599328" y="431291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7" name="Group 7"/>
          <p:cNvGrpSpPr>
            <a:grpSpLocks noChangeAspect="1"/>
          </p:cNvGrpSpPr>
          <p:nvPr/>
        </p:nvGrpSpPr>
        <p:grpSpPr>
          <a:xfrm>
            <a:off x="3827655" y="5946525"/>
            <a:ext cx="848136" cy="570260"/>
            <a:chOff x="0" y="0"/>
            <a:chExt cx="1930400" cy="1297940"/>
          </a:xfrm>
        </p:grpSpPr>
        <p:sp>
          <p:nvSpPr>
            <p:cNvPr id="8" name="Freeform 8"/>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4FCDCC"/>
            </a:solidFill>
          </p:spPr>
        </p:sp>
      </p:grpSp>
      <p:grpSp>
        <p:nvGrpSpPr>
          <p:cNvPr id="9" name="Group 9"/>
          <p:cNvGrpSpPr>
            <a:grpSpLocks noChangeAspect="1"/>
          </p:cNvGrpSpPr>
          <p:nvPr/>
        </p:nvGrpSpPr>
        <p:grpSpPr>
          <a:xfrm>
            <a:off x="10120271" y="5971166"/>
            <a:ext cx="848136" cy="570260"/>
            <a:chOff x="0" y="0"/>
            <a:chExt cx="1930400" cy="1297940"/>
          </a:xfrm>
        </p:grpSpPr>
        <p:sp>
          <p:nvSpPr>
            <p:cNvPr id="10" name="Freeform 10"/>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2C92D5"/>
            </a:solidFill>
          </p:spPr>
        </p:sp>
      </p:grpSp>
      <p:grpSp>
        <p:nvGrpSpPr>
          <p:cNvPr id="11" name="Group 11"/>
          <p:cNvGrpSpPr>
            <a:grpSpLocks noChangeAspect="1"/>
          </p:cNvGrpSpPr>
          <p:nvPr/>
        </p:nvGrpSpPr>
        <p:grpSpPr>
          <a:xfrm>
            <a:off x="16411164" y="5946525"/>
            <a:ext cx="848136" cy="570260"/>
            <a:chOff x="0" y="0"/>
            <a:chExt cx="1930400" cy="1297940"/>
          </a:xfrm>
        </p:grpSpPr>
        <p:sp>
          <p:nvSpPr>
            <p:cNvPr id="12" name="Freeform 12"/>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13538A"/>
            </a:solidFill>
          </p:spPr>
        </p:sp>
      </p:grpSp>
      <p:grpSp>
        <p:nvGrpSpPr>
          <p:cNvPr id="13" name="Group 13"/>
          <p:cNvGrpSpPr/>
          <p:nvPr/>
        </p:nvGrpSpPr>
        <p:grpSpPr>
          <a:xfrm>
            <a:off x="1237823" y="4863436"/>
            <a:ext cx="2313607" cy="2166177"/>
            <a:chOff x="0" y="0"/>
            <a:chExt cx="868119" cy="812800"/>
          </a:xfrm>
        </p:grpSpPr>
        <p:sp>
          <p:nvSpPr>
            <p:cNvPr id="14" name="Freeform 14"/>
            <p:cNvSpPr/>
            <p:nvPr/>
          </p:nvSpPr>
          <p:spPr>
            <a:xfrm>
              <a:off x="0" y="0"/>
              <a:ext cx="868119" cy="812800"/>
            </a:xfrm>
            <a:custGeom>
              <a:avLst/>
              <a:gdLst/>
              <a:ahLst/>
              <a:cxnLst/>
              <a:rect l="l" t="t" r="r" b="b"/>
              <a:pathLst>
                <a:path w="868119" h="812800">
                  <a:moveTo>
                    <a:pt x="434060" y="0"/>
                  </a:moveTo>
                  <a:cubicBezTo>
                    <a:pt x="194335" y="0"/>
                    <a:pt x="0" y="181951"/>
                    <a:pt x="0" y="406400"/>
                  </a:cubicBezTo>
                  <a:cubicBezTo>
                    <a:pt x="0" y="630849"/>
                    <a:pt x="194335" y="812800"/>
                    <a:pt x="434060" y="812800"/>
                  </a:cubicBezTo>
                  <a:cubicBezTo>
                    <a:pt x="673784" y="812800"/>
                    <a:pt x="868119" y="630849"/>
                    <a:pt x="868119" y="406400"/>
                  </a:cubicBezTo>
                  <a:cubicBezTo>
                    <a:pt x="868119" y="181951"/>
                    <a:pt x="673784" y="0"/>
                    <a:pt x="434060" y="0"/>
                  </a:cubicBezTo>
                  <a:close/>
                </a:path>
              </a:pathLst>
            </a:custGeom>
            <a:solidFill>
              <a:srgbClr val="4FCDCC"/>
            </a:solidFill>
          </p:spPr>
        </p:sp>
        <p:sp>
          <p:nvSpPr>
            <p:cNvPr id="15" name="TextBox 15"/>
            <p:cNvSpPr txBox="1"/>
            <p:nvPr/>
          </p:nvSpPr>
          <p:spPr>
            <a:xfrm>
              <a:off x="81386" y="0"/>
              <a:ext cx="705347"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1</a:t>
              </a:r>
            </a:p>
          </p:txBody>
        </p:sp>
      </p:grpSp>
      <p:grpSp>
        <p:nvGrpSpPr>
          <p:cNvPr id="16" name="Group 16"/>
          <p:cNvGrpSpPr/>
          <p:nvPr/>
        </p:nvGrpSpPr>
        <p:grpSpPr>
          <a:xfrm>
            <a:off x="4747578" y="4790795"/>
            <a:ext cx="2270040" cy="2166177"/>
            <a:chOff x="0" y="0"/>
            <a:chExt cx="851772" cy="812800"/>
          </a:xfrm>
        </p:grpSpPr>
        <p:sp>
          <p:nvSpPr>
            <p:cNvPr id="17" name="Freeform 17"/>
            <p:cNvSpPr/>
            <p:nvPr/>
          </p:nvSpPr>
          <p:spPr>
            <a:xfrm>
              <a:off x="0" y="0"/>
              <a:ext cx="851772" cy="812800"/>
            </a:xfrm>
            <a:custGeom>
              <a:avLst/>
              <a:gdLst/>
              <a:ahLst/>
              <a:cxnLst/>
              <a:rect l="l" t="t" r="r" b="b"/>
              <a:pathLst>
                <a:path w="851772" h="812800">
                  <a:moveTo>
                    <a:pt x="425886" y="0"/>
                  </a:moveTo>
                  <a:cubicBezTo>
                    <a:pt x="190676" y="0"/>
                    <a:pt x="0" y="181951"/>
                    <a:pt x="0" y="406400"/>
                  </a:cubicBezTo>
                  <a:cubicBezTo>
                    <a:pt x="0" y="630849"/>
                    <a:pt x="190676" y="812800"/>
                    <a:pt x="425886" y="812800"/>
                  </a:cubicBezTo>
                  <a:cubicBezTo>
                    <a:pt x="661096" y="812800"/>
                    <a:pt x="851772" y="630849"/>
                    <a:pt x="851772" y="406400"/>
                  </a:cubicBezTo>
                  <a:cubicBezTo>
                    <a:pt x="851772" y="181951"/>
                    <a:pt x="661096" y="0"/>
                    <a:pt x="425886" y="0"/>
                  </a:cubicBezTo>
                  <a:close/>
                </a:path>
              </a:pathLst>
            </a:custGeom>
            <a:solidFill>
              <a:srgbClr val="18B6B4"/>
            </a:solidFill>
          </p:spPr>
        </p:sp>
        <p:sp>
          <p:nvSpPr>
            <p:cNvPr id="18" name="TextBox 18"/>
            <p:cNvSpPr txBox="1"/>
            <p:nvPr/>
          </p:nvSpPr>
          <p:spPr>
            <a:xfrm>
              <a:off x="79854" y="0"/>
              <a:ext cx="692065"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2</a:t>
              </a:r>
            </a:p>
          </p:txBody>
        </p:sp>
      </p:grpSp>
      <p:grpSp>
        <p:nvGrpSpPr>
          <p:cNvPr id="19" name="Group 19"/>
          <p:cNvGrpSpPr/>
          <p:nvPr/>
        </p:nvGrpSpPr>
        <p:grpSpPr>
          <a:xfrm>
            <a:off x="7895276" y="4790795"/>
            <a:ext cx="2166177" cy="216617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id="21" name="TextBox 21"/>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3</a:t>
              </a:r>
            </a:p>
          </p:txBody>
        </p:sp>
      </p:grpSp>
      <p:grpSp>
        <p:nvGrpSpPr>
          <p:cNvPr id="22" name="Group 22"/>
          <p:cNvGrpSpPr/>
          <p:nvPr/>
        </p:nvGrpSpPr>
        <p:grpSpPr>
          <a:xfrm>
            <a:off x="10968407" y="4790795"/>
            <a:ext cx="2166177" cy="216617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id="24" name="TextBox 24"/>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4</a:t>
              </a:r>
            </a:p>
          </p:txBody>
        </p:sp>
      </p:grpSp>
      <p:grpSp>
        <p:nvGrpSpPr>
          <p:cNvPr id="25" name="Group 25"/>
          <p:cNvGrpSpPr/>
          <p:nvPr/>
        </p:nvGrpSpPr>
        <p:grpSpPr>
          <a:xfrm>
            <a:off x="14058509" y="4790795"/>
            <a:ext cx="2166177" cy="216617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id="27" name="TextBox 27"/>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5</a:t>
              </a:r>
            </a:p>
          </p:txBody>
        </p:sp>
      </p:grpSp>
      <p:sp>
        <p:nvSpPr>
          <p:cNvPr id="28" name="TextBox 28"/>
          <p:cNvSpPr txBox="1"/>
          <p:nvPr/>
        </p:nvSpPr>
        <p:spPr>
          <a:xfrm>
            <a:off x="-39550" y="7337972"/>
            <a:ext cx="4945399" cy="1716624"/>
          </a:xfrm>
          <a:prstGeom prst="rect">
            <a:avLst/>
          </a:prstGeom>
        </p:spPr>
        <p:txBody>
          <a:bodyPr lIns="0" tIns="0" rIns="0" bIns="0" rtlCol="0" anchor="t">
            <a:spAutoFit/>
          </a:bodyPr>
          <a:lstStyle/>
          <a:p>
            <a:pPr marL="0" lvl="0" indent="0" algn="ctr">
              <a:lnSpc>
                <a:spcPts val="4620"/>
              </a:lnSpc>
            </a:pPr>
            <a:r>
              <a:rPr lang="en-US" sz="3300" b="1" u="none" spc="99" dirty="0">
                <a:solidFill>
                  <a:srgbClr val="191919"/>
                </a:solidFill>
                <a:latin typeface="Aileron"/>
                <a:ea typeface="Aileron"/>
                <a:cs typeface="Aileron"/>
                <a:sym typeface="Aileron"/>
              </a:rPr>
              <a:t>Mobile or Web App</a:t>
            </a:r>
          </a:p>
          <a:p>
            <a:pPr marL="0" lvl="0" indent="0" algn="ctr">
              <a:lnSpc>
                <a:spcPts val="4620"/>
              </a:lnSpc>
            </a:pPr>
            <a:r>
              <a:rPr lang="en-US" sz="3300" u="none" spc="99" dirty="0">
                <a:solidFill>
                  <a:srgbClr val="191919"/>
                </a:solidFill>
                <a:latin typeface="Aileron"/>
                <a:ea typeface="Aileron"/>
                <a:cs typeface="Aileron"/>
                <a:sym typeface="Aileron"/>
              </a:rPr>
              <a:t>   </a:t>
            </a:r>
            <a:r>
              <a:rPr lang="en-US" sz="2800" u="none" spc="99" dirty="0">
                <a:solidFill>
                  <a:srgbClr val="191919"/>
                </a:solidFill>
                <a:latin typeface="Aileron"/>
                <a:ea typeface="Aileron"/>
                <a:cs typeface="Aileron"/>
                <a:sym typeface="Aileron"/>
              </a:rPr>
              <a:t>User uploads or records a baby cry audio file.</a:t>
            </a:r>
            <a:endParaRPr lang="en-US" sz="3300" u="none" spc="99" dirty="0">
              <a:solidFill>
                <a:srgbClr val="191919"/>
              </a:solidFill>
              <a:latin typeface="Aileron"/>
              <a:ea typeface="Aileron"/>
              <a:cs typeface="Aileron"/>
              <a:sym typeface="Aileron"/>
            </a:endParaRPr>
          </a:p>
        </p:txBody>
      </p:sp>
      <p:sp>
        <p:nvSpPr>
          <p:cNvPr id="29" name="TextBox 29"/>
          <p:cNvSpPr txBox="1"/>
          <p:nvPr/>
        </p:nvSpPr>
        <p:spPr>
          <a:xfrm>
            <a:off x="5526642" y="7328447"/>
            <a:ext cx="7607942" cy="2933065"/>
          </a:xfrm>
          <a:prstGeom prst="rect">
            <a:avLst/>
          </a:prstGeom>
        </p:spPr>
        <p:txBody>
          <a:bodyPr lIns="0" tIns="0" rIns="0" bIns="0" rtlCol="0" anchor="t">
            <a:spAutoFit/>
          </a:bodyPr>
          <a:lstStyle/>
          <a:p>
            <a:pPr algn="ctr">
              <a:lnSpc>
                <a:spcPts val="4900"/>
              </a:lnSpc>
            </a:pPr>
            <a:r>
              <a:rPr lang="en-US" sz="3500" b="1" spc="105" dirty="0">
                <a:solidFill>
                  <a:srgbClr val="191919"/>
                </a:solidFill>
                <a:latin typeface="Aileron"/>
                <a:ea typeface="Aileron"/>
                <a:cs typeface="Aileron"/>
                <a:sym typeface="Aileron"/>
              </a:rPr>
              <a:t> Flask Server</a:t>
            </a:r>
          </a:p>
          <a:p>
            <a:pPr marL="0" lvl="0" indent="0" algn="ctr">
              <a:lnSpc>
                <a:spcPts val="4620"/>
              </a:lnSpc>
            </a:pPr>
            <a:r>
              <a:rPr lang="en-US" sz="3300" spc="99" dirty="0">
                <a:solidFill>
                  <a:srgbClr val="191919"/>
                </a:solidFill>
                <a:latin typeface="Aileron"/>
                <a:ea typeface="Aileron"/>
                <a:cs typeface="Aileron"/>
                <a:sym typeface="Aileron"/>
              </a:rPr>
              <a:t>   </a:t>
            </a:r>
            <a:r>
              <a:rPr lang="en-US" sz="2800" u="none" spc="99" dirty="0">
                <a:solidFill>
                  <a:srgbClr val="191919"/>
                </a:solidFill>
                <a:latin typeface="Aileron"/>
                <a:ea typeface="Aileron"/>
                <a:cs typeface="Aileron"/>
                <a:sym typeface="Aileron"/>
              </a:rPr>
              <a:t>Preprocesses the audio, runs the AI model to classify the cry, and returns the prediction result to the backend.</a:t>
            </a:r>
          </a:p>
          <a:p>
            <a:pPr marL="0" lvl="0" indent="0" algn="ctr">
              <a:lnSpc>
                <a:spcPts val="4620"/>
              </a:lnSpc>
            </a:pPr>
            <a:endParaRPr lang="en-US" sz="3300" u="none" spc="99" dirty="0">
              <a:solidFill>
                <a:srgbClr val="191919"/>
              </a:solidFill>
              <a:latin typeface="Aileron"/>
              <a:ea typeface="Aileron"/>
              <a:cs typeface="Aileron"/>
              <a:sym typeface="Aileron"/>
            </a:endParaRPr>
          </a:p>
        </p:txBody>
      </p:sp>
      <p:sp>
        <p:nvSpPr>
          <p:cNvPr id="30" name="TextBox 30"/>
          <p:cNvSpPr txBox="1"/>
          <p:nvPr/>
        </p:nvSpPr>
        <p:spPr>
          <a:xfrm>
            <a:off x="13715609" y="7337972"/>
            <a:ext cx="4462001" cy="1716624"/>
          </a:xfrm>
          <a:prstGeom prst="rect">
            <a:avLst/>
          </a:prstGeom>
        </p:spPr>
        <p:txBody>
          <a:bodyPr lIns="0" tIns="0" rIns="0" bIns="0" rtlCol="0" anchor="t">
            <a:spAutoFit/>
          </a:bodyPr>
          <a:lstStyle/>
          <a:p>
            <a:pPr algn="ctr">
              <a:lnSpc>
                <a:spcPts val="4620"/>
              </a:lnSpc>
            </a:pPr>
            <a:r>
              <a:rPr lang="en-US" sz="3300" b="1" spc="99" dirty="0">
                <a:solidFill>
                  <a:srgbClr val="191919"/>
                </a:solidFill>
                <a:latin typeface="Aileron"/>
                <a:ea typeface="Aileron"/>
                <a:cs typeface="Aileron"/>
                <a:sym typeface="Aileron"/>
              </a:rPr>
              <a:t> Mobile or Web App</a:t>
            </a:r>
          </a:p>
          <a:p>
            <a:pPr algn="ctr">
              <a:lnSpc>
                <a:spcPts val="4620"/>
              </a:lnSpc>
            </a:pPr>
            <a:r>
              <a:rPr lang="en-US" sz="2800" spc="99" dirty="0">
                <a:solidFill>
                  <a:srgbClr val="191919"/>
                </a:solidFill>
                <a:latin typeface="Aileron"/>
                <a:ea typeface="Aileron"/>
                <a:cs typeface="Aileron"/>
                <a:sym typeface="Aileron"/>
              </a:rPr>
              <a:t>Disp</a:t>
            </a:r>
            <a:r>
              <a:rPr lang="en-US" sz="2800" u="none" spc="99" dirty="0">
                <a:solidFill>
                  <a:srgbClr val="191919"/>
                </a:solidFill>
                <a:latin typeface="Aileron"/>
                <a:ea typeface="Aileron"/>
                <a:cs typeface="Aileron"/>
                <a:sym typeface="Aileron"/>
              </a:rPr>
              <a:t>lays the prediction result to the user.</a:t>
            </a:r>
          </a:p>
        </p:txBody>
      </p:sp>
      <p:sp>
        <p:nvSpPr>
          <p:cNvPr id="31" name="TextBox 31"/>
          <p:cNvSpPr txBox="1"/>
          <p:nvPr/>
        </p:nvSpPr>
        <p:spPr>
          <a:xfrm>
            <a:off x="2619693" y="2655856"/>
            <a:ext cx="5813897" cy="1704826"/>
          </a:xfrm>
          <a:prstGeom prst="rect">
            <a:avLst/>
          </a:prstGeom>
        </p:spPr>
        <p:txBody>
          <a:bodyPr lIns="0" tIns="0" rIns="0" bIns="0" rtlCol="0" anchor="t">
            <a:spAutoFit/>
          </a:bodyPr>
          <a:lstStyle/>
          <a:p>
            <a:pPr marL="0" lvl="0" indent="0" algn="ctr">
              <a:lnSpc>
                <a:spcPts val="4620"/>
              </a:lnSpc>
            </a:pPr>
            <a:r>
              <a:rPr lang="en-US" sz="3300" b="1" spc="99" dirty="0">
                <a:solidFill>
                  <a:srgbClr val="191919"/>
                </a:solidFill>
                <a:latin typeface="Aileron"/>
                <a:ea typeface="Aileron"/>
                <a:cs typeface="Aileron"/>
                <a:sym typeface="Aileron"/>
              </a:rPr>
              <a:t>Backend </a:t>
            </a:r>
            <a:r>
              <a:rPr lang="en-US" sz="3300" b="1" u="none" spc="99" dirty="0">
                <a:solidFill>
                  <a:srgbClr val="191919"/>
                </a:solidFill>
                <a:latin typeface="Aileron"/>
                <a:ea typeface="Aileron"/>
                <a:cs typeface="Aileron"/>
                <a:sym typeface="Aileron"/>
              </a:rPr>
              <a:t>API </a:t>
            </a:r>
          </a:p>
          <a:p>
            <a:pPr marL="0" lvl="0" indent="0" algn="ctr">
              <a:lnSpc>
                <a:spcPts val="4620"/>
              </a:lnSpc>
            </a:pPr>
            <a:r>
              <a:rPr lang="en-US" sz="3300" u="none" spc="99" dirty="0">
                <a:solidFill>
                  <a:srgbClr val="191919"/>
                </a:solidFill>
                <a:latin typeface="Aileron"/>
                <a:ea typeface="Aileron"/>
                <a:cs typeface="Aileron"/>
                <a:sym typeface="Aileron"/>
              </a:rPr>
              <a:t> </a:t>
            </a:r>
            <a:r>
              <a:rPr lang="en-US" sz="2800" u="none" spc="99" dirty="0">
                <a:solidFill>
                  <a:srgbClr val="191919"/>
                </a:solidFill>
                <a:latin typeface="Aileron"/>
                <a:ea typeface="Aileron"/>
                <a:cs typeface="Aileron"/>
                <a:sym typeface="Aileron"/>
              </a:rPr>
              <a:t>Receives the uploaded audio and sends it to the Flask server.</a:t>
            </a:r>
            <a:endParaRPr lang="en-US" sz="3300" u="none" spc="99" dirty="0">
              <a:solidFill>
                <a:srgbClr val="191919"/>
              </a:solidFill>
              <a:latin typeface="Aileron"/>
              <a:ea typeface="Aileron"/>
              <a:cs typeface="Aileron"/>
              <a:sym typeface="Aileron"/>
            </a:endParaRPr>
          </a:p>
        </p:txBody>
      </p:sp>
      <p:sp>
        <p:nvSpPr>
          <p:cNvPr id="32" name="TextBox 32"/>
          <p:cNvSpPr txBox="1"/>
          <p:nvPr/>
        </p:nvSpPr>
        <p:spPr>
          <a:xfrm>
            <a:off x="9589212" y="2649319"/>
            <a:ext cx="5003360" cy="1725930"/>
          </a:xfrm>
          <a:prstGeom prst="rect">
            <a:avLst/>
          </a:prstGeom>
        </p:spPr>
        <p:txBody>
          <a:bodyPr lIns="0" tIns="0" rIns="0" bIns="0" rtlCol="0" anchor="t">
            <a:spAutoFit/>
          </a:bodyPr>
          <a:lstStyle/>
          <a:p>
            <a:pPr marL="0" lvl="0" indent="0" algn="ctr">
              <a:lnSpc>
                <a:spcPts val="4620"/>
              </a:lnSpc>
            </a:pPr>
            <a:r>
              <a:rPr lang="en-US" sz="3300" b="1" u="none" spc="99" dirty="0">
                <a:solidFill>
                  <a:srgbClr val="191919"/>
                </a:solidFill>
                <a:latin typeface="Aileron"/>
                <a:ea typeface="Aileron"/>
                <a:cs typeface="Aileron"/>
                <a:sym typeface="Aileron"/>
              </a:rPr>
              <a:t> SQL Server</a:t>
            </a:r>
            <a:endParaRPr lang="en-US" sz="3300" b="1" spc="99" dirty="0">
              <a:solidFill>
                <a:srgbClr val="191919"/>
              </a:solidFill>
              <a:latin typeface="Aileron"/>
              <a:ea typeface="Aileron"/>
              <a:cs typeface="Aileron"/>
              <a:sym typeface="Aileron"/>
            </a:endParaRPr>
          </a:p>
          <a:p>
            <a:pPr marL="0" lvl="0" indent="0" algn="ctr">
              <a:lnSpc>
                <a:spcPts val="4620"/>
              </a:lnSpc>
            </a:pPr>
            <a:r>
              <a:rPr lang="en-US" sz="2800" u="none" spc="99" dirty="0">
                <a:solidFill>
                  <a:srgbClr val="191919"/>
                </a:solidFill>
                <a:latin typeface="Aileron"/>
                <a:ea typeface="Aileron"/>
                <a:cs typeface="Aileron"/>
                <a:sym typeface="Aileron"/>
              </a:rPr>
              <a:t>Stores the prediction result in the database</a:t>
            </a:r>
            <a:r>
              <a:rPr lang="en-US" sz="3300" u="none" spc="99" dirty="0">
                <a:solidFill>
                  <a:srgbClr val="191919"/>
                </a:solidFill>
                <a:latin typeface="Aileron"/>
                <a:ea typeface="Aileron"/>
                <a:cs typeface="Aileron"/>
                <a:sym typeface="Aileron"/>
              </a:rPr>
              <a:t>.</a:t>
            </a:r>
          </a:p>
        </p:txBody>
      </p:sp>
      <p:grpSp>
        <p:nvGrpSpPr>
          <p:cNvPr id="33" name="Group 33"/>
          <p:cNvGrpSpPr/>
          <p:nvPr/>
        </p:nvGrpSpPr>
        <p:grpSpPr>
          <a:xfrm>
            <a:off x="4572292" y="663668"/>
            <a:ext cx="9620141" cy="1088415"/>
            <a:chOff x="-138000" y="499314"/>
            <a:chExt cx="12826855" cy="1451220"/>
          </a:xfrm>
        </p:grpSpPr>
        <p:sp>
          <p:nvSpPr>
            <p:cNvPr id="34" name="TextBox 34"/>
            <p:cNvSpPr txBox="1"/>
            <p:nvPr/>
          </p:nvSpPr>
          <p:spPr>
            <a:xfrm>
              <a:off x="0" y="1459881"/>
              <a:ext cx="12688855" cy="481744"/>
            </a:xfrm>
            <a:prstGeom prst="rect">
              <a:avLst/>
            </a:prstGeom>
          </p:spPr>
          <p:txBody>
            <a:bodyPr lIns="0" tIns="0" rIns="0" bIns="0" rtlCol="0" anchor="t">
              <a:spAutoFit/>
            </a:bodyPr>
            <a:lstStyle/>
            <a:p>
              <a:pPr marL="0" lvl="0" indent="0" algn="ctr">
                <a:lnSpc>
                  <a:spcPts val="3096"/>
                </a:lnSpc>
              </a:pPr>
              <a:endParaRPr/>
            </a:p>
          </p:txBody>
        </p:sp>
        <p:sp>
          <p:nvSpPr>
            <p:cNvPr id="35" name="TextBox 35"/>
            <p:cNvSpPr txBox="1"/>
            <p:nvPr/>
          </p:nvSpPr>
          <p:spPr>
            <a:xfrm>
              <a:off x="-138000" y="499314"/>
              <a:ext cx="12688855" cy="1451220"/>
            </a:xfrm>
            <a:prstGeom prst="rect">
              <a:avLst/>
            </a:prstGeom>
          </p:spPr>
          <p:txBody>
            <a:bodyPr lIns="0" tIns="0" rIns="0" bIns="0" rtlCol="0" anchor="t">
              <a:spAutoFit/>
            </a:bodyPr>
            <a:lstStyle/>
            <a:p>
              <a:pPr marL="0" lvl="0" indent="0" algn="ctr">
                <a:lnSpc>
                  <a:spcPts val="8914"/>
                </a:lnSpc>
              </a:pPr>
              <a:r>
                <a:rPr lang="en-US" sz="6805" b="1" spc="204" dirty="0">
                  <a:solidFill>
                    <a:srgbClr val="145DA0"/>
                  </a:solidFill>
                  <a:latin typeface="Aileron Ultra-Bold"/>
                  <a:ea typeface="Aileron Ultra-Bold"/>
                  <a:cs typeface="Aileron Ultra-Bold"/>
                  <a:sym typeface="Aileron Ultra-Bold"/>
                </a:rPr>
                <a:t>AI Analysis Flow</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9448543" y="2936456"/>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9" name="Group 9"/>
          <p:cNvGrpSpPr/>
          <p:nvPr/>
        </p:nvGrpSpPr>
        <p:grpSpPr>
          <a:xfrm>
            <a:off x="8148911" y="3461780"/>
            <a:ext cx="373607" cy="37360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11" name="TextBox 11"/>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12" name="Group 12"/>
          <p:cNvGrpSpPr/>
          <p:nvPr/>
        </p:nvGrpSpPr>
        <p:grpSpPr>
          <a:xfrm>
            <a:off x="8148911" y="6396748"/>
            <a:ext cx="373607" cy="37360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14" name="TextBox 14"/>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15" name="Freeform 15"/>
          <p:cNvSpPr/>
          <p:nvPr/>
        </p:nvSpPr>
        <p:spPr>
          <a:xfrm>
            <a:off x="9448543" y="5871423"/>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6" name="TextBox 16"/>
          <p:cNvSpPr txBox="1"/>
          <p:nvPr/>
        </p:nvSpPr>
        <p:spPr>
          <a:xfrm>
            <a:off x="9614945" y="6149540"/>
            <a:ext cx="1155680" cy="712472"/>
          </a:xfrm>
          <a:prstGeom prst="rect">
            <a:avLst/>
          </a:prstGeom>
        </p:spPr>
        <p:txBody>
          <a:bodyPr lIns="0" tIns="0" rIns="0" bIns="0" rtlCol="0" anchor="t">
            <a:spAutoFit/>
          </a:bodyPr>
          <a:lstStyle/>
          <a:p>
            <a:pPr algn="ctr">
              <a:lnSpc>
                <a:spcPts val="5879"/>
              </a:lnSpc>
              <a:spcBef>
                <a:spcPct val="0"/>
              </a:spcBef>
            </a:pPr>
            <a:r>
              <a:rPr lang="en-US" sz="4199" b="1">
                <a:solidFill>
                  <a:srgbClr val="FFFFFF"/>
                </a:solidFill>
                <a:latin typeface="Montserrat Bold"/>
                <a:ea typeface="Montserrat Bold"/>
                <a:cs typeface="Montserrat Bold"/>
                <a:sym typeface="Montserrat Bold"/>
              </a:rPr>
              <a:t>02</a:t>
            </a:r>
          </a:p>
        </p:txBody>
      </p:sp>
      <p:sp>
        <p:nvSpPr>
          <p:cNvPr id="17" name="TextBox 17"/>
          <p:cNvSpPr txBox="1"/>
          <p:nvPr/>
        </p:nvSpPr>
        <p:spPr>
          <a:xfrm>
            <a:off x="11310949" y="6130490"/>
            <a:ext cx="2064745" cy="854075"/>
          </a:xfrm>
          <a:prstGeom prst="rect">
            <a:avLst/>
          </a:prstGeom>
        </p:spPr>
        <p:txBody>
          <a:bodyPr lIns="0" tIns="0" rIns="0" bIns="0" rtlCol="0" anchor="t">
            <a:spAutoFit/>
          </a:bodyPr>
          <a:lstStyle/>
          <a:p>
            <a:pPr algn="ctr">
              <a:lnSpc>
                <a:spcPts val="7000"/>
              </a:lnSpc>
              <a:spcBef>
                <a:spcPct val="0"/>
              </a:spcBef>
            </a:pPr>
            <a:r>
              <a:rPr lang="en-US" sz="5000">
                <a:solidFill>
                  <a:srgbClr val="145DA0"/>
                </a:solidFill>
                <a:latin typeface="Montserrat"/>
                <a:ea typeface="Montserrat"/>
                <a:cs typeface="Montserrat"/>
                <a:sym typeface="Montserrat"/>
              </a:rPr>
              <a:t>SMTP</a:t>
            </a:r>
          </a:p>
        </p:txBody>
      </p:sp>
      <p:sp>
        <p:nvSpPr>
          <p:cNvPr id="18" name="TextBox 18"/>
          <p:cNvSpPr txBox="1"/>
          <p:nvPr/>
        </p:nvSpPr>
        <p:spPr>
          <a:xfrm>
            <a:off x="9596574" y="3219782"/>
            <a:ext cx="1134140" cy="802409"/>
          </a:xfrm>
          <a:prstGeom prst="rect">
            <a:avLst/>
          </a:prstGeom>
        </p:spPr>
        <p:txBody>
          <a:bodyPr lIns="0" tIns="0" rIns="0" bIns="0" rtlCol="0" anchor="t">
            <a:spAutoFit/>
          </a:bodyPr>
          <a:lstStyle/>
          <a:p>
            <a:pPr marL="0" lvl="0" indent="0" algn="ctr">
              <a:lnSpc>
                <a:spcPts val="6697"/>
              </a:lnSpc>
              <a:spcBef>
                <a:spcPct val="0"/>
              </a:spcBef>
            </a:pPr>
            <a:r>
              <a:rPr lang="en-US" sz="4784" b="1">
                <a:solidFill>
                  <a:srgbClr val="FDFDFD"/>
                </a:solidFill>
                <a:latin typeface="Montserrat Bold"/>
                <a:ea typeface="Montserrat Bold"/>
                <a:cs typeface="Montserrat Bold"/>
                <a:sym typeface="Montserrat Bold"/>
              </a:rPr>
              <a:t>01</a:t>
            </a:r>
          </a:p>
        </p:txBody>
      </p:sp>
      <p:sp>
        <p:nvSpPr>
          <p:cNvPr id="19" name="TextBox 19"/>
          <p:cNvSpPr txBox="1"/>
          <p:nvPr/>
        </p:nvSpPr>
        <p:spPr>
          <a:xfrm>
            <a:off x="83696" y="3702038"/>
            <a:ext cx="7358989" cy="2432050"/>
          </a:xfrm>
          <a:prstGeom prst="rect">
            <a:avLst/>
          </a:prstGeom>
        </p:spPr>
        <p:txBody>
          <a:bodyPr lIns="0" tIns="0" rIns="0" bIns="0" rtlCol="0" anchor="t">
            <a:spAutoFit/>
          </a:bodyPr>
          <a:lstStyle/>
          <a:p>
            <a:pPr algn="ctr">
              <a:lnSpc>
                <a:spcPts val="9799"/>
              </a:lnSpc>
              <a:spcBef>
                <a:spcPct val="0"/>
              </a:spcBef>
            </a:pPr>
            <a:r>
              <a:rPr lang="en-US" sz="6999" b="1" dirty="0">
                <a:solidFill>
                  <a:srgbClr val="FFFFFF"/>
                </a:solidFill>
                <a:latin typeface="Montserrat Bold"/>
                <a:ea typeface="Montserrat Bold"/>
                <a:cs typeface="Montserrat Bold"/>
                <a:sym typeface="Montserrat Bold"/>
              </a:rPr>
              <a:t>Security &amp; Authorization</a:t>
            </a:r>
          </a:p>
        </p:txBody>
      </p:sp>
      <p:sp>
        <p:nvSpPr>
          <p:cNvPr id="20" name="TextBox 20"/>
          <p:cNvSpPr txBox="1"/>
          <p:nvPr/>
        </p:nvSpPr>
        <p:spPr>
          <a:xfrm>
            <a:off x="11264286" y="3173922"/>
            <a:ext cx="1709658" cy="854075"/>
          </a:xfrm>
          <a:prstGeom prst="rect">
            <a:avLst/>
          </a:prstGeom>
        </p:spPr>
        <p:txBody>
          <a:bodyPr lIns="0" tIns="0" rIns="0" bIns="0" rtlCol="0" anchor="t">
            <a:spAutoFit/>
          </a:bodyPr>
          <a:lstStyle/>
          <a:p>
            <a:pPr algn="l">
              <a:lnSpc>
                <a:spcPts val="7000"/>
              </a:lnSpc>
              <a:spcBef>
                <a:spcPct val="0"/>
              </a:spcBef>
            </a:pPr>
            <a:r>
              <a:rPr lang="en-US" sz="5000">
                <a:solidFill>
                  <a:srgbClr val="145DA0"/>
                </a:solidFill>
                <a:latin typeface="Montserrat"/>
                <a:ea typeface="Montserrat"/>
                <a:cs typeface="Montserrat"/>
                <a:sym typeface="Montserrat"/>
              </a:rPr>
              <a:t>JWT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7723" y="4306228"/>
            <a:ext cx="3850853" cy="1925426"/>
          </a:xfrm>
          <a:custGeom>
            <a:avLst/>
            <a:gdLst/>
            <a:ahLst/>
            <a:cxnLst/>
            <a:rect l="l" t="t" r="r" b="b"/>
            <a:pathLst>
              <a:path w="3850853" h="1925426">
                <a:moveTo>
                  <a:pt x="0" y="0"/>
                </a:moveTo>
                <a:lnTo>
                  <a:pt x="3850853" y="0"/>
                </a:lnTo>
                <a:lnTo>
                  <a:pt x="3850853" y="1925427"/>
                </a:lnTo>
                <a:lnTo>
                  <a:pt x="0" y="1925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4146146" y="595780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293844" y="4306228"/>
            <a:ext cx="3343241" cy="1671621"/>
          </a:xfrm>
          <a:custGeom>
            <a:avLst/>
            <a:gdLst/>
            <a:ahLst/>
            <a:cxnLst/>
            <a:rect l="l" t="t" r="r" b="b"/>
            <a:pathLst>
              <a:path w="3343241" h="1671621">
                <a:moveTo>
                  <a:pt x="0" y="0"/>
                </a:moveTo>
                <a:lnTo>
                  <a:pt x="3343241" y="0"/>
                </a:lnTo>
                <a:lnTo>
                  <a:pt x="3343241" y="1671621"/>
                </a:lnTo>
                <a:lnTo>
                  <a:pt x="0" y="16716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0800000">
            <a:off x="10450367" y="5964484"/>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599328" y="431291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7" name="Group 7"/>
          <p:cNvGrpSpPr>
            <a:grpSpLocks noChangeAspect="1"/>
          </p:cNvGrpSpPr>
          <p:nvPr/>
        </p:nvGrpSpPr>
        <p:grpSpPr>
          <a:xfrm>
            <a:off x="3827655" y="5946525"/>
            <a:ext cx="848136" cy="570260"/>
            <a:chOff x="0" y="0"/>
            <a:chExt cx="1930400" cy="1297940"/>
          </a:xfrm>
        </p:grpSpPr>
        <p:sp>
          <p:nvSpPr>
            <p:cNvPr id="8" name="Freeform 8"/>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4FCDCC"/>
            </a:solidFill>
          </p:spPr>
        </p:sp>
      </p:grpSp>
      <p:grpSp>
        <p:nvGrpSpPr>
          <p:cNvPr id="9" name="Group 9"/>
          <p:cNvGrpSpPr>
            <a:grpSpLocks noChangeAspect="1"/>
          </p:cNvGrpSpPr>
          <p:nvPr/>
        </p:nvGrpSpPr>
        <p:grpSpPr>
          <a:xfrm>
            <a:off x="10120271" y="5971166"/>
            <a:ext cx="848136" cy="570260"/>
            <a:chOff x="0" y="0"/>
            <a:chExt cx="1930400" cy="1297940"/>
          </a:xfrm>
        </p:grpSpPr>
        <p:sp>
          <p:nvSpPr>
            <p:cNvPr id="10" name="Freeform 10"/>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2C92D5"/>
            </a:solidFill>
          </p:spPr>
        </p:sp>
      </p:grpSp>
      <p:grpSp>
        <p:nvGrpSpPr>
          <p:cNvPr id="11" name="Group 11"/>
          <p:cNvGrpSpPr>
            <a:grpSpLocks noChangeAspect="1"/>
          </p:cNvGrpSpPr>
          <p:nvPr/>
        </p:nvGrpSpPr>
        <p:grpSpPr>
          <a:xfrm>
            <a:off x="16411164" y="5946525"/>
            <a:ext cx="848136" cy="570260"/>
            <a:chOff x="0" y="0"/>
            <a:chExt cx="1930400" cy="1297940"/>
          </a:xfrm>
        </p:grpSpPr>
        <p:sp>
          <p:nvSpPr>
            <p:cNvPr id="12" name="Freeform 12"/>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13538A"/>
            </a:solidFill>
          </p:spPr>
        </p:sp>
      </p:grpSp>
      <p:grpSp>
        <p:nvGrpSpPr>
          <p:cNvPr id="13" name="Group 13"/>
          <p:cNvGrpSpPr/>
          <p:nvPr/>
        </p:nvGrpSpPr>
        <p:grpSpPr>
          <a:xfrm>
            <a:off x="1237823" y="4863436"/>
            <a:ext cx="2313607" cy="2166177"/>
            <a:chOff x="0" y="0"/>
            <a:chExt cx="868119" cy="812800"/>
          </a:xfrm>
        </p:grpSpPr>
        <p:sp>
          <p:nvSpPr>
            <p:cNvPr id="14" name="Freeform 14"/>
            <p:cNvSpPr/>
            <p:nvPr/>
          </p:nvSpPr>
          <p:spPr>
            <a:xfrm>
              <a:off x="0" y="0"/>
              <a:ext cx="868119" cy="812800"/>
            </a:xfrm>
            <a:custGeom>
              <a:avLst/>
              <a:gdLst/>
              <a:ahLst/>
              <a:cxnLst/>
              <a:rect l="l" t="t" r="r" b="b"/>
              <a:pathLst>
                <a:path w="868119" h="812800">
                  <a:moveTo>
                    <a:pt x="434060" y="0"/>
                  </a:moveTo>
                  <a:cubicBezTo>
                    <a:pt x="194335" y="0"/>
                    <a:pt x="0" y="181951"/>
                    <a:pt x="0" y="406400"/>
                  </a:cubicBezTo>
                  <a:cubicBezTo>
                    <a:pt x="0" y="630849"/>
                    <a:pt x="194335" y="812800"/>
                    <a:pt x="434060" y="812800"/>
                  </a:cubicBezTo>
                  <a:cubicBezTo>
                    <a:pt x="673784" y="812800"/>
                    <a:pt x="868119" y="630849"/>
                    <a:pt x="868119" y="406400"/>
                  </a:cubicBezTo>
                  <a:cubicBezTo>
                    <a:pt x="868119" y="181951"/>
                    <a:pt x="673784" y="0"/>
                    <a:pt x="434060" y="0"/>
                  </a:cubicBezTo>
                  <a:close/>
                </a:path>
              </a:pathLst>
            </a:custGeom>
            <a:solidFill>
              <a:srgbClr val="4FCDCC"/>
            </a:solidFill>
          </p:spPr>
        </p:sp>
        <p:sp>
          <p:nvSpPr>
            <p:cNvPr id="15" name="TextBox 15"/>
            <p:cNvSpPr txBox="1"/>
            <p:nvPr/>
          </p:nvSpPr>
          <p:spPr>
            <a:xfrm>
              <a:off x="81386" y="0"/>
              <a:ext cx="705347"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1</a:t>
              </a:r>
            </a:p>
          </p:txBody>
        </p:sp>
      </p:grpSp>
      <p:grpSp>
        <p:nvGrpSpPr>
          <p:cNvPr id="16" name="Group 16"/>
          <p:cNvGrpSpPr/>
          <p:nvPr/>
        </p:nvGrpSpPr>
        <p:grpSpPr>
          <a:xfrm>
            <a:off x="4747578" y="4790795"/>
            <a:ext cx="2270040" cy="2166177"/>
            <a:chOff x="0" y="0"/>
            <a:chExt cx="851772" cy="812800"/>
          </a:xfrm>
        </p:grpSpPr>
        <p:sp>
          <p:nvSpPr>
            <p:cNvPr id="17" name="Freeform 17"/>
            <p:cNvSpPr/>
            <p:nvPr/>
          </p:nvSpPr>
          <p:spPr>
            <a:xfrm>
              <a:off x="0" y="0"/>
              <a:ext cx="851772" cy="812800"/>
            </a:xfrm>
            <a:custGeom>
              <a:avLst/>
              <a:gdLst/>
              <a:ahLst/>
              <a:cxnLst/>
              <a:rect l="l" t="t" r="r" b="b"/>
              <a:pathLst>
                <a:path w="851772" h="812800">
                  <a:moveTo>
                    <a:pt x="425886" y="0"/>
                  </a:moveTo>
                  <a:cubicBezTo>
                    <a:pt x="190676" y="0"/>
                    <a:pt x="0" y="181951"/>
                    <a:pt x="0" y="406400"/>
                  </a:cubicBezTo>
                  <a:cubicBezTo>
                    <a:pt x="0" y="630849"/>
                    <a:pt x="190676" y="812800"/>
                    <a:pt x="425886" y="812800"/>
                  </a:cubicBezTo>
                  <a:cubicBezTo>
                    <a:pt x="661096" y="812800"/>
                    <a:pt x="851772" y="630849"/>
                    <a:pt x="851772" y="406400"/>
                  </a:cubicBezTo>
                  <a:cubicBezTo>
                    <a:pt x="851772" y="181951"/>
                    <a:pt x="661096" y="0"/>
                    <a:pt x="425886" y="0"/>
                  </a:cubicBezTo>
                  <a:close/>
                </a:path>
              </a:pathLst>
            </a:custGeom>
            <a:solidFill>
              <a:srgbClr val="18B6B4"/>
            </a:solidFill>
          </p:spPr>
        </p:sp>
        <p:sp>
          <p:nvSpPr>
            <p:cNvPr id="18" name="TextBox 18"/>
            <p:cNvSpPr txBox="1"/>
            <p:nvPr/>
          </p:nvSpPr>
          <p:spPr>
            <a:xfrm>
              <a:off x="79854" y="0"/>
              <a:ext cx="692065"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2</a:t>
              </a:r>
            </a:p>
          </p:txBody>
        </p:sp>
      </p:grpSp>
      <p:grpSp>
        <p:nvGrpSpPr>
          <p:cNvPr id="19" name="Group 19"/>
          <p:cNvGrpSpPr/>
          <p:nvPr/>
        </p:nvGrpSpPr>
        <p:grpSpPr>
          <a:xfrm>
            <a:off x="10968407" y="4790795"/>
            <a:ext cx="2166177" cy="216617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id="21" name="TextBox 21"/>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3</a:t>
              </a:r>
            </a:p>
          </p:txBody>
        </p:sp>
      </p:grpSp>
      <p:grpSp>
        <p:nvGrpSpPr>
          <p:cNvPr id="22" name="Group 22"/>
          <p:cNvGrpSpPr/>
          <p:nvPr/>
        </p:nvGrpSpPr>
        <p:grpSpPr>
          <a:xfrm>
            <a:off x="14058509" y="4790795"/>
            <a:ext cx="2166177" cy="216617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id="24" name="TextBox 24"/>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4</a:t>
              </a:r>
            </a:p>
          </p:txBody>
        </p:sp>
      </p:grpSp>
      <p:sp>
        <p:nvSpPr>
          <p:cNvPr id="25" name="TextBox 25"/>
          <p:cNvSpPr txBox="1"/>
          <p:nvPr/>
        </p:nvSpPr>
        <p:spPr>
          <a:xfrm>
            <a:off x="-39550" y="7347497"/>
            <a:ext cx="4945399" cy="1533525"/>
          </a:xfrm>
          <a:prstGeom prst="rect">
            <a:avLst/>
          </a:prstGeom>
        </p:spPr>
        <p:txBody>
          <a:bodyPr lIns="0" tIns="0" rIns="0" bIns="0" rtlCol="0" anchor="t">
            <a:spAutoFit/>
          </a:bodyPr>
          <a:lstStyle/>
          <a:p>
            <a:pPr marL="0" lvl="0" indent="0" algn="ctr">
              <a:lnSpc>
                <a:spcPts val="4480"/>
              </a:lnSpc>
            </a:pPr>
            <a:r>
              <a:rPr lang="en-US" sz="3200" b="1" u="none" spc="96" dirty="0">
                <a:solidFill>
                  <a:srgbClr val="191919"/>
                </a:solidFill>
                <a:latin typeface="Aileron Bold"/>
                <a:ea typeface="Aileron Bold"/>
                <a:cs typeface="Aileron Bold"/>
                <a:sym typeface="Aileron Bold"/>
              </a:rPr>
              <a:t>MOBILE OR WEB APP</a:t>
            </a:r>
          </a:p>
          <a:p>
            <a:pPr marL="0" lvl="0" indent="0" algn="ctr">
              <a:lnSpc>
                <a:spcPts val="3920"/>
              </a:lnSpc>
            </a:pPr>
            <a:r>
              <a:rPr lang="en-US" sz="2800" u="none" spc="84" dirty="0">
                <a:solidFill>
                  <a:srgbClr val="191919"/>
                </a:solidFill>
                <a:latin typeface="Aileron"/>
                <a:ea typeface="Aileron"/>
                <a:cs typeface="Aileron"/>
                <a:sym typeface="Aileron"/>
              </a:rPr>
              <a:t>Users can log in, sign up, or request a password reset.</a:t>
            </a:r>
          </a:p>
        </p:txBody>
      </p:sp>
      <p:sp>
        <p:nvSpPr>
          <p:cNvPr id="26" name="TextBox 26"/>
          <p:cNvSpPr txBox="1"/>
          <p:nvPr/>
        </p:nvSpPr>
        <p:spPr>
          <a:xfrm>
            <a:off x="13715609" y="7337972"/>
            <a:ext cx="4462001" cy="1560830"/>
          </a:xfrm>
          <a:prstGeom prst="rect">
            <a:avLst/>
          </a:prstGeom>
        </p:spPr>
        <p:txBody>
          <a:bodyPr lIns="0" tIns="0" rIns="0" bIns="0" rtlCol="0" anchor="t">
            <a:spAutoFit/>
          </a:bodyPr>
          <a:lstStyle/>
          <a:p>
            <a:pPr marL="0" lvl="0" indent="0" algn="ctr">
              <a:lnSpc>
                <a:spcPts val="4620"/>
              </a:lnSpc>
            </a:pPr>
            <a:r>
              <a:rPr lang="en-US" sz="3300" b="1" spc="99">
                <a:solidFill>
                  <a:srgbClr val="191919"/>
                </a:solidFill>
                <a:latin typeface="Aileron Bold"/>
                <a:ea typeface="Aileron Bold"/>
                <a:cs typeface="Aileron Bold"/>
                <a:sym typeface="Aileron Bold"/>
              </a:rPr>
              <a:t>MOBILE OR WEB APP</a:t>
            </a:r>
          </a:p>
          <a:p>
            <a:pPr marL="0" lvl="0" indent="0" algn="ctr">
              <a:lnSpc>
                <a:spcPts val="3920"/>
              </a:lnSpc>
            </a:pPr>
            <a:r>
              <a:rPr lang="en-US" sz="2800" spc="84">
                <a:solidFill>
                  <a:srgbClr val="191919"/>
                </a:solidFill>
                <a:latin typeface="Aileron"/>
                <a:ea typeface="Aileron"/>
                <a:cs typeface="Aileron"/>
                <a:sym typeface="Aileron"/>
              </a:rPr>
              <a:t>Displays success or error messages to the user.</a:t>
            </a:r>
          </a:p>
        </p:txBody>
      </p:sp>
      <p:sp>
        <p:nvSpPr>
          <p:cNvPr id="27" name="TextBox 27"/>
          <p:cNvSpPr txBox="1"/>
          <p:nvPr/>
        </p:nvSpPr>
        <p:spPr>
          <a:xfrm>
            <a:off x="9613625" y="2250099"/>
            <a:ext cx="5003360" cy="2056130"/>
          </a:xfrm>
          <a:prstGeom prst="rect">
            <a:avLst/>
          </a:prstGeom>
        </p:spPr>
        <p:txBody>
          <a:bodyPr lIns="0" tIns="0" rIns="0" bIns="0" rtlCol="0" anchor="t">
            <a:spAutoFit/>
          </a:bodyPr>
          <a:lstStyle/>
          <a:p>
            <a:pPr marL="0" lvl="0" indent="0" algn="ctr">
              <a:lnSpc>
                <a:spcPts val="4620"/>
              </a:lnSpc>
            </a:pPr>
            <a:r>
              <a:rPr lang="en-US" sz="3300" b="1" u="none" spc="99" dirty="0">
                <a:solidFill>
                  <a:srgbClr val="191919"/>
                </a:solidFill>
                <a:latin typeface="Aileron Bold"/>
                <a:ea typeface="Aileron Bold"/>
                <a:cs typeface="Aileron Bold"/>
                <a:sym typeface="Aileron Bold"/>
              </a:rPr>
              <a:t>SQL SERVER</a:t>
            </a:r>
          </a:p>
          <a:p>
            <a:pPr marL="0" lvl="0" indent="0" algn="ctr">
              <a:lnSpc>
                <a:spcPts val="3920"/>
              </a:lnSpc>
            </a:pPr>
            <a:r>
              <a:rPr lang="en-US" sz="2800" u="none" spc="84" dirty="0">
                <a:solidFill>
                  <a:srgbClr val="191919"/>
                </a:solidFill>
                <a:latin typeface="Aileron"/>
                <a:ea typeface="Aileron"/>
                <a:cs typeface="Aileron"/>
                <a:sym typeface="Aileron"/>
              </a:rPr>
              <a:t>Stores or checks user info, and generates reset tokens if needed.</a:t>
            </a:r>
          </a:p>
        </p:txBody>
      </p:sp>
      <p:grpSp>
        <p:nvGrpSpPr>
          <p:cNvPr id="28" name="Group 28"/>
          <p:cNvGrpSpPr/>
          <p:nvPr/>
        </p:nvGrpSpPr>
        <p:grpSpPr>
          <a:xfrm>
            <a:off x="3191016" y="345776"/>
            <a:ext cx="12197056" cy="1411025"/>
            <a:chOff x="-864215" y="60236"/>
            <a:chExt cx="16262741" cy="1881367"/>
          </a:xfrm>
        </p:grpSpPr>
        <p:sp>
          <p:nvSpPr>
            <p:cNvPr id="29" name="TextBox 29"/>
            <p:cNvSpPr txBox="1"/>
            <p:nvPr/>
          </p:nvSpPr>
          <p:spPr>
            <a:xfrm>
              <a:off x="0" y="1459859"/>
              <a:ext cx="15398526" cy="481744"/>
            </a:xfrm>
            <a:prstGeom prst="rect">
              <a:avLst/>
            </a:prstGeom>
          </p:spPr>
          <p:txBody>
            <a:bodyPr lIns="0" tIns="0" rIns="0" bIns="0" rtlCol="0" anchor="t">
              <a:spAutoFit/>
            </a:bodyPr>
            <a:lstStyle/>
            <a:p>
              <a:pPr marL="0" lvl="0" indent="0" algn="ctr">
                <a:lnSpc>
                  <a:spcPts val="3096"/>
                </a:lnSpc>
              </a:pPr>
              <a:endParaRPr/>
            </a:p>
          </p:txBody>
        </p:sp>
        <p:sp>
          <p:nvSpPr>
            <p:cNvPr id="30" name="TextBox 30"/>
            <p:cNvSpPr txBox="1"/>
            <p:nvPr/>
          </p:nvSpPr>
          <p:spPr>
            <a:xfrm>
              <a:off x="-864215" y="60236"/>
              <a:ext cx="15398526" cy="1451199"/>
            </a:xfrm>
            <a:prstGeom prst="rect">
              <a:avLst/>
            </a:prstGeom>
          </p:spPr>
          <p:txBody>
            <a:bodyPr lIns="0" tIns="0" rIns="0" bIns="0" rtlCol="0" anchor="t">
              <a:spAutoFit/>
            </a:bodyPr>
            <a:lstStyle/>
            <a:p>
              <a:pPr marL="0" lvl="0" indent="0" algn="ctr">
                <a:lnSpc>
                  <a:spcPts val="8914"/>
                </a:lnSpc>
              </a:pPr>
              <a:r>
                <a:rPr lang="en-US" sz="6805" b="1" spc="204" dirty="0">
                  <a:solidFill>
                    <a:srgbClr val="145DA0"/>
                  </a:solidFill>
                  <a:latin typeface="Aileron Ultra-Bold"/>
                  <a:ea typeface="Aileron Ultra-Bold"/>
                  <a:cs typeface="Aileron Ultra-Bold"/>
                  <a:sym typeface="Aileron Ultra-Bold"/>
                </a:rPr>
                <a:t> AUTHENTICATION FLOW</a:t>
              </a:r>
            </a:p>
          </p:txBody>
        </p:sp>
      </p:grpSp>
      <p:sp>
        <p:nvSpPr>
          <p:cNvPr id="31" name="TextBox 31"/>
          <p:cNvSpPr txBox="1"/>
          <p:nvPr/>
        </p:nvSpPr>
        <p:spPr>
          <a:xfrm>
            <a:off x="2037114" y="1485900"/>
            <a:ext cx="7245189" cy="3154966"/>
          </a:xfrm>
          <a:prstGeom prst="rect">
            <a:avLst/>
          </a:prstGeom>
        </p:spPr>
        <p:txBody>
          <a:bodyPr wrap="square" lIns="0" tIns="0" rIns="0" bIns="0" rtlCol="0" anchor="t">
            <a:spAutoFit/>
          </a:bodyPr>
          <a:lstStyle/>
          <a:p>
            <a:pPr algn="ctr">
              <a:lnSpc>
                <a:spcPts val="4480"/>
              </a:lnSpc>
            </a:pPr>
            <a:r>
              <a:rPr lang="en-US" sz="3200" b="1" spc="96" dirty="0">
                <a:solidFill>
                  <a:srgbClr val="000000"/>
                </a:solidFill>
                <a:latin typeface="Aileron Bold"/>
                <a:ea typeface="Aileron Bold"/>
                <a:cs typeface="Aileron Bold"/>
                <a:sym typeface="Aileron Bold"/>
              </a:rPr>
              <a:t>BACKEND API</a:t>
            </a:r>
          </a:p>
          <a:p>
            <a:pPr algn="ctr">
              <a:lnSpc>
                <a:spcPts val="3360"/>
              </a:lnSpc>
            </a:pPr>
            <a:r>
              <a:rPr lang="en-US" sz="2800" spc="72" dirty="0">
                <a:solidFill>
                  <a:srgbClr val="000000"/>
                </a:solidFill>
                <a:latin typeface="Aileron"/>
                <a:ea typeface="Aileron"/>
                <a:cs typeface="Aileron"/>
                <a:sym typeface="Aileron"/>
              </a:rPr>
              <a:t>Manages incoming requests and validates the provided data.  </a:t>
            </a:r>
          </a:p>
          <a:p>
            <a:pPr algn="ctr">
              <a:lnSpc>
                <a:spcPts val="3360"/>
              </a:lnSpc>
            </a:pPr>
            <a:r>
              <a:rPr lang="en-US" sz="2800" spc="72" dirty="0">
                <a:solidFill>
                  <a:srgbClr val="000000"/>
                </a:solidFill>
                <a:latin typeface="Aileron"/>
                <a:ea typeface="Aileron"/>
                <a:cs typeface="Aileron"/>
                <a:sym typeface="Aileron"/>
              </a:rPr>
              <a:t>Generates a JWT token or sends a password reset email when necessary.  </a:t>
            </a:r>
          </a:p>
          <a:p>
            <a:pPr algn="ctr">
              <a:lnSpc>
                <a:spcPts val="3360"/>
              </a:lnSpc>
            </a:pPr>
            <a:r>
              <a:rPr lang="en-US" sz="2800" spc="72" dirty="0">
                <a:solidFill>
                  <a:srgbClr val="000000"/>
                </a:solidFill>
                <a:latin typeface="Aileron"/>
                <a:ea typeface="Aileron"/>
                <a:cs typeface="Aileron"/>
                <a:sym typeface="Aileron"/>
              </a:rPr>
              <a:t>Dispatches a password reset email with a token upon request.</a:t>
            </a:r>
            <a:r>
              <a:rPr lang="en-US" sz="2800" b="1" spc="72" dirty="0">
                <a:solidFill>
                  <a:srgbClr val="000000"/>
                </a:solidFill>
                <a:latin typeface="Aileron Bold"/>
                <a:ea typeface="Aileron Bold"/>
                <a:cs typeface="Aileron Bold"/>
                <a:sym typeface="Aileron Bold"/>
              </a:rPr>
              <a: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7723" y="4306228"/>
            <a:ext cx="3850853" cy="1925426"/>
          </a:xfrm>
          <a:custGeom>
            <a:avLst/>
            <a:gdLst/>
            <a:ahLst/>
            <a:cxnLst/>
            <a:rect l="l" t="t" r="r" b="b"/>
            <a:pathLst>
              <a:path w="3850853" h="1925426">
                <a:moveTo>
                  <a:pt x="0" y="0"/>
                </a:moveTo>
                <a:lnTo>
                  <a:pt x="3850853" y="0"/>
                </a:lnTo>
                <a:lnTo>
                  <a:pt x="3850853" y="1925427"/>
                </a:lnTo>
                <a:lnTo>
                  <a:pt x="0" y="19254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4146146" y="595780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293844" y="4306228"/>
            <a:ext cx="3343241" cy="1671621"/>
          </a:xfrm>
          <a:custGeom>
            <a:avLst/>
            <a:gdLst/>
            <a:ahLst/>
            <a:cxnLst/>
            <a:rect l="l" t="t" r="r" b="b"/>
            <a:pathLst>
              <a:path w="3343241" h="1671621">
                <a:moveTo>
                  <a:pt x="0" y="0"/>
                </a:moveTo>
                <a:lnTo>
                  <a:pt x="3343241" y="0"/>
                </a:lnTo>
                <a:lnTo>
                  <a:pt x="3343241" y="1671621"/>
                </a:lnTo>
                <a:lnTo>
                  <a:pt x="0" y="16716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0800000">
            <a:off x="10450367" y="5964484"/>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599328" y="4312911"/>
            <a:ext cx="3329876" cy="1664938"/>
          </a:xfrm>
          <a:custGeom>
            <a:avLst/>
            <a:gdLst/>
            <a:ahLst/>
            <a:cxnLst/>
            <a:rect l="l" t="t" r="r" b="b"/>
            <a:pathLst>
              <a:path w="3329876" h="1664938">
                <a:moveTo>
                  <a:pt x="0" y="0"/>
                </a:moveTo>
                <a:lnTo>
                  <a:pt x="3329876" y="0"/>
                </a:lnTo>
                <a:lnTo>
                  <a:pt x="3329876" y="1664938"/>
                </a:lnTo>
                <a:lnTo>
                  <a:pt x="0" y="16649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7" name="Group 7"/>
          <p:cNvGrpSpPr>
            <a:grpSpLocks noChangeAspect="1"/>
          </p:cNvGrpSpPr>
          <p:nvPr/>
        </p:nvGrpSpPr>
        <p:grpSpPr>
          <a:xfrm>
            <a:off x="3827655" y="5946525"/>
            <a:ext cx="848136" cy="570260"/>
            <a:chOff x="0" y="0"/>
            <a:chExt cx="1930400" cy="1297940"/>
          </a:xfrm>
        </p:grpSpPr>
        <p:sp>
          <p:nvSpPr>
            <p:cNvPr id="8" name="Freeform 8"/>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4FCDCC"/>
            </a:solidFill>
          </p:spPr>
        </p:sp>
      </p:grpSp>
      <p:grpSp>
        <p:nvGrpSpPr>
          <p:cNvPr id="9" name="Group 9"/>
          <p:cNvGrpSpPr>
            <a:grpSpLocks noChangeAspect="1"/>
          </p:cNvGrpSpPr>
          <p:nvPr/>
        </p:nvGrpSpPr>
        <p:grpSpPr>
          <a:xfrm>
            <a:off x="10120271" y="5971166"/>
            <a:ext cx="848136" cy="570260"/>
            <a:chOff x="0" y="0"/>
            <a:chExt cx="1930400" cy="1297940"/>
          </a:xfrm>
        </p:grpSpPr>
        <p:sp>
          <p:nvSpPr>
            <p:cNvPr id="10" name="Freeform 10"/>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2C92D5"/>
            </a:solidFill>
          </p:spPr>
        </p:sp>
      </p:grpSp>
      <p:grpSp>
        <p:nvGrpSpPr>
          <p:cNvPr id="11" name="Group 11"/>
          <p:cNvGrpSpPr>
            <a:grpSpLocks noChangeAspect="1"/>
          </p:cNvGrpSpPr>
          <p:nvPr/>
        </p:nvGrpSpPr>
        <p:grpSpPr>
          <a:xfrm>
            <a:off x="16411164" y="5946525"/>
            <a:ext cx="848136" cy="570260"/>
            <a:chOff x="0" y="0"/>
            <a:chExt cx="1930400" cy="1297940"/>
          </a:xfrm>
        </p:grpSpPr>
        <p:sp>
          <p:nvSpPr>
            <p:cNvPr id="12" name="Freeform 12"/>
            <p:cNvSpPr/>
            <p:nvPr/>
          </p:nvSpPr>
          <p:spPr>
            <a:xfrm>
              <a:off x="0" y="0"/>
              <a:ext cx="1930400" cy="1297940"/>
            </a:xfrm>
            <a:custGeom>
              <a:avLst/>
              <a:gdLst/>
              <a:ahLst/>
              <a:cxnLst/>
              <a:rect l="l" t="t" r="r" b="b"/>
              <a:pathLst>
                <a:path w="1930400" h="1297940">
                  <a:moveTo>
                    <a:pt x="0" y="0"/>
                  </a:moveTo>
                  <a:lnTo>
                    <a:pt x="965200" y="1297940"/>
                  </a:lnTo>
                  <a:lnTo>
                    <a:pt x="1930400" y="0"/>
                  </a:lnTo>
                  <a:close/>
                </a:path>
              </a:pathLst>
            </a:custGeom>
            <a:solidFill>
              <a:srgbClr val="13538A"/>
            </a:solidFill>
          </p:spPr>
        </p:sp>
      </p:grpSp>
      <p:grpSp>
        <p:nvGrpSpPr>
          <p:cNvPr id="13" name="Group 13"/>
          <p:cNvGrpSpPr/>
          <p:nvPr/>
        </p:nvGrpSpPr>
        <p:grpSpPr>
          <a:xfrm>
            <a:off x="1237823" y="4863436"/>
            <a:ext cx="2313607" cy="2166177"/>
            <a:chOff x="0" y="0"/>
            <a:chExt cx="868119" cy="812800"/>
          </a:xfrm>
        </p:grpSpPr>
        <p:sp>
          <p:nvSpPr>
            <p:cNvPr id="14" name="Freeform 14"/>
            <p:cNvSpPr/>
            <p:nvPr/>
          </p:nvSpPr>
          <p:spPr>
            <a:xfrm>
              <a:off x="0" y="0"/>
              <a:ext cx="868119" cy="812800"/>
            </a:xfrm>
            <a:custGeom>
              <a:avLst/>
              <a:gdLst/>
              <a:ahLst/>
              <a:cxnLst/>
              <a:rect l="l" t="t" r="r" b="b"/>
              <a:pathLst>
                <a:path w="868119" h="812800">
                  <a:moveTo>
                    <a:pt x="434060" y="0"/>
                  </a:moveTo>
                  <a:cubicBezTo>
                    <a:pt x="194335" y="0"/>
                    <a:pt x="0" y="181951"/>
                    <a:pt x="0" y="406400"/>
                  </a:cubicBezTo>
                  <a:cubicBezTo>
                    <a:pt x="0" y="630849"/>
                    <a:pt x="194335" y="812800"/>
                    <a:pt x="434060" y="812800"/>
                  </a:cubicBezTo>
                  <a:cubicBezTo>
                    <a:pt x="673784" y="812800"/>
                    <a:pt x="868119" y="630849"/>
                    <a:pt x="868119" y="406400"/>
                  </a:cubicBezTo>
                  <a:cubicBezTo>
                    <a:pt x="868119" y="181951"/>
                    <a:pt x="673784" y="0"/>
                    <a:pt x="434060" y="0"/>
                  </a:cubicBezTo>
                  <a:close/>
                </a:path>
              </a:pathLst>
            </a:custGeom>
            <a:solidFill>
              <a:srgbClr val="4FCDCC"/>
            </a:solidFill>
          </p:spPr>
        </p:sp>
        <p:sp>
          <p:nvSpPr>
            <p:cNvPr id="15" name="TextBox 15"/>
            <p:cNvSpPr txBox="1"/>
            <p:nvPr/>
          </p:nvSpPr>
          <p:spPr>
            <a:xfrm>
              <a:off x="81386" y="0"/>
              <a:ext cx="705347"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1</a:t>
              </a:r>
            </a:p>
          </p:txBody>
        </p:sp>
      </p:grpSp>
      <p:grpSp>
        <p:nvGrpSpPr>
          <p:cNvPr id="16" name="Group 16"/>
          <p:cNvGrpSpPr/>
          <p:nvPr/>
        </p:nvGrpSpPr>
        <p:grpSpPr>
          <a:xfrm>
            <a:off x="4747578" y="4790795"/>
            <a:ext cx="2270040" cy="2166177"/>
            <a:chOff x="0" y="0"/>
            <a:chExt cx="851772" cy="812800"/>
          </a:xfrm>
        </p:grpSpPr>
        <p:sp>
          <p:nvSpPr>
            <p:cNvPr id="17" name="Freeform 17"/>
            <p:cNvSpPr/>
            <p:nvPr/>
          </p:nvSpPr>
          <p:spPr>
            <a:xfrm>
              <a:off x="0" y="0"/>
              <a:ext cx="851772" cy="812800"/>
            </a:xfrm>
            <a:custGeom>
              <a:avLst/>
              <a:gdLst/>
              <a:ahLst/>
              <a:cxnLst/>
              <a:rect l="l" t="t" r="r" b="b"/>
              <a:pathLst>
                <a:path w="851772" h="812800">
                  <a:moveTo>
                    <a:pt x="425886" y="0"/>
                  </a:moveTo>
                  <a:cubicBezTo>
                    <a:pt x="190676" y="0"/>
                    <a:pt x="0" y="181951"/>
                    <a:pt x="0" y="406400"/>
                  </a:cubicBezTo>
                  <a:cubicBezTo>
                    <a:pt x="0" y="630849"/>
                    <a:pt x="190676" y="812800"/>
                    <a:pt x="425886" y="812800"/>
                  </a:cubicBezTo>
                  <a:cubicBezTo>
                    <a:pt x="661096" y="812800"/>
                    <a:pt x="851772" y="630849"/>
                    <a:pt x="851772" y="406400"/>
                  </a:cubicBezTo>
                  <a:cubicBezTo>
                    <a:pt x="851772" y="181951"/>
                    <a:pt x="661096" y="0"/>
                    <a:pt x="425886" y="0"/>
                  </a:cubicBezTo>
                  <a:close/>
                </a:path>
              </a:pathLst>
            </a:custGeom>
            <a:solidFill>
              <a:srgbClr val="18B6B4"/>
            </a:solidFill>
          </p:spPr>
        </p:sp>
        <p:sp>
          <p:nvSpPr>
            <p:cNvPr id="18" name="TextBox 18"/>
            <p:cNvSpPr txBox="1"/>
            <p:nvPr/>
          </p:nvSpPr>
          <p:spPr>
            <a:xfrm>
              <a:off x="79854" y="0"/>
              <a:ext cx="692065"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2</a:t>
              </a:r>
            </a:p>
          </p:txBody>
        </p:sp>
      </p:grpSp>
      <p:grpSp>
        <p:nvGrpSpPr>
          <p:cNvPr id="19" name="Group 19"/>
          <p:cNvGrpSpPr/>
          <p:nvPr/>
        </p:nvGrpSpPr>
        <p:grpSpPr>
          <a:xfrm>
            <a:off x="10968407" y="4790795"/>
            <a:ext cx="2166177" cy="216617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id="21" name="TextBox 21"/>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3</a:t>
              </a:r>
            </a:p>
          </p:txBody>
        </p:sp>
      </p:grpSp>
      <p:grpSp>
        <p:nvGrpSpPr>
          <p:cNvPr id="22" name="Group 22"/>
          <p:cNvGrpSpPr/>
          <p:nvPr/>
        </p:nvGrpSpPr>
        <p:grpSpPr>
          <a:xfrm>
            <a:off x="14058509" y="4790795"/>
            <a:ext cx="2166177" cy="216617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id="24" name="TextBox 24"/>
            <p:cNvSpPr txBox="1"/>
            <p:nvPr/>
          </p:nvSpPr>
          <p:spPr>
            <a:xfrm>
              <a:off x="76200" y="0"/>
              <a:ext cx="660400" cy="736600"/>
            </a:xfrm>
            <a:prstGeom prst="rect">
              <a:avLst/>
            </a:prstGeom>
          </p:spPr>
          <p:txBody>
            <a:bodyPr lIns="50800" tIns="50800" rIns="50800" bIns="50800" rtlCol="0" anchor="ctr"/>
            <a:lstStyle/>
            <a:p>
              <a:pPr algn="ctr">
                <a:lnSpc>
                  <a:spcPts val="5599"/>
                </a:lnSpc>
              </a:pPr>
              <a:r>
                <a:rPr lang="en-US" sz="3999" b="1" spc="119">
                  <a:solidFill>
                    <a:srgbClr val="FFFFFF"/>
                  </a:solidFill>
                  <a:latin typeface="Aileron Ultra-Bold"/>
                  <a:ea typeface="Aileron Ultra-Bold"/>
                  <a:cs typeface="Aileron Ultra-Bold"/>
                  <a:sym typeface="Aileron Ultra-Bold"/>
                </a:rPr>
                <a:t>4</a:t>
              </a:r>
            </a:p>
          </p:txBody>
        </p:sp>
      </p:grpSp>
      <p:sp>
        <p:nvSpPr>
          <p:cNvPr id="25" name="TextBox 25"/>
          <p:cNvSpPr txBox="1"/>
          <p:nvPr/>
        </p:nvSpPr>
        <p:spPr>
          <a:xfrm>
            <a:off x="235509" y="7243040"/>
            <a:ext cx="4945399" cy="2506345"/>
          </a:xfrm>
          <a:prstGeom prst="rect">
            <a:avLst/>
          </a:prstGeom>
        </p:spPr>
        <p:txBody>
          <a:bodyPr lIns="0" tIns="0" rIns="0" bIns="0" rtlCol="0" anchor="t">
            <a:spAutoFit/>
          </a:bodyPr>
          <a:lstStyle/>
          <a:p>
            <a:pPr marL="0" lvl="0" indent="0" algn="ctr">
              <a:lnSpc>
                <a:spcPts val="4340"/>
              </a:lnSpc>
            </a:pPr>
            <a:r>
              <a:rPr lang="en-US" sz="3100" b="1" u="none" spc="93">
                <a:solidFill>
                  <a:srgbClr val="191919"/>
                </a:solidFill>
                <a:latin typeface="Aileron Bold"/>
                <a:ea typeface="Aileron Bold"/>
                <a:cs typeface="Aileron Bold"/>
                <a:sym typeface="Aileron Bold"/>
              </a:rPr>
              <a:t>MOBILE OR WEB APP</a:t>
            </a:r>
          </a:p>
          <a:p>
            <a:pPr algn="ctr">
              <a:lnSpc>
                <a:spcPts val="3920"/>
              </a:lnSpc>
            </a:pPr>
            <a:r>
              <a:rPr lang="en-US" sz="2800" u="none" spc="84">
                <a:solidFill>
                  <a:srgbClr val="191919"/>
                </a:solidFill>
                <a:latin typeface="Aileron"/>
                <a:ea typeface="Aileron"/>
                <a:cs typeface="Aileron"/>
                <a:sym typeface="Aileron"/>
              </a:rPr>
              <a:t>User Adds , Edits ,Delets and Searches for baby products.</a:t>
            </a:r>
          </a:p>
          <a:p>
            <a:pPr marL="0" lvl="0" indent="0" algn="ctr">
              <a:lnSpc>
                <a:spcPts val="3920"/>
              </a:lnSpc>
            </a:pPr>
            <a:r>
              <a:rPr lang="en-US" sz="2800" u="none" spc="84">
                <a:solidFill>
                  <a:srgbClr val="191919"/>
                </a:solidFill>
                <a:latin typeface="Aileron"/>
                <a:ea typeface="Aileron"/>
                <a:cs typeface="Aileron"/>
                <a:sym typeface="Aileron"/>
              </a:rPr>
              <a:t>Can add items to cart or mark as favorite.</a:t>
            </a:r>
          </a:p>
        </p:txBody>
      </p:sp>
      <p:sp>
        <p:nvSpPr>
          <p:cNvPr id="26" name="TextBox 26"/>
          <p:cNvSpPr txBox="1"/>
          <p:nvPr/>
        </p:nvSpPr>
        <p:spPr>
          <a:xfrm>
            <a:off x="9350841" y="2080044"/>
            <a:ext cx="5534732" cy="2524125"/>
          </a:xfrm>
          <a:prstGeom prst="rect">
            <a:avLst/>
          </a:prstGeom>
        </p:spPr>
        <p:txBody>
          <a:bodyPr lIns="0" tIns="0" rIns="0" bIns="0" rtlCol="0" anchor="t">
            <a:spAutoFit/>
          </a:bodyPr>
          <a:lstStyle/>
          <a:p>
            <a:pPr marL="0" lvl="0" indent="0" algn="ctr">
              <a:lnSpc>
                <a:spcPts val="4480"/>
              </a:lnSpc>
            </a:pPr>
            <a:r>
              <a:rPr lang="en-US" sz="3200" b="1" spc="96" dirty="0">
                <a:solidFill>
                  <a:srgbClr val="191919"/>
                </a:solidFill>
                <a:latin typeface="Aileron Bold"/>
                <a:ea typeface="Aileron Bold"/>
                <a:cs typeface="Aileron Bold"/>
                <a:sym typeface="Aileron Bold"/>
              </a:rPr>
              <a:t>SQL SERVER</a:t>
            </a:r>
          </a:p>
          <a:p>
            <a:pPr algn="ctr">
              <a:lnSpc>
                <a:spcPts val="3920"/>
              </a:lnSpc>
            </a:pPr>
            <a:r>
              <a:rPr lang="en-US" sz="2800" spc="84" dirty="0">
                <a:solidFill>
                  <a:srgbClr val="191919"/>
                </a:solidFill>
                <a:latin typeface="Aileron"/>
                <a:ea typeface="Aileron"/>
                <a:cs typeface="Aileron"/>
                <a:sym typeface="Aileron"/>
              </a:rPr>
              <a:t>Stores product info, user preferences, and cart data.</a:t>
            </a:r>
          </a:p>
          <a:p>
            <a:pPr marL="0" lvl="0" indent="0" algn="ctr">
              <a:lnSpc>
                <a:spcPts val="3920"/>
              </a:lnSpc>
            </a:pPr>
            <a:r>
              <a:rPr lang="en-US" sz="2800" spc="84" dirty="0">
                <a:solidFill>
                  <a:srgbClr val="191919"/>
                </a:solidFill>
                <a:latin typeface="Aileron"/>
                <a:ea typeface="Aileron"/>
                <a:cs typeface="Aileron"/>
                <a:sym typeface="Aileron"/>
              </a:rPr>
              <a:t>Returns relevant data based on user actions.</a:t>
            </a:r>
          </a:p>
        </p:txBody>
      </p:sp>
      <p:grpSp>
        <p:nvGrpSpPr>
          <p:cNvPr id="27" name="Group 27"/>
          <p:cNvGrpSpPr/>
          <p:nvPr/>
        </p:nvGrpSpPr>
        <p:grpSpPr>
          <a:xfrm>
            <a:off x="3369552" y="493764"/>
            <a:ext cx="12018520" cy="1263038"/>
            <a:chOff x="-626167" y="257553"/>
            <a:chExt cx="16024693" cy="1684050"/>
          </a:xfrm>
        </p:grpSpPr>
        <p:sp>
          <p:nvSpPr>
            <p:cNvPr id="28" name="TextBox 28"/>
            <p:cNvSpPr txBox="1"/>
            <p:nvPr/>
          </p:nvSpPr>
          <p:spPr>
            <a:xfrm>
              <a:off x="0" y="1459859"/>
              <a:ext cx="15398526" cy="481744"/>
            </a:xfrm>
            <a:prstGeom prst="rect">
              <a:avLst/>
            </a:prstGeom>
          </p:spPr>
          <p:txBody>
            <a:bodyPr lIns="0" tIns="0" rIns="0" bIns="0" rtlCol="0" anchor="t">
              <a:spAutoFit/>
            </a:bodyPr>
            <a:lstStyle/>
            <a:p>
              <a:pPr marL="0" lvl="0" indent="0" algn="ctr">
                <a:lnSpc>
                  <a:spcPts val="3096"/>
                </a:lnSpc>
              </a:pPr>
              <a:endParaRPr/>
            </a:p>
          </p:txBody>
        </p:sp>
        <p:sp>
          <p:nvSpPr>
            <p:cNvPr id="29" name="TextBox 29"/>
            <p:cNvSpPr txBox="1"/>
            <p:nvPr/>
          </p:nvSpPr>
          <p:spPr>
            <a:xfrm>
              <a:off x="-626167" y="257553"/>
              <a:ext cx="15398526" cy="1451199"/>
            </a:xfrm>
            <a:prstGeom prst="rect">
              <a:avLst/>
            </a:prstGeom>
          </p:spPr>
          <p:txBody>
            <a:bodyPr lIns="0" tIns="0" rIns="0" bIns="0" rtlCol="0" anchor="t">
              <a:spAutoFit/>
            </a:bodyPr>
            <a:lstStyle/>
            <a:p>
              <a:pPr marL="0" lvl="0" indent="0" algn="ctr">
                <a:lnSpc>
                  <a:spcPts val="8914"/>
                </a:lnSpc>
              </a:pPr>
              <a:r>
                <a:rPr lang="en-US" sz="6805" b="1" spc="204" dirty="0">
                  <a:solidFill>
                    <a:srgbClr val="145DA0"/>
                  </a:solidFill>
                  <a:latin typeface="Aileron Ultra-Bold"/>
                  <a:ea typeface="Aileron Ultra-Bold"/>
                  <a:cs typeface="Aileron Ultra-Bold"/>
                  <a:sym typeface="Aileron Ultra-Bold"/>
                </a:rPr>
                <a:t>MARKETPLACE FLOW</a:t>
              </a:r>
            </a:p>
          </p:txBody>
        </p:sp>
      </p:grpSp>
      <p:sp>
        <p:nvSpPr>
          <p:cNvPr id="30" name="TextBox 30"/>
          <p:cNvSpPr txBox="1"/>
          <p:nvPr/>
        </p:nvSpPr>
        <p:spPr>
          <a:xfrm>
            <a:off x="3019863" y="2081225"/>
            <a:ext cx="5582442" cy="2462530"/>
          </a:xfrm>
          <a:prstGeom prst="rect">
            <a:avLst/>
          </a:prstGeom>
        </p:spPr>
        <p:txBody>
          <a:bodyPr lIns="0" tIns="0" rIns="0" bIns="0" rtlCol="0" anchor="t">
            <a:spAutoFit/>
          </a:bodyPr>
          <a:lstStyle/>
          <a:p>
            <a:pPr algn="ctr">
              <a:lnSpc>
                <a:spcPts val="3920"/>
              </a:lnSpc>
            </a:pPr>
            <a:r>
              <a:rPr lang="en-US" sz="3200" b="1" spc="84" dirty="0">
                <a:solidFill>
                  <a:srgbClr val="000000"/>
                </a:solidFill>
                <a:latin typeface="Aileron Bold"/>
                <a:ea typeface="Aileron Bold"/>
                <a:cs typeface="Aileron Bold"/>
                <a:sym typeface="Aileron Bold"/>
              </a:rPr>
              <a:t>BACKEND API</a:t>
            </a:r>
          </a:p>
          <a:p>
            <a:pPr algn="ctr">
              <a:lnSpc>
                <a:spcPts val="3920"/>
              </a:lnSpc>
            </a:pPr>
            <a:r>
              <a:rPr lang="en-US" sz="2800" spc="84" dirty="0">
                <a:solidFill>
                  <a:srgbClr val="000000"/>
                </a:solidFill>
                <a:latin typeface="Aileron"/>
                <a:ea typeface="Aileron"/>
                <a:cs typeface="Aileron"/>
                <a:sym typeface="Aileron"/>
              </a:rPr>
              <a:t>Handles product listing, filtering, and cart/favorite actions.</a:t>
            </a:r>
          </a:p>
          <a:p>
            <a:pPr algn="ctr">
              <a:lnSpc>
                <a:spcPts val="3920"/>
              </a:lnSpc>
            </a:pPr>
            <a:r>
              <a:rPr lang="en-US" sz="2800" spc="84" dirty="0">
                <a:solidFill>
                  <a:srgbClr val="000000"/>
                </a:solidFill>
                <a:latin typeface="Aileron"/>
                <a:ea typeface="Aileron"/>
                <a:cs typeface="Aileron"/>
                <a:sym typeface="Aileron"/>
              </a:rPr>
              <a:t>Sends and receives product-related data.</a:t>
            </a:r>
          </a:p>
        </p:txBody>
      </p:sp>
      <p:sp>
        <p:nvSpPr>
          <p:cNvPr id="31" name="TextBox 31"/>
          <p:cNvSpPr txBox="1"/>
          <p:nvPr/>
        </p:nvSpPr>
        <p:spPr>
          <a:xfrm>
            <a:off x="12580360" y="7381478"/>
            <a:ext cx="5122474" cy="1471929"/>
          </a:xfrm>
          <a:prstGeom prst="rect">
            <a:avLst/>
          </a:prstGeom>
        </p:spPr>
        <p:txBody>
          <a:bodyPr lIns="0" tIns="0" rIns="0" bIns="0" rtlCol="0" anchor="t">
            <a:spAutoFit/>
          </a:bodyPr>
          <a:lstStyle/>
          <a:p>
            <a:pPr algn="ctr">
              <a:lnSpc>
                <a:spcPts val="3920"/>
              </a:lnSpc>
              <a:spcBef>
                <a:spcPct val="0"/>
              </a:spcBef>
            </a:pPr>
            <a:r>
              <a:rPr lang="en-US" sz="2800" b="1" spc="84" dirty="0">
                <a:solidFill>
                  <a:srgbClr val="000000"/>
                </a:solidFill>
                <a:latin typeface="Aileron Bold"/>
                <a:ea typeface="Aileron Bold"/>
                <a:cs typeface="Aileron Bold"/>
                <a:sym typeface="Aileron Bold"/>
              </a:rPr>
              <a:t>MOBILE OR WEB APP </a:t>
            </a:r>
          </a:p>
          <a:p>
            <a:pPr algn="ctr">
              <a:lnSpc>
                <a:spcPts val="3920"/>
              </a:lnSpc>
              <a:spcBef>
                <a:spcPct val="0"/>
              </a:spcBef>
            </a:pPr>
            <a:r>
              <a:rPr lang="en-US" sz="2800" spc="84" dirty="0">
                <a:solidFill>
                  <a:srgbClr val="000000"/>
                </a:solidFill>
                <a:latin typeface="Aileron"/>
                <a:ea typeface="Aileron"/>
                <a:cs typeface="Aileron"/>
                <a:sym typeface="Aileron"/>
              </a:rPr>
              <a:t> Displays products, cart contents, and user actions.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493" b="-3951"/>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981200" y="1141125"/>
            <a:ext cx="14793820" cy="8004750"/>
            <a:chOff x="0" y="0"/>
            <a:chExt cx="3896315" cy="1974919"/>
          </a:xfrm>
        </p:grpSpPr>
        <p:sp>
          <p:nvSpPr>
            <p:cNvPr id="6" name="Freeform 6"/>
            <p:cNvSpPr/>
            <p:nvPr/>
          </p:nvSpPr>
          <p:spPr>
            <a:xfrm>
              <a:off x="0" y="0"/>
              <a:ext cx="3896315" cy="1974919"/>
            </a:xfrm>
            <a:custGeom>
              <a:avLst/>
              <a:gdLst/>
              <a:ahLst/>
              <a:cxnLst/>
              <a:rect l="l" t="t" r="r" b="b"/>
              <a:pathLst>
                <a:path w="3896315" h="1974919">
                  <a:moveTo>
                    <a:pt x="0" y="0"/>
                  </a:moveTo>
                  <a:lnTo>
                    <a:pt x="3896315" y="0"/>
                  </a:lnTo>
                  <a:lnTo>
                    <a:pt x="3896315" y="1974919"/>
                  </a:lnTo>
                  <a:lnTo>
                    <a:pt x="0" y="1974919"/>
                  </a:lnTo>
                  <a:close/>
                </a:path>
              </a:pathLst>
            </a:custGeom>
            <a:solidFill>
              <a:srgbClr val="145DA0"/>
            </a:solidFill>
            <a:ln w="38100" cap="sq">
              <a:solidFill>
                <a:srgbClr val="FFFFFF"/>
              </a:solidFill>
              <a:prstDash val="solid"/>
              <a:miter/>
            </a:ln>
          </p:spPr>
          <p:txBody>
            <a:bodyPr/>
            <a:lstStyle/>
            <a:p>
              <a:endParaRPr lang="en-US"/>
            </a:p>
          </p:txBody>
        </p:sp>
        <p:sp>
          <p:nvSpPr>
            <p:cNvPr id="7" name="TextBox 7"/>
            <p:cNvSpPr txBox="1"/>
            <p:nvPr/>
          </p:nvSpPr>
          <p:spPr>
            <a:xfrm>
              <a:off x="0" y="-38100"/>
              <a:ext cx="3896315" cy="201301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566885" y="1456855"/>
            <a:ext cx="11622449" cy="1741168"/>
          </a:xfrm>
          <a:prstGeom prst="rect">
            <a:avLst/>
          </a:prstGeom>
        </p:spPr>
        <p:txBody>
          <a:bodyPr lIns="0" tIns="0" rIns="0" bIns="0" rtlCol="0" anchor="t">
            <a:spAutoFit/>
          </a:bodyPr>
          <a:lstStyle/>
          <a:p>
            <a:pPr marL="0" lvl="0" indent="0" algn="ctr">
              <a:lnSpc>
                <a:spcPts val="14280"/>
              </a:lnSpc>
              <a:spcBef>
                <a:spcPct val="0"/>
              </a:spcBef>
            </a:pPr>
            <a:r>
              <a:rPr lang="en-US" sz="10200" b="1" dirty="0">
                <a:solidFill>
                  <a:srgbClr val="FFFFFF"/>
                </a:solidFill>
                <a:latin typeface="Montserrat Bold"/>
                <a:ea typeface="Montserrat Bold"/>
                <a:cs typeface="Montserrat Bold"/>
                <a:sym typeface="Montserrat Bold"/>
              </a:rPr>
              <a:t>TESTING</a:t>
            </a:r>
          </a:p>
        </p:txBody>
      </p:sp>
      <p:sp>
        <p:nvSpPr>
          <p:cNvPr id="9" name="TextBox 9"/>
          <p:cNvSpPr txBox="1"/>
          <p:nvPr/>
        </p:nvSpPr>
        <p:spPr>
          <a:xfrm>
            <a:off x="3197024" y="3379499"/>
            <a:ext cx="12362172" cy="5610225"/>
          </a:xfrm>
          <a:prstGeom prst="rect">
            <a:avLst/>
          </a:prstGeom>
        </p:spPr>
        <p:txBody>
          <a:bodyPr lIns="0" tIns="0" rIns="0" bIns="0" rtlCol="0" anchor="t">
            <a:spAutoFit/>
          </a:bodyPr>
          <a:lstStyle/>
          <a:p>
            <a:pPr marL="0" lvl="0" indent="0" algn="just">
              <a:lnSpc>
                <a:spcPts val="6299"/>
              </a:lnSpc>
              <a:spcBef>
                <a:spcPct val="0"/>
              </a:spcBef>
            </a:pPr>
            <a:r>
              <a:rPr lang="en-US" sz="4500" spc="-89" dirty="0">
                <a:solidFill>
                  <a:srgbClr val="FFFFFF"/>
                </a:solidFill>
                <a:latin typeface="Poppins"/>
                <a:ea typeface="Poppins"/>
                <a:cs typeface="Poppins"/>
                <a:sym typeface="Poppins"/>
              </a:rPr>
              <a:t>F</a:t>
            </a:r>
            <a:r>
              <a:rPr lang="en-US" sz="4500" u="none" strike="noStrike" spc="-89" dirty="0">
                <a:solidFill>
                  <a:srgbClr val="FFFFFF"/>
                </a:solidFill>
                <a:latin typeface="Poppins"/>
                <a:ea typeface="Poppins"/>
                <a:cs typeface="Poppins"/>
                <a:sym typeface="Poppins"/>
              </a:rPr>
              <a:t>or testing and validating our API endpoints, we used Swagger </a:t>
            </a:r>
          </a:p>
          <a:p>
            <a:pPr marL="0" lvl="0" indent="0" algn="just">
              <a:lnSpc>
                <a:spcPts val="6299"/>
              </a:lnSpc>
              <a:spcBef>
                <a:spcPct val="0"/>
              </a:spcBef>
            </a:pPr>
            <a:r>
              <a:rPr lang="en-US" sz="4500" u="none" strike="noStrike" spc="-89" dirty="0">
                <a:solidFill>
                  <a:srgbClr val="FFFFFF"/>
                </a:solidFill>
                <a:latin typeface="Poppins"/>
                <a:ea typeface="Poppins"/>
                <a:cs typeface="Poppins"/>
                <a:sym typeface="Poppins"/>
              </a:rPr>
              <a:t>UI for real-time, interactive testing during development.</a:t>
            </a:r>
          </a:p>
          <a:p>
            <a:pPr marL="0" lvl="0" indent="0" algn="just">
              <a:lnSpc>
                <a:spcPts val="6299"/>
              </a:lnSpc>
              <a:spcBef>
                <a:spcPct val="0"/>
              </a:spcBef>
            </a:pPr>
            <a:r>
              <a:rPr lang="en-US" sz="4500" u="none" strike="noStrike" spc="-89" dirty="0">
                <a:solidFill>
                  <a:srgbClr val="FFFFFF"/>
                </a:solidFill>
                <a:latin typeface="Poppins"/>
                <a:ea typeface="Poppins"/>
                <a:cs typeface="Poppins"/>
                <a:sym typeface="Poppins"/>
              </a:rPr>
              <a:t>We also used Postman to manually send requests, check responses, and ensure the backend handled all use cases properly.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4493" b="-3951"/>
            </a:stretch>
          </a:blipFill>
        </p:spPr>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370167" y="643023"/>
            <a:ext cx="15480708" cy="9000955"/>
            <a:chOff x="0" y="0"/>
            <a:chExt cx="4077224" cy="2370622"/>
          </a:xfrm>
        </p:grpSpPr>
        <p:sp>
          <p:nvSpPr>
            <p:cNvPr id="6" name="Freeform 6"/>
            <p:cNvSpPr/>
            <p:nvPr/>
          </p:nvSpPr>
          <p:spPr>
            <a:xfrm>
              <a:off x="0" y="0"/>
              <a:ext cx="4077224" cy="2370622"/>
            </a:xfrm>
            <a:custGeom>
              <a:avLst/>
              <a:gdLst/>
              <a:ahLst/>
              <a:cxnLst/>
              <a:rect l="l" t="t" r="r" b="b"/>
              <a:pathLst>
                <a:path w="4077224" h="2370622">
                  <a:moveTo>
                    <a:pt x="0" y="0"/>
                  </a:moveTo>
                  <a:lnTo>
                    <a:pt x="4077224" y="0"/>
                  </a:lnTo>
                  <a:lnTo>
                    <a:pt x="4077224" y="2370622"/>
                  </a:lnTo>
                  <a:lnTo>
                    <a:pt x="0" y="2370622"/>
                  </a:lnTo>
                  <a:close/>
                </a:path>
              </a:pathLst>
            </a:custGeom>
            <a:solidFill>
              <a:srgbClr val="145DA0"/>
            </a:solidFill>
            <a:ln w="38100" cap="sq">
              <a:solidFill>
                <a:srgbClr val="FFFFFF"/>
              </a:solidFill>
              <a:prstDash val="solid"/>
              <a:miter/>
            </a:ln>
          </p:spPr>
        </p:sp>
        <p:sp>
          <p:nvSpPr>
            <p:cNvPr id="7" name="TextBox 7"/>
            <p:cNvSpPr txBox="1"/>
            <p:nvPr/>
          </p:nvSpPr>
          <p:spPr>
            <a:xfrm>
              <a:off x="0" y="-38100"/>
              <a:ext cx="4077224" cy="240872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770641" y="691575"/>
            <a:ext cx="12679761" cy="1698588"/>
          </a:xfrm>
          <a:prstGeom prst="rect">
            <a:avLst/>
          </a:prstGeom>
        </p:spPr>
        <p:txBody>
          <a:bodyPr lIns="0" tIns="0" rIns="0" bIns="0" rtlCol="0" anchor="t">
            <a:spAutoFit/>
          </a:bodyPr>
          <a:lstStyle/>
          <a:p>
            <a:pPr marL="0" lvl="0" indent="0" algn="ctr">
              <a:lnSpc>
                <a:spcPts val="13999"/>
              </a:lnSpc>
              <a:spcBef>
                <a:spcPct val="0"/>
              </a:spcBef>
            </a:pPr>
            <a:r>
              <a:rPr lang="en-US" sz="9999" b="1">
                <a:solidFill>
                  <a:srgbClr val="FFFFFF"/>
                </a:solidFill>
                <a:latin typeface="Montserrat Bold"/>
                <a:ea typeface="Montserrat Bold"/>
                <a:cs typeface="Montserrat Bold"/>
                <a:sym typeface="Montserrat Bold"/>
              </a:rPr>
              <a:t>CONCLUSION</a:t>
            </a:r>
          </a:p>
        </p:txBody>
      </p:sp>
      <p:sp>
        <p:nvSpPr>
          <p:cNvPr id="9" name="TextBox 9"/>
          <p:cNvSpPr txBox="1"/>
          <p:nvPr/>
        </p:nvSpPr>
        <p:spPr>
          <a:xfrm>
            <a:off x="2081021" y="2651421"/>
            <a:ext cx="14059000" cy="6410325"/>
          </a:xfrm>
          <a:prstGeom prst="rect">
            <a:avLst/>
          </a:prstGeom>
        </p:spPr>
        <p:txBody>
          <a:bodyPr lIns="0" tIns="0" rIns="0" bIns="0" rtlCol="0" anchor="t">
            <a:spAutoFit/>
          </a:bodyPr>
          <a:lstStyle/>
          <a:p>
            <a:pPr marL="0" lvl="0" indent="0" algn="just">
              <a:lnSpc>
                <a:spcPts val="6299"/>
              </a:lnSpc>
              <a:spcBef>
                <a:spcPct val="0"/>
              </a:spcBef>
            </a:pPr>
            <a:r>
              <a:rPr lang="en-US" sz="4500" spc="-89">
                <a:solidFill>
                  <a:srgbClr val="FFFFFF"/>
                </a:solidFill>
                <a:latin typeface="Poppins"/>
                <a:ea typeface="Poppins"/>
                <a:cs typeface="Poppins"/>
                <a:sym typeface="Poppins"/>
              </a:rPr>
              <a:t> Ou</a:t>
            </a:r>
            <a:r>
              <a:rPr lang="en-US" sz="4500" u="none" strike="noStrike" spc="-89">
                <a:solidFill>
                  <a:srgbClr val="FFFFFF"/>
                </a:solidFill>
                <a:latin typeface="Poppins"/>
                <a:ea typeface="Poppins"/>
                <a:cs typeface="Poppins"/>
                <a:sym typeface="Poppins"/>
              </a:rPr>
              <a:t>r project aims to support new mothers by using AI to detect baby cries and provide helpful insights.</a:t>
            </a:r>
          </a:p>
          <a:p>
            <a:pPr marL="0" lvl="0" indent="0" algn="just">
              <a:lnSpc>
                <a:spcPts val="6299"/>
              </a:lnSpc>
              <a:spcBef>
                <a:spcPct val="0"/>
              </a:spcBef>
            </a:pPr>
            <a:r>
              <a:rPr lang="en-US" sz="4500" u="none" strike="noStrike" spc="-89">
                <a:solidFill>
                  <a:srgbClr val="FFFFFF"/>
                </a:solidFill>
                <a:latin typeface="Poppins"/>
                <a:ea typeface="Poppins"/>
                <a:cs typeface="Poppins"/>
                <a:sym typeface="Poppins"/>
              </a:rPr>
              <a:t>We wanted to build something meaningful — not just an academic success, but a real solution that can grow and benefit society.</a:t>
            </a:r>
          </a:p>
          <a:p>
            <a:pPr marL="0" lvl="0" indent="0" algn="just">
              <a:lnSpc>
                <a:spcPts val="6299"/>
              </a:lnSpc>
              <a:spcBef>
                <a:spcPct val="0"/>
              </a:spcBef>
            </a:pPr>
            <a:r>
              <a:rPr lang="en-US" sz="4500" u="none" strike="noStrike" spc="-89">
                <a:solidFill>
                  <a:srgbClr val="FFFFFF"/>
                </a:solidFill>
                <a:latin typeface="Poppins"/>
                <a:ea typeface="Poppins"/>
                <a:cs typeface="Poppins"/>
                <a:sym typeface="Poppins"/>
              </a:rPr>
              <a:t>This was both a challenge and a chance to apply what we’ve learned and create something we’re proud of.</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48177"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8792195" y="3322482"/>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a:off x="8080067" y="7851563"/>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10" name="Group 10"/>
          <p:cNvGrpSpPr/>
          <p:nvPr/>
        </p:nvGrpSpPr>
        <p:grpSpPr>
          <a:xfrm>
            <a:off x="7718651" y="1881839"/>
            <a:ext cx="373607" cy="37360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12" name="TextBox 12"/>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13" name="Group 13"/>
          <p:cNvGrpSpPr/>
          <p:nvPr/>
        </p:nvGrpSpPr>
        <p:grpSpPr>
          <a:xfrm>
            <a:off x="8200542" y="3839903"/>
            <a:ext cx="373607" cy="37360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15" name="TextBox 15"/>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16" name="Group 16"/>
          <p:cNvGrpSpPr/>
          <p:nvPr/>
        </p:nvGrpSpPr>
        <p:grpSpPr>
          <a:xfrm>
            <a:off x="7531848" y="8321995"/>
            <a:ext cx="373607" cy="37360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18" name="TextBox 18"/>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19" name="Group 19"/>
          <p:cNvGrpSpPr/>
          <p:nvPr/>
        </p:nvGrpSpPr>
        <p:grpSpPr>
          <a:xfrm>
            <a:off x="8224578" y="6101132"/>
            <a:ext cx="373607" cy="37360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1" name="TextBox 21"/>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22" name="TextBox 22"/>
          <p:cNvSpPr txBox="1"/>
          <p:nvPr/>
        </p:nvSpPr>
        <p:spPr>
          <a:xfrm>
            <a:off x="10108167" y="3521114"/>
            <a:ext cx="7233706" cy="854075"/>
          </a:xfrm>
          <a:prstGeom prst="rect">
            <a:avLst/>
          </a:prstGeom>
        </p:spPr>
        <p:txBody>
          <a:bodyPr lIns="0" tIns="0" rIns="0" bIns="0" rtlCol="0" anchor="t">
            <a:spAutoFit/>
          </a:bodyPr>
          <a:lstStyle/>
          <a:p>
            <a:pPr>
              <a:lnSpc>
                <a:spcPts val="7000"/>
              </a:lnSpc>
              <a:spcBef>
                <a:spcPct val="0"/>
              </a:spcBef>
            </a:pPr>
            <a:r>
              <a:rPr lang="en-US" sz="5000" dirty="0">
                <a:solidFill>
                  <a:srgbClr val="145DA0"/>
                </a:solidFill>
                <a:latin typeface="Montserrat"/>
                <a:ea typeface="Montserrat"/>
                <a:cs typeface="Montserrat"/>
                <a:sym typeface="Montserrat"/>
              </a:rPr>
              <a:t> Enhance the model</a:t>
            </a:r>
          </a:p>
        </p:txBody>
      </p:sp>
      <p:sp>
        <p:nvSpPr>
          <p:cNvPr id="23" name="Freeform 23"/>
          <p:cNvSpPr/>
          <p:nvPr/>
        </p:nvSpPr>
        <p:spPr>
          <a:xfrm>
            <a:off x="8310404" y="1280178"/>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dirty="0"/>
          </a:p>
        </p:txBody>
      </p:sp>
      <p:sp>
        <p:nvSpPr>
          <p:cNvPr id="24" name="TextBox 24"/>
          <p:cNvSpPr txBox="1"/>
          <p:nvPr/>
        </p:nvSpPr>
        <p:spPr>
          <a:xfrm>
            <a:off x="8444691" y="1597970"/>
            <a:ext cx="1155680" cy="712472"/>
          </a:xfrm>
          <a:prstGeom prst="rect">
            <a:avLst/>
          </a:prstGeom>
        </p:spPr>
        <p:txBody>
          <a:bodyPr lIns="0" tIns="0" rIns="0" bIns="0" rtlCol="0" anchor="t">
            <a:spAutoFit/>
          </a:bodyPr>
          <a:lstStyle/>
          <a:p>
            <a:pPr algn="ctr">
              <a:lnSpc>
                <a:spcPts val="5879"/>
              </a:lnSpc>
              <a:spcBef>
                <a:spcPct val="0"/>
              </a:spcBef>
            </a:pPr>
            <a:r>
              <a:rPr lang="en-US" sz="4720" b="1" dirty="0">
                <a:solidFill>
                  <a:srgbClr val="FFFFFF"/>
                </a:solidFill>
                <a:latin typeface="Montserrat Bold"/>
                <a:ea typeface="Montserrat Bold"/>
                <a:cs typeface="Montserrat Bold"/>
                <a:sym typeface="Montserrat Bold"/>
              </a:rPr>
              <a:t>01</a:t>
            </a:r>
          </a:p>
        </p:txBody>
      </p:sp>
      <p:sp>
        <p:nvSpPr>
          <p:cNvPr id="25" name="TextBox 25"/>
          <p:cNvSpPr txBox="1"/>
          <p:nvPr/>
        </p:nvSpPr>
        <p:spPr>
          <a:xfrm>
            <a:off x="9919921" y="1178321"/>
            <a:ext cx="7950352" cy="1739900"/>
          </a:xfrm>
          <a:prstGeom prst="rect">
            <a:avLst/>
          </a:prstGeom>
        </p:spPr>
        <p:txBody>
          <a:bodyPr lIns="0" tIns="0" rIns="0" bIns="0" rtlCol="0" anchor="t">
            <a:spAutoFit/>
          </a:bodyPr>
          <a:lstStyle/>
          <a:p>
            <a:pPr algn="l">
              <a:lnSpc>
                <a:spcPts val="7000"/>
              </a:lnSpc>
              <a:spcBef>
                <a:spcPct val="0"/>
              </a:spcBef>
            </a:pPr>
            <a:r>
              <a:rPr lang="en-US" sz="5000" dirty="0">
                <a:solidFill>
                  <a:srgbClr val="145DA0"/>
                </a:solidFill>
                <a:latin typeface="Montserrat"/>
                <a:ea typeface="Montserrat"/>
                <a:cs typeface="Montserrat"/>
                <a:sym typeface="Montserrat"/>
              </a:rPr>
              <a:t>Connect the chat with a child doctor</a:t>
            </a:r>
          </a:p>
        </p:txBody>
      </p:sp>
      <p:sp>
        <p:nvSpPr>
          <p:cNvPr id="26" name="TextBox 26"/>
          <p:cNvSpPr txBox="1"/>
          <p:nvPr/>
        </p:nvSpPr>
        <p:spPr>
          <a:xfrm>
            <a:off x="8093879" y="8202376"/>
            <a:ext cx="1424256" cy="679673"/>
          </a:xfrm>
          <a:prstGeom prst="rect">
            <a:avLst/>
          </a:prstGeom>
        </p:spPr>
        <p:txBody>
          <a:bodyPr lIns="0" tIns="0" rIns="0" bIns="0" rtlCol="0" anchor="t">
            <a:spAutoFit/>
          </a:bodyPr>
          <a:lstStyle/>
          <a:p>
            <a:pPr algn="ctr">
              <a:lnSpc>
                <a:spcPts val="5320"/>
              </a:lnSpc>
              <a:spcBef>
                <a:spcPct val="0"/>
              </a:spcBef>
            </a:pPr>
            <a:r>
              <a:rPr lang="en-US" sz="4720" b="1" dirty="0">
                <a:solidFill>
                  <a:srgbClr val="FFFFFF"/>
                </a:solidFill>
                <a:latin typeface="Montserrat Bold"/>
                <a:ea typeface="Montserrat Bold"/>
                <a:cs typeface="Montserrat Bold"/>
                <a:sym typeface="Montserrat Bold"/>
              </a:rPr>
              <a:t>04</a:t>
            </a:r>
          </a:p>
        </p:txBody>
      </p:sp>
      <p:sp>
        <p:nvSpPr>
          <p:cNvPr id="27" name="TextBox 27"/>
          <p:cNvSpPr txBox="1"/>
          <p:nvPr/>
        </p:nvSpPr>
        <p:spPr>
          <a:xfrm>
            <a:off x="8898101" y="3660588"/>
            <a:ext cx="1134140" cy="802409"/>
          </a:xfrm>
          <a:prstGeom prst="rect">
            <a:avLst/>
          </a:prstGeom>
        </p:spPr>
        <p:txBody>
          <a:bodyPr lIns="0" tIns="0" rIns="0" bIns="0" rtlCol="0" anchor="t">
            <a:spAutoFit/>
          </a:bodyPr>
          <a:lstStyle/>
          <a:p>
            <a:pPr marL="0" lvl="0" indent="0" algn="ctr">
              <a:lnSpc>
                <a:spcPts val="6697"/>
              </a:lnSpc>
              <a:spcBef>
                <a:spcPct val="0"/>
              </a:spcBef>
            </a:pPr>
            <a:r>
              <a:rPr lang="en-US" sz="4784" b="1" dirty="0">
                <a:solidFill>
                  <a:srgbClr val="FDFDFD"/>
                </a:solidFill>
                <a:latin typeface="Montserrat Bold"/>
                <a:ea typeface="Montserrat Bold"/>
                <a:cs typeface="Montserrat Bold"/>
                <a:sym typeface="Montserrat Bold"/>
              </a:rPr>
              <a:t>02</a:t>
            </a:r>
          </a:p>
        </p:txBody>
      </p:sp>
      <p:sp>
        <p:nvSpPr>
          <p:cNvPr id="28" name="TextBox 28"/>
          <p:cNvSpPr txBox="1"/>
          <p:nvPr/>
        </p:nvSpPr>
        <p:spPr>
          <a:xfrm>
            <a:off x="172859" y="4304184"/>
            <a:ext cx="7358989" cy="1516708"/>
          </a:xfrm>
          <a:prstGeom prst="rect">
            <a:avLst/>
          </a:prstGeom>
        </p:spPr>
        <p:txBody>
          <a:bodyPr lIns="0" tIns="0" rIns="0" bIns="0" rtlCol="0" anchor="t">
            <a:spAutoFit/>
          </a:bodyPr>
          <a:lstStyle/>
          <a:p>
            <a:pPr algn="ctr">
              <a:lnSpc>
                <a:spcPts val="12476"/>
              </a:lnSpc>
              <a:spcBef>
                <a:spcPct val="0"/>
              </a:spcBef>
            </a:pPr>
            <a:r>
              <a:rPr lang="en-US" sz="8912" b="1" dirty="0">
                <a:solidFill>
                  <a:srgbClr val="FDFDFD"/>
                </a:solidFill>
                <a:latin typeface="Montserrat Bold"/>
                <a:ea typeface="Montserrat Bold"/>
                <a:cs typeface="Montserrat Bold"/>
                <a:sym typeface="Montserrat Bold"/>
              </a:rPr>
              <a:t>Future work</a:t>
            </a:r>
          </a:p>
        </p:txBody>
      </p:sp>
      <p:sp>
        <p:nvSpPr>
          <p:cNvPr id="29" name="TextBox 29"/>
          <p:cNvSpPr txBox="1"/>
          <p:nvPr/>
        </p:nvSpPr>
        <p:spPr>
          <a:xfrm>
            <a:off x="9603859" y="8089029"/>
            <a:ext cx="7863262" cy="854075"/>
          </a:xfrm>
          <a:prstGeom prst="rect">
            <a:avLst/>
          </a:prstGeom>
        </p:spPr>
        <p:txBody>
          <a:bodyPr lIns="0" tIns="0" rIns="0" bIns="0" rtlCol="0" anchor="t">
            <a:spAutoFit/>
          </a:bodyPr>
          <a:lstStyle/>
          <a:p>
            <a:pPr>
              <a:lnSpc>
                <a:spcPts val="7000"/>
              </a:lnSpc>
              <a:spcBef>
                <a:spcPct val="0"/>
              </a:spcBef>
            </a:pPr>
            <a:r>
              <a:rPr lang="en-US" sz="5000" dirty="0">
                <a:solidFill>
                  <a:srgbClr val="145DA0"/>
                </a:solidFill>
                <a:latin typeface="Montserrat"/>
                <a:ea typeface="Montserrat"/>
                <a:cs typeface="Montserrat"/>
                <a:sym typeface="Montserrat"/>
              </a:rPr>
              <a:t>Multi-language Support</a:t>
            </a:r>
          </a:p>
        </p:txBody>
      </p:sp>
      <p:sp>
        <p:nvSpPr>
          <p:cNvPr id="30" name="Freeform 30"/>
          <p:cNvSpPr/>
          <p:nvPr/>
        </p:nvSpPr>
        <p:spPr>
          <a:xfrm>
            <a:off x="8741206" y="5634548"/>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1" name="TextBox 31"/>
          <p:cNvSpPr txBox="1"/>
          <p:nvPr/>
        </p:nvSpPr>
        <p:spPr>
          <a:xfrm>
            <a:off x="8967841" y="5980331"/>
            <a:ext cx="955052" cy="732567"/>
          </a:xfrm>
          <a:prstGeom prst="rect">
            <a:avLst/>
          </a:prstGeom>
        </p:spPr>
        <p:txBody>
          <a:bodyPr wrap="square" lIns="0" tIns="0" rIns="0" bIns="0" rtlCol="0" anchor="t">
            <a:spAutoFit/>
          </a:bodyPr>
          <a:lstStyle/>
          <a:p>
            <a:pPr algn="ctr">
              <a:lnSpc>
                <a:spcPts val="6034"/>
              </a:lnSpc>
              <a:spcBef>
                <a:spcPct val="0"/>
              </a:spcBef>
            </a:pPr>
            <a:r>
              <a:rPr lang="en-US" sz="4720" b="1" dirty="0">
                <a:solidFill>
                  <a:srgbClr val="FFFFFF"/>
                </a:solidFill>
                <a:latin typeface="Montserrat Bold"/>
                <a:ea typeface="Montserrat Bold"/>
                <a:cs typeface="Montserrat Bold"/>
                <a:sym typeface="Montserrat Bold"/>
              </a:rPr>
              <a:t>03</a:t>
            </a:r>
          </a:p>
        </p:txBody>
      </p:sp>
      <p:sp>
        <p:nvSpPr>
          <p:cNvPr id="32" name="TextBox 32"/>
          <p:cNvSpPr txBox="1"/>
          <p:nvPr/>
        </p:nvSpPr>
        <p:spPr>
          <a:xfrm>
            <a:off x="10392097" y="5376835"/>
            <a:ext cx="7855880" cy="2425345"/>
          </a:xfrm>
          <a:prstGeom prst="rect">
            <a:avLst/>
          </a:prstGeom>
        </p:spPr>
        <p:txBody>
          <a:bodyPr lIns="0" tIns="0" rIns="0" bIns="0" rtlCol="0" anchor="t">
            <a:spAutoFit/>
          </a:bodyPr>
          <a:lstStyle/>
          <a:p>
            <a:pPr algn="l">
              <a:lnSpc>
                <a:spcPts val="6494"/>
              </a:lnSpc>
              <a:spcBef>
                <a:spcPct val="0"/>
              </a:spcBef>
            </a:pPr>
            <a:r>
              <a:rPr lang="en-US" sz="4638" dirty="0">
                <a:solidFill>
                  <a:srgbClr val="145DA0"/>
                </a:solidFill>
                <a:latin typeface="Montserrat"/>
                <a:ea typeface="Montserrat"/>
                <a:cs typeface="Montserrat"/>
                <a:sym typeface="Montserrat"/>
              </a:rPr>
              <a:t>Expand the Marketplace with Online Payment Options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4734204" y="2730879"/>
            <a:ext cx="8819592" cy="1765593"/>
          </a:xfrm>
          <a:prstGeom prst="rect">
            <a:avLst/>
          </a:prstGeom>
        </p:spPr>
        <p:txBody>
          <a:bodyPr lIns="0" tIns="0" rIns="0" bIns="0" rtlCol="0" anchor="t">
            <a:spAutoFit/>
          </a:bodyPr>
          <a:lstStyle/>
          <a:p>
            <a:pPr marL="0" lvl="0" indent="0" algn="ctr">
              <a:lnSpc>
                <a:spcPts val="14510"/>
              </a:lnSpc>
              <a:spcBef>
                <a:spcPct val="0"/>
              </a:spcBef>
            </a:pPr>
            <a:r>
              <a:rPr lang="en-US" sz="10364" b="1" dirty="0">
                <a:solidFill>
                  <a:srgbClr val="13538A"/>
                </a:solidFill>
                <a:latin typeface="Montserrat Bold"/>
                <a:ea typeface="Montserrat Bold"/>
                <a:cs typeface="Montserrat Bold"/>
                <a:sym typeface="Montserrat Bold"/>
              </a:rPr>
              <a:t>THANK YOU!</a:t>
            </a:r>
          </a:p>
        </p:txBody>
      </p:sp>
      <p:grpSp>
        <p:nvGrpSpPr>
          <p:cNvPr id="3" name="Group 3"/>
          <p:cNvGrpSpPr/>
          <p:nvPr/>
        </p:nvGrpSpPr>
        <p:grpSpPr>
          <a:xfrm>
            <a:off x="-229120" y="0"/>
            <a:ext cx="18778119" cy="280147"/>
            <a:chOff x="0" y="0"/>
            <a:chExt cx="4945678" cy="73784"/>
          </a:xfrm>
        </p:grpSpPr>
        <p:sp>
          <p:nvSpPr>
            <p:cNvPr id="4" name="Freeform 4"/>
            <p:cNvSpPr/>
            <p:nvPr/>
          </p:nvSpPr>
          <p:spPr>
            <a:xfrm>
              <a:off x="0" y="0"/>
              <a:ext cx="4945678" cy="73784"/>
            </a:xfrm>
            <a:custGeom>
              <a:avLst/>
              <a:gdLst/>
              <a:ahLst/>
              <a:cxnLst/>
              <a:rect l="l" t="t" r="r" b="b"/>
              <a:pathLst>
                <a:path w="4945678" h="73784">
                  <a:moveTo>
                    <a:pt x="0" y="0"/>
                  </a:moveTo>
                  <a:lnTo>
                    <a:pt x="4945678" y="0"/>
                  </a:lnTo>
                  <a:lnTo>
                    <a:pt x="4945678" y="73784"/>
                  </a:lnTo>
                  <a:lnTo>
                    <a:pt x="0" y="73784"/>
                  </a:lnTo>
                  <a:close/>
                </a:path>
              </a:pathLst>
            </a:custGeom>
            <a:solidFill>
              <a:srgbClr val="5B98BA"/>
            </a:solidFill>
            <a:ln cap="sq">
              <a:noFill/>
              <a:prstDash val="solid"/>
              <a:miter/>
            </a:ln>
          </p:spPr>
        </p:sp>
        <p:sp>
          <p:nvSpPr>
            <p:cNvPr id="5" name="TextBox 5"/>
            <p:cNvSpPr txBox="1"/>
            <p:nvPr/>
          </p:nvSpPr>
          <p:spPr>
            <a:xfrm>
              <a:off x="0" y="-38100"/>
              <a:ext cx="4945678" cy="11188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10034838"/>
            <a:ext cx="18777401" cy="333606"/>
            <a:chOff x="0" y="0"/>
            <a:chExt cx="4945488" cy="87863"/>
          </a:xfrm>
        </p:grpSpPr>
        <p:sp>
          <p:nvSpPr>
            <p:cNvPr id="7" name="Freeform 7"/>
            <p:cNvSpPr/>
            <p:nvPr/>
          </p:nvSpPr>
          <p:spPr>
            <a:xfrm>
              <a:off x="0" y="0"/>
              <a:ext cx="4945488" cy="87863"/>
            </a:xfrm>
            <a:custGeom>
              <a:avLst/>
              <a:gdLst/>
              <a:ahLst/>
              <a:cxnLst/>
              <a:rect l="l" t="t" r="r" b="b"/>
              <a:pathLst>
                <a:path w="4945488" h="87863">
                  <a:moveTo>
                    <a:pt x="0" y="0"/>
                  </a:moveTo>
                  <a:lnTo>
                    <a:pt x="4945488" y="0"/>
                  </a:lnTo>
                  <a:lnTo>
                    <a:pt x="4945488" y="87863"/>
                  </a:lnTo>
                  <a:lnTo>
                    <a:pt x="0" y="87863"/>
                  </a:lnTo>
                  <a:close/>
                </a:path>
              </a:pathLst>
            </a:custGeom>
            <a:solidFill>
              <a:srgbClr val="5B98BA"/>
            </a:solidFill>
            <a:ln cap="sq">
              <a:noFill/>
              <a:prstDash val="solid"/>
              <a:miter/>
            </a:ln>
          </p:spPr>
        </p:sp>
        <p:sp>
          <p:nvSpPr>
            <p:cNvPr id="8" name="TextBox 8"/>
            <p:cNvSpPr txBox="1"/>
            <p:nvPr/>
          </p:nvSpPr>
          <p:spPr>
            <a:xfrm>
              <a:off x="0" y="-38100"/>
              <a:ext cx="4945488" cy="125963"/>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3108739" y="5360018"/>
            <a:ext cx="12070523" cy="2079427"/>
          </a:xfrm>
          <a:prstGeom prst="rect">
            <a:avLst/>
          </a:prstGeom>
        </p:spPr>
        <p:txBody>
          <a:bodyPr lIns="0" tIns="0" rIns="0" bIns="0" rtlCol="0" anchor="t">
            <a:spAutoFit/>
          </a:bodyPr>
          <a:lstStyle/>
          <a:p>
            <a:pPr algn="ctr" rtl="1">
              <a:lnSpc>
                <a:spcPts val="5599"/>
              </a:lnSpc>
              <a:spcBef>
                <a:spcPct val="0"/>
              </a:spcBef>
            </a:pPr>
            <a:r>
              <a:rPr lang="en-US" sz="3999" b="1">
                <a:solidFill>
                  <a:srgbClr val="13538A"/>
                </a:solidFill>
                <a:latin typeface="Montserrat Bold"/>
                <a:ea typeface="Montserrat Bold"/>
                <a:cs typeface="Montserrat Bold"/>
                <a:sym typeface="Montserrat Bold"/>
              </a:rPr>
              <a:t>Now it's time to explore the project's technical overview</a:t>
            </a:r>
          </a:p>
          <a:p>
            <a:pPr algn="ctr" rtl="1">
              <a:lnSpc>
                <a:spcPts val="5599"/>
              </a:lnSpc>
              <a:spcBef>
                <a:spcPct val="0"/>
              </a:spcBef>
            </a:pPr>
            <a:endParaRPr lang="en-US" sz="3999" b="1">
              <a:solidFill>
                <a:srgbClr val="13538A"/>
              </a:solidFill>
              <a:latin typeface="Montserrat Bold"/>
              <a:ea typeface="Montserrat Bold"/>
              <a:cs typeface="Montserrat Bold"/>
              <a:sym typeface="Montserrat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942</Words>
  <Application>Microsoft Office PowerPoint</Application>
  <PresentationFormat>Custom</PresentationFormat>
  <Paragraphs>172</Paragraphs>
  <Slides>65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Arial</vt:lpstr>
      <vt:lpstr>Calibri</vt:lpstr>
      <vt:lpstr>Montserrat Bold</vt:lpstr>
      <vt:lpstr>Montserrat</vt:lpstr>
      <vt:lpstr>Poppins Bold</vt:lpstr>
      <vt:lpstr>Aileron Bold</vt:lpstr>
      <vt:lpstr>Poppins</vt:lpstr>
      <vt:lpstr>Aileron</vt:lpstr>
      <vt:lpstr>XM Vahid</vt:lpstr>
      <vt:lpstr>Aileron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cp:lastModifiedBy>Fady Ezzat</cp:lastModifiedBy>
  <cp:revision>22</cp:revision>
  <dcterms:created xsi:type="dcterms:W3CDTF">2006-08-16T00:00:00Z</dcterms:created>
  <dcterms:modified xsi:type="dcterms:W3CDTF">2025-06-28T18:42:47Z</dcterms:modified>
  <dc:identifier>DAGrW1oY0i4</dc:identifier>
</cp:coreProperties>
</file>